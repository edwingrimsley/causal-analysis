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rts/chart4.xml" ContentType="application/vnd.openxmlformats-officedocument.drawingml.chart+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9144000"/>
  <p:defaultText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75"/>
  </p:normalViewPr>
  <p:slideViewPr>
    <p:cSldViewPr snapToGrid="0" snapToObjects="1">
      <p:cViewPr varScale="1">
        <p:scale>
          <a:sx n="119" d="100"/>
          <a:sy n="119" d="100"/>
        </p:scale>
        <p:origin x="856"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lineChart>
        <c:grouping val="standard"/>
        <c:varyColors val="0"/>
        <c:ser>
          <c:idx val="0"/>
          <c:order val="0"/>
          <c:tx>
            <c:v>Comparison</c:v>
          </c:tx>
          <c:spPr>
            <a:ln w="28575">
              <a:solidFill>
                <a:srgbClr val="5B6B78"/>
              </a:solidFill>
              <a:prstDash val="solid"/>
            </a:ln>
          </c:spPr>
          <c:marker>
            <c:symbol val="circle"/>
            <c:size val="6"/>
            <c:spPr>
              <a:solidFill>
                <a:srgbClr val="5B6B78"/>
              </a:solidFill>
            </c:spPr>
          </c:marker>
          <c:cat>
            <c:strRef>
              <c:f>'Chart Data'!$A$2:$A$7</c:f>
              <c:strCache>
                <c:ptCount val="6"/>
                <c:pt idx="0">
                  <c:v>Year 1</c:v>
                </c:pt>
                <c:pt idx="1">
                  <c:v>Year 2</c:v>
                </c:pt>
                <c:pt idx="2">
                  <c:v>Year 3</c:v>
                </c:pt>
                <c:pt idx="3">
                  <c:v>Year 4</c:v>
                </c:pt>
                <c:pt idx="4">
                  <c:v>Year 5</c:v>
                </c:pt>
                <c:pt idx="5">
                  <c:v>Year 6</c:v>
                </c:pt>
              </c:strCache>
            </c:strRef>
          </c:cat>
          <c:val>
            <c:numRef>
              <c:f>'Chart Data'!$B$2:$B$7</c:f>
              <c:numCache>
                <c:formatCode>General</c:formatCode>
                <c:ptCount val="6"/>
                <c:pt idx="0">
                  <c:v>10</c:v>
                </c:pt>
                <c:pt idx="1">
                  <c:v>10.5</c:v>
                </c:pt>
                <c:pt idx="2">
                  <c:v>11</c:v>
                </c:pt>
                <c:pt idx="3">
                  <c:v>11.5</c:v>
                </c:pt>
                <c:pt idx="4">
                  <c:v>12</c:v>
                </c:pt>
                <c:pt idx="5">
                  <c:v>12.5</c:v>
                </c:pt>
              </c:numCache>
            </c:numRef>
          </c:val>
          <c:smooth val="1"/>
          <c:extLst>
            <c:ext xmlns:c16="http://schemas.microsoft.com/office/drawing/2014/chart" uri="{C3380CC4-5D6E-409C-BE32-E72D297353CC}">
              <c16:uniqueId val="{00000000-E3FF-A049-A99F-FD27A47138A4}"/>
            </c:ext>
          </c:extLst>
        </c:ser>
        <c:ser>
          <c:idx val="1"/>
          <c:order val="1"/>
          <c:tx>
            <c:v>Observed treated</c:v>
          </c:tx>
          <c:spPr>
            <a:ln w="28575">
              <a:solidFill>
                <a:srgbClr val="2E6F73"/>
              </a:solidFill>
              <a:prstDash val="solid"/>
            </a:ln>
          </c:spPr>
          <c:marker>
            <c:symbol val="circle"/>
            <c:size val="6"/>
            <c:spPr>
              <a:solidFill>
                <a:srgbClr val="2E6F73"/>
              </a:solidFill>
            </c:spPr>
          </c:marker>
          <c:cat>
            <c:strRef>
              <c:f>'Chart Data'!$C$2:$C$7</c:f>
              <c:strCache>
                <c:ptCount val="6"/>
                <c:pt idx="0">
                  <c:v>Year 1</c:v>
                </c:pt>
                <c:pt idx="1">
                  <c:v>Year 2</c:v>
                </c:pt>
                <c:pt idx="2">
                  <c:v>Year 3</c:v>
                </c:pt>
                <c:pt idx="3">
                  <c:v>Year 4</c:v>
                </c:pt>
                <c:pt idx="4">
                  <c:v>Year 5</c:v>
                </c:pt>
                <c:pt idx="5">
                  <c:v>Year 6</c:v>
                </c:pt>
              </c:strCache>
            </c:strRef>
          </c:cat>
          <c:val>
            <c:numRef>
              <c:f>'Chart Data'!$D$2:$D$7</c:f>
              <c:numCache>
                <c:formatCode>General</c:formatCode>
                <c:ptCount val="6"/>
                <c:pt idx="0">
                  <c:v>12</c:v>
                </c:pt>
                <c:pt idx="1">
                  <c:v>12.5</c:v>
                </c:pt>
                <c:pt idx="2">
                  <c:v>13</c:v>
                </c:pt>
                <c:pt idx="3">
                  <c:v>12.6</c:v>
                </c:pt>
                <c:pt idx="4">
                  <c:v>12.2</c:v>
                </c:pt>
                <c:pt idx="5">
                  <c:v>11.8</c:v>
                </c:pt>
              </c:numCache>
            </c:numRef>
          </c:val>
          <c:smooth val="1"/>
          <c:extLst>
            <c:ext xmlns:c16="http://schemas.microsoft.com/office/drawing/2014/chart" uri="{C3380CC4-5D6E-409C-BE32-E72D297353CC}">
              <c16:uniqueId val="{00000001-E3FF-A049-A99F-FD27A47138A4}"/>
            </c:ext>
          </c:extLst>
        </c:ser>
        <c:ser>
          <c:idx val="2"/>
          <c:order val="2"/>
          <c:tx>
            <c:v>Untreated counterfactual</c:v>
          </c:tx>
          <c:spPr>
            <a:ln w="28575">
              <a:solidFill>
                <a:srgbClr val="2E6F73"/>
              </a:solidFill>
              <a:prstDash val="dash"/>
            </a:ln>
          </c:spPr>
          <c:marker>
            <c:symbol val="circle"/>
            <c:size val="6"/>
            <c:spPr>
              <a:solidFill>
                <a:srgbClr val="2E6F73"/>
              </a:solidFill>
            </c:spPr>
          </c:marker>
          <c:cat>
            <c:strRef>
              <c:f>'Chart Data'!$E$2:$E$7</c:f>
              <c:strCache>
                <c:ptCount val="6"/>
                <c:pt idx="0">
                  <c:v>Year 1</c:v>
                </c:pt>
                <c:pt idx="1">
                  <c:v>Year 2</c:v>
                </c:pt>
                <c:pt idx="2">
                  <c:v>Year 3</c:v>
                </c:pt>
                <c:pt idx="3">
                  <c:v>Year 4</c:v>
                </c:pt>
                <c:pt idx="4">
                  <c:v>Year 5</c:v>
                </c:pt>
                <c:pt idx="5">
                  <c:v>Year 6</c:v>
                </c:pt>
              </c:strCache>
            </c:strRef>
          </c:cat>
          <c:val>
            <c:numRef>
              <c:f>'Chart Data'!$F$2:$F$7</c:f>
              <c:numCache>
                <c:formatCode>General</c:formatCode>
                <c:ptCount val="6"/>
                <c:pt idx="0">
                  <c:v>12</c:v>
                </c:pt>
                <c:pt idx="1">
                  <c:v>12.5</c:v>
                </c:pt>
                <c:pt idx="2">
                  <c:v>13</c:v>
                </c:pt>
                <c:pt idx="3">
                  <c:v>13.5</c:v>
                </c:pt>
                <c:pt idx="4">
                  <c:v>14</c:v>
                </c:pt>
                <c:pt idx="5">
                  <c:v>14.5</c:v>
                </c:pt>
              </c:numCache>
            </c:numRef>
          </c:val>
          <c:smooth val="1"/>
          <c:extLst>
            <c:ext xmlns:c16="http://schemas.microsoft.com/office/drawing/2014/chart" uri="{C3380CC4-5D6E-409C-BE32-E72D297353CC}">
              <c16:uniqueId val="{00000002-E3FF-A049-A99F-FD27A47138A4}"/>
            </c:ext>
          </c:extLst>
        </c:ser>
        <c:dLbls>
          <c:showLegendKey val="0"/>
          <c:showVal val="0"/>
          <c:showCatName val="0"/>
          <c:showSerName val="0"/>
          <c:showPercent val="0"/>
          <c:showBubbleSize val="0"/>
        </c:dLbls>
        <c:marker val="1"/>
        <c:smooth val="0"/>
        <c:axId val="48650112"/>
        <c:axId val="48672768"/>
      </c:line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Arial"/>
                <a:ea typeface="Arial"/>
                <a:cs typeface="Arial"/>
              </a:defRPr>
            </a:pPr>
            <a:endParaRPr lang="en-US"/>
          </a:p>
        </c:txPr>
        <c:crossAx val="48672768"/>
        <c:crosses val="autoZero"/>
        <c:auto val="1"/>
        <c:lblAlgn val="ctr"/>
        <c:lblOffset val="100"/>
        <c:noMultiLvlLbl val="1"/>
      </c:catAx>
      <c:valAx>
        <c:axId val="48672768"/>
        <c:scaling>
          <c:orientation val="minMax"/>
          <c:max val="15"/>
          <c:min val="9"/>
        </c:scaling>
        <c:delete val="0"/>
        <c:axPos val="l"/>
        <c:majorGridlines>
          <c:spPr>
            <a:ln w="9525">
              <a:solidFill>
                <a:srgbClr val="DDE3E7"/>
              </a:solidFill>
              <a:prstDash val="solid"/>
            </a:ln>
          </c:spPr>
        </c:majorGridlines>
        <c:numFmt formatCode="General"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Arial"/>
                <a:ea typeface="Arial"/>
                <a:cs typeface="Arial"/>
              </a:defRPr>
            </a:pPr>
            <a:endParaRPr lang="en-US"/>
          </a:p>
        </c:txPr>
        <c:crossAx val="48650112"/>
        <c:crosses val="autoZero"/>
        <c:crossBetween val="between"/>
      </c:valAx>
      <c:spPr>
        <a:solidFill>
          <a:srgbClr val="FFFFFF"/>
        </a:solidFill>
      </c:spPr>
    </c:plotArea>
    <c:legend>
      <c:legendPos val="b"/>
      <c:overlay val="0"/>
      <c:txPr>
        <a:bodyPr anchorCtr="1"/>
        <a:lstStyle/>
        <a:p>
          <a:pPr>
            <a:defRPr sz="1350">
              <a:latin typeface="Arial"/>
              <a:ea typeface="Arial"/>
              <a:cs typeface="Arial"/>
            </a:defRPr>
          </a:pPr>
          <a:endParaRPr lang="en-US"/>
        </a:p>
      </c:txPr>
    </c:legend>
    <c:plotVisOnly val="1"/>
    <c:dispBlanksAs val="zero"/>
    <c:showDLblsOverMax val="1"/>
  </c:chart>
  <c:spPr>
    <a:solidFill>
      <a:srgbClr val="FFFFFF"/>
    </a:solidFill>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lineChart>
        <c:grouping val="standard"/>
        <c:varyColors val="0"/>
        <c:ser>
          <c:idx val="0"/>
          <c:order val="0"/>
          <c:tx>
            <c:v>Group A</c:v>
          </c:tx>
          <c:spPr>
            <a:ln w="28575">
              <a:solidFill>
                <a:srgbClr val="2E6F73"/>
              </a:solidFill>
              <a:prstDash val="solid"/>
            </a:ln>
          </c:spPr>
          <c:marker>
            <c:symbol val="circle"/>
            <c:size val="6"/>
            <c:spPr>
              <a:solidFill>
                <a:srgbClr val="2E6F73"/>
              </a:solidFill>
            </c:spPr>
          </c:marker>
          <c:cat>
            <c:strRef>
              <c:f>'Chart Data'!$A$2:$A$4</c:f>
              <c:strCache>
                <c:ptCount val="3"/>
                <c:pt idx="0">
                  <c:v>Before 3</c:v>
                </c:pt>
                <c:pt idx="1">
                  <c:v>Before 2</c:v>
                </c:pt>
                <c:pt idx="2">
                  <c:v>Before 1</c:v>
                </c:pt>
              </c:strCache>
            </c:strRef>
          </c:cat>
          <c:val>
            <c:numRef>
              <c:f>'Chart Data'!$B$2:$B$4</c:f>
              <c:numCache>
                <c:formatCode>General</c:formatCode>
                <c:ptCount val="3"/>
                <c:pt idx="0">
                  <c:v>10</c:v>
                </c:pt>
                <c:pt idx="1">
                  <c:v>11</c:v>
                </c:pt>
                <c:pt idx="2">
                  <c:v>12</c:v>
                </c:pt>
              </c:numCache>
            </c:numRef>
          </c:val>
          <c:smooth val="1"/>
          <c:extLst>
            <c:ext xmlns:c16="http://schemas.microsoft.com/office/drawing/2014/chart" uri="{C3380CC4-5D6E-409C-BE32-E72D297353CC}">
              <c16:uniqueId val="{00000000-5C4B-FA4D-BC41-51604049275A}"/>
            </c:ext>
          </c:extLst>
        </c:ser>
        <c:ser>
          <c:idx val="1"/>
          <c:order val="1"/>
          <c:tx>
            <c:v>Group B</c:v>
          </c:tx>
          <c:spPr>
            <a:ln w="28575">
              <a:solidFill>
                <a:srgbClr val="5B6B78"/>
              </a:solidFill>
              <a:prstDash val="solid"/>
            </a:ln>
          </c:spPr>
          <c:marker>
            <c:symbol val="circle"/>
            <c:size val="6"/>
            <c:spPr>
              <a:solidFill>
                <a:srgbClr val="5B6B78"/>
              </a:solidFill>
            </c:spPr>
          </c:marker>
          <c:cat>
            <c:strRef>
              <c:f>'Chart Data'!$C$2:$C$4</c:f>
              <c:strCache>
                <c:ptCount val="3"/>
                <c:pt idx="0">
                  <c:v>Before 3</c:v>
                </c:pt>
                <c:pt idx="1">
                  <c:v>Before 2</c:v>
                </c:pt>
                <c:pt idx="2">
                  <c:v>Before 1</c:v>
                </c:pt>
              </c:strCache>
            </c:strRef>
          </c:cat>
          <c:val>
            <c:numRef>
              <c:f>'Chart Data'!$D$2:$D$4</c:f>
              <c:numCache>
                <c:formatCode>General</c:formatCode>
                <c:ptCount val="3"/>
                <c:pt idx="0">
                  <c:v>6</c:v>
                </c:pt>
                <c:pt idx="1">
                  <c:v>7</c:v>
                </c:pt>
                <c:pt idx="2">
                  <c:v>8</c:v>
                </c:pt>
              </c:numCache>
            </c:numRef>
          </c:val>
          <c:smooth val="1"/>
          <c:extLst>
            <c:ext xmlns:c16="http://schemas.microsoft.com/office/drawing/2014/chart" uri="{C3380CC4-5D6E-409C-BE32-E72D297353CC}">
              <c16:uniqueId val="{00000001-5C4B-FA4D-BC41-51604049275A}"/>
            </c:ext>
          </c:extLst>
        </c:ser>
        <c:dLbls>
          <c:showLegendKey val="0"/>
          <c:showVal val="0"/>
          <c:showCatName val="0"/>
          <c:showSerName val="0"/>
          <c:showPercent val="0"/>
          <c:showBubbleSize val="0"/>
        </c:dLbls>
        <c:marker val="1"/>
        <c:smooth val="0"/>
        <c:axId val="48650112"/>
        <c:axId val="48672768"/>
      </c:line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Arial"/>
                <a:ea typeface="Arial"/>
                <a:cs typeface="Arial"/>
              </a:defRPr>
            </a:pPr>
            <a:endParaRPr lang="en-US"/>
          </a:p>
        </c:txPr>
        <c:crossAx val="48672768"/>
        <c:crosses val="autoZero"/>
        <c:auto val="1"/>
        <c:lblAlgn val="ctr"/>
        <c:lblOffset val="100"/>
        <c:noMultiLvlLbl val="1"/>
      </c:catAx>
      <c:valAx>
        <c:axId val="48672768"/>
        <c:scaling>
          <c:orientation val="minMax"/>
          <c:max val="13"/>
          <c:min val="5"/>
        </c:scaling>
        <c:delete val="0"/>
        <c:axPos val="l"/>
        <c:majorGridlines>
          <c:spPr>
            <a:ln w="9525">
              <a:solidFill>
                <a:srgbClr val="DDE3E7"/>
              </a:solidFill>
              <a:prstDash val="solid"/>
            </a:ln>
          </c:spPr>
        </c:majorGridlines>
        <c:numFmt formatCode="General"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Arial"/>
                <a:ea typeface="Arial"/>
                <a:cs typeface="Arial"/>
              </a:defRPr>
            </a:pPr>
            <a:endParaRPr lang="en-US"/>
          </a:p>
        </c:txPr>
        <c:crossAx val="48650112"/>
        <c:crosses val="autoZero"/>
        <c:crossBetween val="between"/>
      </c:valAx>
      <c:spPr>
        <a:solidFill>
          <a:srgbClr val="FFFFFF"/>
        </a:solidFill>
      </c:spPr>
    </c:plotArea>
    <c:legend>
      <c:legendPos val="b"/>
      <c:overlay val="0"/>
      <c:txPr>
        <a:bodyPr anchorCtr="1"/>
        <a:lstStyle/>
        <a:p>
          <a:pPr>
            <a:defRPr sz="1350">
              <a:latin typeface="Arial"/>
              <a:ea typeface="Arial"/>
              <a:cs typeface="Arial"/>
            </a:defRPr>
          </a:pPr>
          <a:endParaRPr lang="en-US"/>
        </a:p>
      </c:txPr>
    </c:legend>
    <c:plotVisOnly val="1"/>
    <c:dispBlanksAs val="zero"/>
    <c:showDLblsOverMax val="1"/>
  </c:chart>
  <c:spPr>
    <a:solidFill>
      <a:srgbClr val="FFFFFF"/>
    </a:solidFill>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lineChart>
        <c:grouping val="standard"/>
        <c:varyColors val="0"/>
        <c:ser>
          <c:idx val="0"/>
          <c:order val="0"/>
          <c:tx>
            <c:v>Group A</c:v>
          </c:tx>
          <c:spPr>
            <a:ln w="28575">
              <a:solidFill>
                <a:srgbClr val="C8553D"/>
              </a:solidFill>
              <a:prstDash val="solid"/>
            </a:ln>
          </c:spPr>
          <c:marker>
            <c:symbol val="circle"/>
            <c:size val="6"/>
            <c:spPr>
              <a:solidFill>
                <a:srgbClr val="C8553D"/>
              </a:solidFill>
            </c:spPr>
          </c:marker>
          <c:cat>
            <c:strRef>
              <c:f>'Chart Data'!$A$2:$A$4</c:f>
              <c:strCache>
                <c:ptCount val="3"/>
                <c:pt idx="0">
                  <c:v>Before 3</c:v>
                </c:pt>
                <c:pt idx="1">
                  <c:v>Before 2</c:v>
                </c:pt>
                <c:pt idx="2">
                  <c:v>Before 1</c:v>
                </c:pt>
              </c:strCache>
            </c:strRef>
          </c:cat>
          <c:val>
            <c:numRef>
              <c:f>'Chart Data'!$B$2:$B$4</c:f>
              <c:numCache>
                <c:formatCode>General</c:formatCode>
                <c:ptCount val="3"/>
                <c:pt idx="0">
                  <c:v>6</c:v>
                </c:pt>
                <c:pt idx="1">
                  <c:v>9</c:v>
                </c:pt>
                <c:pt idx="2">
                  <c:v>12</c:v>
                </c:pt>
              </c:numCache>
            </c:numRef>
          </c:val>
          <c:smooth val="1"/>
          <c:extLst>
            <c:ext xmlns:c16="http://schemas.microsoft.com/office/drawing/2014/chart" uri="{C3380CC4-5D6E-409C-BE32-E72D297353CC}">
              <c16:uniqueId val="{00000000-9BA5-A541-A74C-6C4EAB793513}"/>
            </c:ext>
          </c:extLst>
        </c:ser>
        <c:ser>
          <c:idx val="1"/>
          <c:order val="1"/>
          <c:tx>
            <c:v>Group B</c:v>
          </c:tx>
          <c:spPr>
            <a:ln w="28575">
              <a:solidFill>
                <a:srgbClr val="5B6B78"/>
              </a:solidFill>
              <a:prstDash val="solid"/>
            </a:ln>
          </c:spPr>
          <c:marker>
            <c:symbol val="circle"/>
            <c:size val="6"/>
            <c:spPr>
              <a:solidFill>
                <a:srgbClr val="5B6B78"/>
              </a:solidFill>
            </c:spPr>
          </c:marker>
          <c:cat>
            <c:strRef>
              <c:f>'Chart Data'!$C$2:$C$4</c:f>
              <c:strCache>
                <c:ptCount val="3"/>
                <c:pt idx="0">
                  <c:v>Before 3</c:v>
                </c:pt>
                <c:pt idx="1">
                  <c:v>Before 2</c:v>
                </c:pt>
                <c:pt idx="2">
                  <c:v>Before 1</c:v>
                </c:pt>
              </c:strCache>
            </c:strRef>
          </c:cat>
          <c:val>
            <c:numRef>
              <c:f>'Chart Data'!$D$2:$D$4</c:f>
              <c:numCache>
                <c:formatCode>General</c:formatCode>
                <c:ptCount val="3"/>
                <c:pt idx="0">
                  <c:v>6</c:v>
                </c:pt>
                <c:pt idx="1">
                  <c:v>7</c:v>
                </c:pt>
                <c:pt idx="2">
                  <c:v>8</c:v>
                </c:pt>
              </c:numCache>
            </c:numRef>
          </c:val>
          <c:smooth val="1"/>
          <c:extLst>
            <c:ext xmlns:c16="http://schemas.microsoft.com/office/drawing/2014/chart" uri="{C3380CC4-5D6E-409C-BE32-E72D297353CC}">
              <c16:uniqueId val="{00000001-9BA5-A541-A74C-6C4EAB793513}"/>
            </c:ext>
          </c:extLst>
        </c:ser>
        <c:dLbls>
          <c:showLegendKey val="0"/>
          <c:showVal val="0"/>
          <c:showCatName val="0"/>
          <c:showSerName val="0"/>
          <c:showPercent val="0"/>
          <c:showBubbleSize val="0"/>
        </c:dLbls>
        <c:marker val="1"/>
        <c:smooth val="0"/>
        <c:axId val="48650112"/>
        <c:axId val="48672768"/>
      </c:line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Arial"/>
                <a:ea typeface="Arial"/>
                <a:cs typeface="Arial"/>
              </a:defRPr>
            </a:pPr>
            <a:endParaRPr lang="en-US"/>
          </a:p>
        </c:txPr>
        <c:crossAx val="48672768"/>
        <c:crosses val="autoZero"/>
        <c:auto val="1"/>
        <c:lblAlgn val="ctr"/>
        <c:lblOffset val="100"/>
        <c:noMultiLvlLbl val="1"/>
      </c:catAx>
      <c:valAx>
        <c:axId val="48672768"/>
        <c:scaling>
          <c:orientation val="minMax"/>
          <c:max val="13"/>
          <c:min val="5"/>
        </c:scaling>
        <c:delete val="0"/>
        <c:axPos val="l"/>
        <c:majorGridlines>
          <c:spPr>
            <a:ln w="9525">
              <a:solidFill>
                <a:srgbClr val="DDE3E7"/>
              </a:solidFill>
              <a:prstDash val="solid"/>
            </a:ln>
          </c:spPr>
        </c:majorGridlines>
        <c:numFmt formatCode="General"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Arial"/>
                <a:ea typeface="Arial"/>
                <a:cs typeface="Arial"/>
              </a:defRPr>
            </a:pPr>
            <a:endParaRPr lang="en-US"/>
          </a:p>
        </c:txPr>
        <c:crossAx val="48650112"/>
        <c:crosses val="autoZero"/>
        <c:crossBetween val="between"/>
      </c:valAx>
      <c:spPr>
        <a:solidFill>
          <a:srgbClr val="FFFFFF"/>
        </a:solidFill>
      </c:spPr>
    </c:plotArea>
    <c:legend>
      <c:legendPos val="b"/>
      <c:overlay val="0"/>
      <c:txPr>
        <a:bodyPr anchorCtr="1"/>
        <a:lstStyle/>
        <a:p>
          <a:pPr>
            <a:defRPr sz="1350">
              <a:latin typeface="Arial"/>
              <a:ea typeface="Arial"/>
              <a:cs typeface="Arial"/>
            </a:defRPr>
          </a:pPr>
          <a:endParaRPr lang="en-US"/>
        </a:p>
      </c:txPr>
    </c:legend>
    <c:plotVisOnly val="1"/>
    <c:dispBlanksAs val="zero"/>
    <c:showDLblsOverMax val="1"/>
  </c:chart>
  <c:spPr>
    <a:solidFill>
      <a:srgbClr val="FFFFFF"/>
    </a:solidFill>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lineChart>
        <c:grouping val="standard"/>
        <c:varyColors val="0"/>
        <c:ser>
          <c:idx val="0"/>
          <c:order val="0"/>
          <c:tx>
            <c:v>Never treated</c:v>
          </c:tx>
          <c:spPr>
            <a:ln w="28575">
              <a:solidFill>
                <a:srgbClr val="5B6B78"/>
              </a:solidFill>
              <a:prstDash val="solid"/>
            </a:ln>
          </c:spPr>
          <c:marker>
            <c:symbol val="circle"/>
            <c:size val="6"/>
            <c:spPr>
              <a:solidFill>
                <a:srgbClr val="5B6B78"/>
              </a:solidFill>
            </c:spPr>
          </c:marker>
          <c:cat>
            <c:numRef>
              <c:f>'Chart Data'!$A$2:$A$10</c:f>
              <c:numCache>
                <c:formatCode>General</c:formatCode>
                <c:ptCount val="9"/>
                <c:pt idx="0">
                  <c:v>2003</c:v>
                </c:pt>
                <c:pt idx="1">
                  <c:v>2004</c:v>
                </c:pt>
                <c:pt idx="2">
                  <c:v>2005</c:v>
                </c:pt>
                <c:pt idx="3">
                  <c:v>2006</c:v>
                </c:pt>
                <c:pt idx="4">
                  <c:v>2007</c:v>
                </c:pt>
                <c:pt idx="5">
                  <c:v>2008</c:v>
                </c:pt>
                <c:pt idx="6">
                  <c:v>2009</c:v>
                </c:pt>
                <c:pt idx="7">
                  <c:v>2010</c:v>
                </c:pt>
                <c:pt idx="8">
                  <c:v>2011</c:v>
                </c:pt>
              </c:numCache>
            </c:numRef>
          </c:cat>
          <c:val>
            <c:numRef>
              <c:f>'Chart Data'!$B$2:$B$10</c:f>
              <c:numCache>
                <c:formatCode>General</c:formatCode>
                <c:ptCount val="9"/>
                <c:pt idx="0">
                  <c:v>10</c:v>
                </c:pt>
                <c:pt idx="1">
                  <c:v>10</c:v>
                </c:pt>
                <c:pt idx="2">
                  <c:v>10</c:v>
                </c:pt>
                <c:pt idx="3">
                  <c:v>10</c:v>
                </c:pt>
                <c:pt idx="4">
                  <c:v>10</c:v>
                </c:pt>
                <c:pt idx="5">
                  <c:v>10</c:v>
                </c:pt>
                <c:pt idx="6">
                  <c:v>10</c:v>
                </c:pt>
                <c:pt idx="7">
                  <c:v>10</c:v>
                </c:pt>
                <c:pt idx="8">
                  <c:v>10</c:v>
                </c:pt>
              </c:numCache>
            </c:numRef>
          </c:val>
          <c:smooth val="1"/>
          <c:extLst>
            <c:ext xmlns:c16="http://schemas.microsoft.com/office/drawing/2014/chart" uri="{C3380CC4-5D6E-409C-BE32-E72D297353CC}">
              <c16:uniqueId val="{00000000-E868-744B-850A-4930400B2E65}"/>
            </c:ext>
          </c:extLst>
        </c:ser>
        <c:ser>
          <c:idx val="1"/>
          <c:order val="1"/>
          <c:tx>
            <c:v>Early: starts 2006</c:v>
          </c:tx>
          <c:spPr>
            <a:ln w="28575">
              <a:solidFill>
                <a:srgbClr val="C8553D"/>
              </a:solidFill>
              <a:prstDash val="solid"/>
            </a:ln>
          </c:spPr>
          <c:marker>
            <c:symbol val="circle"/>
            <c:size val="6"/>
            <c:spPr>
              <a:solidFill>
                <a:srgbClr val="C8553D"/>
              </a:solidFill>
            </c:spPr>
          </c:marker>
          <c:cat>
            <c:numRef>
              <c:f>'Chart Data'!$C$2:$C$10</c:f>
              <c:numCache>
                <c:formatCode>General</c:formatCode>
                <c:ptCount val="9"/>
                <c:pt idx="0">
                  <c:v>2003</c:v>
                </c:pt>
                <c:pt idx="1">
                  <c:v>2004</c:v>
                </c:pt>
                <c:pt idx="2">
                  <c:v>2005</c:v>
                </c:pt>
                <c:pt idx="3">
                  <c:v>2006</c:v>
                </c:pt>
                <c:pt idx="4">
                  <c:v>2007</c:v>
                </c:pt>
                <c:pt idx="5">
                  <c:v>2008</c:v>
                </c:pt>
                <c:pt idx="6">
                  <c:v>2009</c:v>
                </c:pt>
                <c:pt idx="7">
                  <c:v>2010</c:v>
                </c:pt>
                <c:pt idx="8">
                  <c:v>2011</c:v>
                </c:pt>
              </c:numCache>
            </c:numRef>
          </c:cat>
          <c:val>
            <c:numRef>
              <c:f>'Chart Data'!$D$2:$D$10</c:f>
              <c:numCache>
                <c:formatCode>General</c:formatCode>
                <c:ptCount val="9"/>
                <c:pt idx="0">
                  <c:v>10</c:v>
                </c:pt>
                <c:pt idx="1">
                  <c:v>10</c:v>
                </c:pt>
                <c:pt idx="2">
                  <c:v>10</c:v>
                </c:pt>
                <c:pt idx="3">
                  <c:v>9</c:v>
                </c:pt>
                <c:pt idx="4">
                  <c:v>8</c:v>
                </c:pt>
                <c:pt idx="5">
                  <c:v>7</c:v>
                </c:pt>
                <c:pt idx="6">
                  <c:v>6</c:v>
                </c:pt>
                <c:pt idx="7">
                  <c:v>5</c:v>
                </c:pt>
                <c:pt idx="8">
                  <c:v>4</c:v>
                </c:pt>
              </c:numCache>
            </c:numRef>
          </c:val>
          <c:smooth val="1"/>
          <c:extLst>
            <c:ext xmlns:c16="http://schemas.microsoft.com/office/drawing/2014/chart" uri="{C3380CC4-5D6E-409C-BE32-E72D297353CC}">
              <c16:uniqueId val="{00000001-E868-744B-850A-4930400B2E65}"/>
            </c:ext>
          </c:extLst>
        </c:ser>
        <c:ser>
          <c:idx val="2"/>
          <c:order val="2"/>
          <c:tx>
            <c:v>Late: starts 2009</c:v>
          </c:tx>
          <c:spPr>
            <a:ln w="28575">
              <a:solidFill>
                <a:srgbClr val="2E6F73"/>
              </a:solidFill>
              <a:prstDash val="solid"/>
            </a:ln>
          </c:spPr>
          <c:marker>
            <c:symbol val="circle"/>
            <c:size val="6"/>
            <c:spPr>
              <a:solidFill>
                <a:srgbClr val="2E6F73"/>
              </a:solidFill>
            </c:spPr>
          </c:marker>
          <c:cat>
            <c:numRef>
              <c:f>'Chart Data'!$E$2:$E$10</c:f>
              <c:numCache>
                <c:formatCode>General</c:formatCode>
                <c:ptCount val="9"/>
                <c:pt idx="0">
                  <c:v>2003</c:v>
                </c:pt>
                <c:pt idx="1">
                  <c:v>2004</c:v>
                </c:pt>
                <c:pt idx="2">
                  <c:v>2005</c:v>
                </c:pt>
                <c:pt idx="3">
                  <c:v>2006</c:v>
                </c:pt>
                <c:pt idx="4">
                  <c:v>2007</c:v>
                </c:pt>
                <c:pt idx="5">
                  <c:v>2008</c:v>
                </c:pt>
                <c:pt idx="6">
                  <c:v>2009</c:v>
                </c:pt>
                <c:pt idx="7">
                  <c:v>2010</c:v>
                </c:pt>
                <c:pt idx="8">
                  <c:v>2011</c:v>
                </c:pt>
              </c:numCache>
            </c:numRef>
          </c:cat>
          <c:val>
            <c:numRef>
              <c:f>'Chart Data'!$F$2:$F$10</c:f>
              <c:numCache>
                <c:formatCode>General</c:formatCode>
                <c:ptCount val="9"/>
                <c:pt idx="0">
                  <c:v>10</c:v>
                </c:pt>
                <c:pt idx="1">
                  <c:v>10</c:v>
                </c:pt>
                <c:pt idx="2">
                  <c:v>10</c:v>
                </c:pt>
                <c:pt idx="3">
                  <c:v>10</c:v>
                </c:pt>
                <c:pt idx="4">
                  <c:v>10</c:v>
                </c:pt>
                <c:pt idx="5">
                  <c:v>10</c:v>
                </c:pt>
                <c:pt idx="6">
                  <c:v>9</c:v>
                </c:pt>
                <c:pt idx="7">
                  <c:v>8</c:v>
                </c:pt>
                <c:pt idx="8">
                  <c:v>7</c:v>
                </c:pt>
              </c:numCache>
            </c:numRef>
          </c:val>
          <c:smooth val="1"/>
          <c:extLst>
            <c:ext xmlns:c16="http://schemas.microsoft.com/office/drawing/2014/chart" uri="{C3380CC4-5D6E-409C-BE32-E72D297353CC}">
              <c16:uniqueId val="{00000002-E868-744B-850A-4930400B2E65}"/>
            </c:ext>
          </c:extLst>
        </c:ser>
        <c:dLbls>
          <c:showLegendKey val="0"/>
          <c:showVal val="0"/>
          <c:showCatName val="0"/>
          <c:showSerName val="0"/>
          <c:showPercent val="0"/>
          <c:showBubbleSize val="0"/>
        </c:dLbls>
        <c:marker val="1"/>
        <c:smooth val="0"/>
        <c:axId val="48650112"/>
        <c:axId val="48672768"/>
      </c:line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Arial"/>
                <a:ea typeface="Arial"/>
                <a:cs typeface="Arial"/>
              </a:defRPr>
            </a:pPr>
            <a:endParaRPr lang="en-US"/>
          </a:p>
        </c:txPr>
        <c:crossAx val="48672768"/>
        <c:crosses val="autoZero"/>
        <c:auto val="1"/>
        <c:lblAlgn val="ctr"/>
        <c:lblOffset val="100"/>
        <c:noMultiLvlLbl val="1"/>
      </c:catAx>
      <c:valAx>
        <c:axId val="48672768"/>
        <c:scaling>
          <c:orientation val="minMax"/>
          <c:max val="11"/>
          <c:min val="3"/>
        </c:scaling>
        <c:delete val="0"/>
        <c:axPos val="l"/>
        <c:majorGridlines>
          <c:spPr>
            <a:ln w="9525">
              <a:solidFill>
                <a:srgbClr val="DDE3E7"/>
              </a:solidFill>
              <a:prstDash val="solid"/>
            </a:ln>
          </c:spPr>
        </c:majorGridlines>
        <c:numFmt formatCode="General"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Arial"/>
                <a:ea typeface="Arial"/>
                <a:cs typeface="Arial"/>
              </a:defRPr>
            </a:pPr>
            <a:endParaRPr lang="en-US"/>
          </a:p>
        </c:txPr>
        <c:crossAx val="48650112"/>
        <c:crosses val="autoZero"/>
        <c:crossBetween val="between"/>
      </c:valAx>
      <c:spPr>
        <a:solidFill>
          <a:srgbClr val="FFFFFF"/>
        </a:solidFill>
      </c:spPr>
    </c:plotArea>
    <c:legend>
      <c:legendPos val="b"/>
      <c:overlay val="0"/>
      <c:txPr>
        <a:bodyPr anchorCtr="1"/>
        <a:lstStyle/>
        <a:p>
          <a:pPr>
            <a:defRPr sz="1350">
              <a:latin typeface="Arial"/>
              <a:ea typeface="Arial"/>
              <a:cs typeface="Arial"/>
            </a:defRPr>
          </a:pPr>
          <a:endParaRPr lang="en-US"/>
        </a:p>
      </c:txPr>
    </c:legend>
    <c:plotVisOnly val="1"/>
    <c:dispBlanksAs val="zero"/>
    <c:showDLblsOverMax val="1"/>
  </c:chart>
  <c:spPr>
    <a:solidFill>
      <a:srgbClr val="FFFFFF"/>
    </a:solidFill>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sequence: recap and counterfactual exercise (15–20 minutes), study and assumptions (30–40), staggered timing (20–25), discussion or lab. Adapt to class length.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Opening prompt: ask students to predict the sign of the effect before presenting any result. A policy can operate through competing channels. Source: https://steinhardt.nyu.edu/research-alliance/research/publications/aggressive-policing-and-academic-outcomes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Ask students to calculate each change, then subtract the Pennsylvania change from the New Jersey change. Values carried forward from the supplied deck. Source: Card &amp; Krueger (1994), American Economic Review 84(4):772–793. This is the simple unadjusted 2×2 illustration.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Give students 60–90 seconds before revealing the answer verbally. Answer: 20.44 − 2.16 = 18.28. Effect: 21.03 − 18.28 = +2.75 FTE employees per restaurant. Ask why the observed +0.59 change alone is not the causal effect. Arithmetic uses the preceding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Answer to previous exercise: counterfactual 18.28, effect +2.75. Here the data are illustrative. Ask students to point to the observed control, observed treatment, and unobserved treatment-free path. The counterfactual is an assumption, not data. No anticipation and no relevant spillovers are additional design requirements.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Illustrative pre-treatment outcomes. Left: gaps remain constant and both groups rise by one unit per period. Right: groups begin equal but have different changes. Neither plot proves post-treatment parallel trends. Ask: what would you predict for each group in the next untreated period?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a confidence interval example: an estimate near zero with a wide interval may still admit large violations. A joint test addresses the included leads, not the unobserved post-treatment counterfactual. Conventional TWFE leads may also be contaminated under staggered treatment and heterogeneous effects. Sources: Roth (2022), Pretest with Caution, https://doi.org/10.1257/aeri.20210236; Sun &amp; Abraham (2021), https://doi.org/10.1016/j.jeconom.2020.09.006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https://doi.org/10.1177/0003122419826020 (Data and Methods; Estimation Strategy). Ask students to distinguish neighborhood exposure from an individual stop. Fixed effects address stable differences, not every time-varying confounder.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an instructional restatement of the identifying assumption, followed by hypothetical threats, not claims that these events actually occurred. Source for the identifying assumption: https://doi.org/10.1177/0003122419826020 (Plausibility of Design).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Open Figure 2 using the slide link or assign the figure from the reading. The post periods are after the program ENDS, not simply years since first treatment. Discuss the width of intervals and the two specifications. Source: https://doi.org/10.1177/0003122419826020 Figure 2. Do not interpret insignificant leads as proof.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https://steinhardt.nyu.edu/research-alliance/research/publications/aggressive-policing-and-academic-outcomes; https://doi.org/10.1177/0003122419826020 Results. The numeric example is a reported point estimate, not a new calculation. Avoid equating a standard-deviation change with a percentage change. The heterogeneous findings do not imply every individual in a group had the same effect.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discussion. Distinguish the total effect of a neighborhood policy from the effect of a personal encounter and from a mediated effect. Policy findings source: https://steinhardt.nyu.edu/research-alliance/research/publications/aggressive-policing-and-academic-outcomes. Mechanism questions are hypotheses to investigate, not findings from a mediation analysis.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Illustrative policy that stays on after adoption. A cohort is a group first treated at the same time. In Year 2, A can be compared with B or C. In Year 3, B can be compared with C; using A risks subtracting an evolving treatment effect. Every comparison still requires parallel untreated trends and no anticipation.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generic binary-treatment model, not the full Legewie–Fagan specification. In a simple two-group, two-period design without additional regressors, the coefficient equals the DiD contrast. With staggered timing, its weighting need not match the target average effect. Source: https://www.nber.org/papers/w25018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https://www.nber.org/papers/w25018. Labels refer to a binary absorbing treatment. Untreated comparisons are candidates, not automatically valid controls. Stable effects can make already-treated comparisons usable, but evolving effects create contamination.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Stylized data from the supplied deck, not study estimates. Compare 2008 with 2009: late changes 10 to 9 (−1), early changes 7 to 6 (−1). DiD = 0 although late’s effect is −1 relative to never-treated. This example demonstrates attenuation, not a sign reversal. Source for the general issue: https://www.nber.org/papers/w25018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https://bcallaway11.github.io/did/articles/multi-period-did.html. ATT(g,t) is the average treatment effect at time t among units first treated at g. Aggregation answers a specific target question. Standard absorbing-treatment framework: not a drop-in solution to reversible exposure.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for program changes: https://steinhardt.nyu.edu/research-alliance/research/publications/aggressive-policing-and-academic-outcomes. Methodological distinction: first-adoption estimators generally assume an absorbing treatment. A first-adoption analysis can sometimes define a different estimand, but cannot automatically recover the effect of current exposure. Do not declare the original study invalid merely because newer methods exist.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answers: 1) Equal untreated changes, not equal observed levels. 2) Unobserved counterfactual and limited precision. 3) Early group’s treatment effect can evolve. 4) Treatment ending can leave residual effects; current off status need not mean untreated potential outcomes.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Sun &amp; Abraham (2021), https://doi.org/10.1016/j.jeconom.2020.09.006; Roth (2022), https://doi.org/10.1257/aeri.20210236; Rambachan &amp; Roth (2023), https://doi.org/10.1093/restud/rdad018. Explain the omitted reference period before interpreting coefficients. Do not present conventional TWFE leads as uncontaminated estimates under heterogeneous staggered effects.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Callaway &amp; Sant’Anna (2021), https://doi.org/10.1016/j.jeconom.2020.12.001; Sun &amp; Abraham (2021), https://doi.org/10.1016/j.jeconom.2020.09.006; Borusyak, Jaravel &amp; Spiess (2024), https://doi.org/10.1093/restud/rdae007; de Chaisemartin &amp; D’Haultfœuille, https://github.com/chaisemartinPackages/did_multiplegt_dyn. Consult each method’s assumptions, support conditions, and target parameter before selecting an estimator.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 illustrative numbers are labeled. Empirical claims are from the assigned article and its authors’ NYU policy brief. The original deck supplied the Card–Krueger table and stylized charts. URLs are provided below and in relevant speaker notes.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F2A36"/>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72E59F8C-D32F-45DA-821D-D37FEC231A7A}"/>
              </a:ext>
            </a:extLst>
          </p:cNvPr>
          <p:cNvSpPr>
            <a:spLocks noGrp="1"/>
          </p:cNvSpPr>
          <p:nvPr>
            <p:ph type="title" idx="100" hasCustomPrompt="1"/>
          </p:nvPr>
        </p:nvSpPr>
        <p:spPr>
          <a:xfrm>
            <a:off x="731520" y="2103120"/>
            <a:ext cx="10698480" cy="1463040"/>
          </a:xfrm>
          <a:prstGeom prst="rect">
            <a:avLst/>
          </a:prstGeom>
          <a:noFill/>
        </p:spPr>
        <p:txBody>
          <a:bodyPr wrap="square"/>
          <a:lstStyle>
            <a:lvl1pPr marL="0" indent="0" algn="l">
              <a:buNone/>
              <a:defRPr sz="4400" b="1">
                <a:solidFill>
                  <a:schemeClr val="bg1"/>
                </a:solidFill>
              </a:defRPr>
            </a:lvl1pPr>
          </a:lstStyle>
          <a:p>
            <a:pPr marL="0" indent="0" algn="l">
              <a:buNone/>
            </a:pPr>
            <a:endParaRPr sz="4400"/>
          </a:p>
        </p:txBody>
      </p:sp>
      <p:sp>
        <p:nvSpPr>
          <p:cNvPr id="3" name="Text 0">
            <a:extLst>
              <a:ext uri="{FF2B5EF4-FFF2-40B4-BE49-F238E27FC236}">
                <a16:creationId xmlns:a16="http://schemas.microsoft.com/office/drawing/2014/main" id="{5F78024D-46D2-4042-8D5C-7E3D8CF0682D}"/>
              </a:ext>
            </a:extLst>
          </p:cNvPr>
          <p:cNvSpPr>
            <a:spLocks noGrp="1"/>
          </p:cNvSpPr>
          <p:nvPr>
            <p:ph type="body" idx="101" hasCustomPrompt="1"/>
          </p:nvPr>
        </p:nvSpPr>
        <p:spPr>
          <a:xfrm>
            <a:off x="731520" y="3703320"/>
            <a:ext cx="10698480" cy="1097280"/>
          </a:xfrm>
          <a:prstGeom prst="rect">
            <a:avLst/>
          </a:prstGeom>
          <a:noFill/>
        </p:spPr>
        <p:txBody>
          <a:bodyPr wrap="square"/>
          <a:lstStyle>
            <a:lvl1pPr marL="0" indent="0">
              <a:buNone/>
              <a:defRPr sz="2000">
                <a:solidFill>
                  <a:schemeClr val="accent4"/>
                </a:solidFill>
              </a:defRPr>
            </a:lvl1pPr>
          </a:lstStyle>
          <a:p>
            <a:pPr marL="0" indent="0">
              <a:buNone/>
            </a:pPr>
            <a:endParaRPr sz="200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_DARK">
    <p:bg>
      <p:bgPr>
        <a:solidFill>
          <a:srgbClr val="2E6F73"/>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C530D5FF-BD2B-4D01-BF9C-0B1E34DDD4C6}"/>
              </a:ext>
            </a:extLst>
          </p:cNvPr>
          <p:cNvSpPr>
            <a:spLocks noGrp="1"/>
          </p:cNvSpPr>
          <p:nvPr>
            <p:ph type="title" idx="100" hasCustomPrompt="1"/>
          </p:nvPr>
        </p:nvSpPr>
        <p:spPr>
          <a:xfrm>
            <a:off x="731520" y="2194560"/>
            <a:ext cx="10698480" cy="1280160"/>
          </a:xfrm>
          <a:prstGeom prst="rect">
            <a:avLst/>
          </a:prstGeom>
          <a:noFill/>
        </p:spPr>
        <p:txBody>
          <a:bodyPr wrap="square"/>
          <a:lstStyle>
            <a:lvl1pPr marL="0" indent="0" algn="l">
              <a:buNone/>
              <a:defRPr sz="4000" b="1">
                <a:solidFill>
                  <a:schemeClr val="bg1"/>
                </a:solidFill>
              </a:defRPr>
            </a:lvl1pPr>
          </a:lstStyle>
          <a:p>
            <a:pPr marL="0" indent="0" algn="l">
              <a:buNone/>
            </a:pPr>
            <a:endParaRPr sz="4000"/>
          </a:p>
        </p:txBody>
      </p:sp>
      <p:sp>
        <p:nvSpPr>
          <p:cNvPr id="3" name="Text 0">
            <a:extLst>
              <a:ext uri="{FF2B5EF4-FFF2-40B4-BE49-F238E27FC236}">
                <a16:creationId xmlns:a16="http://schemas.microsoft.com/office/drawing/2014/main" id="{40C0A515-C352-45D6-B9B3-D8C636A4DAED}"/>
              </a:ext>
            </a:extLst>
          </p:cNvPr>
          <p:cNvSpPr>
            <a:spLocks noGrp="1"/>
          </p:cNvSpPr>
          <p:nvPr>
            <p:ph type="body" idx="101" hasCustomPrompt="1"/>
          </p:nvPr>
        </p:nvSpPr>
        <p:spPr>
          <a:xfrm>
            <a:off x="731520" y="3611880"/>
            <a:ext cx="10698480" cy="1463040"/>
          </a:xfrm>
          <a:prstGeom prst="rect">
            <a:avLst/>
          </a:prstGeom>
          <a:noFill/>
        </p:spPr>
        <p:txBody>
          <a:bodyPr wrap="square"/>
          <a:lstStyle>
            <a:lvl1pPr marL="0" indent="0">
              <a:buNone/>
              <a:defRPr sz="2000">
                <a:solidFill>
                  <a:schemeClr val="bg1"/>
                </a:solidFill>
              </a:defRPr>
            </a:lvl1pPr>
          </a:lstStyle>
          <a:p>
            <a:pPr marL="0" indent="0">
              <a:buNone/>
            </a:pPr>
            <a:endParaRPr sz="2000"/>
          </a:p>
        </p:txBody>
      </p:sp>
      <p:sp>
        <p:nvSpPr>
          <p:cNvPr id="25" name="Slide Number Placeholder 0">
            <a:extLst>
              <a:ext uri="{FF2B5EF4-FFF2-40B4-BE49-F238E27FC236}">
                <a16:creationId xmlns:a16="http://schemas.microsoft.com/office/drawing/2014/main" id="{9E05E688-29F1-4AFE-BD8C-B871BBB57503}"/>
              </a:ext>
            </a:extLst>
          </p:cNvPr>
          <p:cNvSpPr>
            <a:spLocks noGrp="1"/>
          </p:cNvSpPr>
          <p:nvPr>
            <p:ph type="sldNum" idx="4294967295"/>
          </p:nvPr>
        </p:nvSpPr>
        <p:spPr>
          <a:xfrm>
            <a:off x="11247120" y="6355080"/>
            <a:ext cx="548640" cy="320040"/>
          </a:xfrm>
          <a:prstGeom prst="rect">
            <a:avLst/>
          </a:prstGeom>
        </p:spPr>
        <p:txBody>
          <a:bodyPr/>
          <a:lstStyle>
            <a:lvl1pPr>
              <a:buNone/>
              <a:defRPr sz="1100">
                <a:solidFill>
                  <a:schemeClr val="bg1"/>
                </a:solidFill>
              </a:defRPr>
            </a:lvl1pPr>
          </a:lstStyle>
          <a:p>
            <a:pPr algn="r">
              <a:buNone/>
            </a:pPr>
            <a:fld id="{F7021451-1387-4CA6-816F-3879F97B5CBC}" type="slidenum">
              <a:rPr b="0"/>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5DCA6376-D0F8-4AC6-9D01-280ABF066439}"/>
              </a:ext>
            </a:extLst>
          </p:cNvPr>
          <p:cNvSpPr>
            <a:spLocks noGrp="1"/>
          </p:cNvSpPr>
          <p:nvPr>
            <p:ph type="title" idx="100" hasCustomPrompt="1"/>
          </p:nvPr>
        </p:nvSpPr>
        <p:spPr>
          <a:xfrm>
            <a:off x="548640" y="365760"/>
            <a:ext cx="11064240" cy="822960"/>
          </a:xfrm>
          <a:prstGeom prst="rect">
            <a:avLst/>
          </a:prstGeom>
          <a:noFill/>
        </p:spPr>
        <p:txBody>
          <a:bodyPr wrap="square"/>
          <a:lstStyle>
            <a:lvl1pPr marL="0" indent="0">
              <a:buNone/>
              <a:defRPr sz="3200" b="1">
                <a:solidFill>
                  <a:schemeClr val="tx1"/>
                </a:solidFill>
              </a:defRPr>
            </a:lvl1pPr>
          </a:lstStyle>
          <a:p>
            <a:pPr marL="0" indent="0">
              <a:buNone/>
            </a:pPr>
            <a:endParaRPr sz="3200"/>
          </a:p>
        </p:txBody>
      </p:sp>
      <p:sp>
        <p:nvSpPr>
          <p:cNvPr id="3" name="Text 0">
            <a:extLst>
              <a:ext uri="{FF2B5EF4-FFF2-40B4-BE49-F238E27FC236}">
                <a16:creationId xmlns:a16="http://schemas.microsoft.com/office/drawing/2014/main" id="{B3142758-3F2F-4B95-8B0D-F4D1A2FB297E}"/>
              </a:ext>
            </a:extLst>
          </p:cNvPr>
          <p:cNvSpPr>
            <a:spLocks noGrp="1"/>
          </p:cNvSpPr>
          <p:nvPr/>
        </p:nvSpPr>
        <p:spPr>
          <a:xfrm>
            <a:off x="548640" y="6355080"/>
            <a:ext cx="4572000" cy="320040"/>
          </a:xfrm>
          <a:prstGeom prst="rect">
            <a:avLst/>
          </a:prstGeom>
          <a:noFill/>
        </p:spPr>
        <p:txBody>
          <a:bodyPr wrap="square" lIns="0" tIns="0" rIns="0" bIns="0" anchor="ctr"/>
          <a:lstStyle/>
          <a:p>
            <a:pPr marL="0" indent="0">
              <a:buNone/>
            </a:pPr>
            <a:r>
              <a:rPr sz="1100">
                <a:solidFill>
                  <a:schemeClr val="accent6"/>
                </a:solidFill>
              </a:rPr>
              <a:t>Causal Analysis · Week 9</a:t>
            </a:r>
            <a:endParaRPr sz="1100"/>
          </a:p>
        </p:txBody>
      </p:sp>
      <p:sp>
        <p:nvSpPr>
          <p:cNvPr id="25" name="Slide Number Placeholder 0">
            <a:extLst>
              <a:ext uri="{FF2B5EF4-FFF2-40B4-BE49-F238E27FC236}">
                <a16:creationId xmlns:a16="http://schemas.microsoft.com/office/drawing/2014/main" id="{8A1285F5-B469-4B9D-86B5-EB2769B7B51C}"/>
              </a:ext>
            </a:extLst>
          </p:cNvPr>
          <p:cNvSpPr>
            <a:spLocks noGrp="1"/>
          </p:cNvSpPr>
          <p:nvPr>
            <p:ph type="sldNum" idx="4294967295"/>
          </p:nvPr>
        </p:nvSpPr>
        <p:spPr>
          <a:xfrm>
            <a:off x="11247120" y="6355080"/>
            <a:ext cx="548640" cy="320040"/>
          </a:xfrm>
          <a:prstGeom prst="rect">
            <a:avLst/>
          </a:prstGeom>
        </p:spPr>
        <p:txBody>
          <a:bodyPr/>
          <a:lstStyle>
            <a:lvl1pPr>
              <a:buNone/>
              <a:defRPr sz="1100">
                <a:solidFill>
                  <a:schemeClr val="accent6"/>
                </a:solidFill>
              </a:defRPr>
            </a:lvl1pPr>
          </a:lstStyle>
          <a:p>
            <a:pPr algn="r">
              <a:buNone/>
            </a:pPr>
            <a:fld id="{F7021451-1387-4CA6-816F-3879F97B5CBC}" type="slidenum">
              <a:rPr b="0"/>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a:extLst>
              <a:ext uri="{FF2B5EF4-FFF2-40B4-BE49-F238E27FC236}">
                <a16:creationId xmlns:a16="http://schemas.microsoft.com/office/drawing/2014/main" id="{A0C53B2F-AA9E-4146-BD91-0BFAF6635D91}"/>
              </a:ext>
            </a:extLst>
          </p:cNvPr>
          <p:cNvSpPr>
            <a:spLocks noGrp="1"/>
          </p:cNvSpPr>
          <p:nvPr>
            <p:ph type="sldNum" idx="4294967295"/>
          </p:nvPr>
        </p:nvSpPr>
        <p:spPr>
          <a:xfrm>
            <a:off x="11247120" y="6355080"/>
            <a:ext cx="548640" cy="320040"/>
          </a:xfrm>
          <a:prstGeom prst="rect">
            <a:avLst/>
          </a:prstGeom>
        </p:spPr>
        <p:txBody>
          <a:bodyPr/>
          <a:lstStyle>
            <a:lvl1pPr>
              <a:buNone/>
              <a:defRPr sz="1100">
                <a:solidFill>
                  <a:schemeClr val="bg1"/>
                </a:solidFill>
              </a:defRPr>
            </a:lvl1pPr>
          </a:lstStyle>
          <a:p>
            <a:pPr algn="r">
              <a:buNone/>
            </a:pPr>
            <a:fld id="{F7021451-1387-4CA6-816F-3879F97B5CBC}" type="slidenum">
              <a:rPr b="0"/>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a:spcBef>
          <a:spcPct val="0"/>
        </a:spcBef>
        <a:buNone/>
        <a:defRPr sz="4400" kern="1200">
          <a:solidFill>
            <a:schemeClr val="tx1"/>
          </a:solidFill>
          <a:latin typeface="+mj-lt"/>
          <a:ea typeface="+mj-lt"/>
          <a:cs typeface="+mj-lt"/>
        </a:defRPr>
      </a:lvl1pPr>
    </p:titleStyle>
    <p:bodyStyle>
      <a:lvl1pPr marL="342900" indent="-342900" algn="l" defTabSz="914400">
        <a:spcBef>
          <a:spcPct val="20000"/>
        </a:spcBef>
        <a:buFont typeface="Arial"/>
        <a:buChar char="•"/>
        <a:defRPr sz="3200" kern="1200">
          <a:solidFill>
            <a:schemeClr val="tx1"/>
          </a:solidFill>
          <a:latin typeface="+mn-lt"/>
          <a:ea typeface="+mn-lt"/>
          <a:cs typeface="+mn-lt"/>
        </a:defRPr>
      </a:lvl1pPr>
      <a:lvl2pPr marL="742950" indent="-285750" algn="l" defTabSz="914400">
        <a:spcBef>
          <a:spcPct val="20000"/>
        </a:spcBef>
        <a:buFont typeface="Arial"/>
        <a:buChar char="–"/>
        <a:defRPr sz="2800" kern="1200">
          <a:solidFill>
            <a:schemeClr val="tx1"/>
          </a:solidFill>
          <a:latin typeface="+mn-lt"/>
          <a:ea typeface="+mn-lt"/>
          <a:cs typeface="+mn-lt"/>
        </a:defRPr>
      </a:lvl2pPr>
      <a:lvl3pPr marL="1143000" indent="-228600" algn="l" defTabSz="914400">
        <a:spcBef>
          <a:spcPct val="20000"/>
        </a:spcBef>
        <a:buFont typeface="Arial"/>
        <a:buChar char="•"/>
        <a:defRPr sz="2400" kern="1200">
          <a:solidFill>
            <a:schemeClr val="tx1"/>
          </a:solidFill>
          <a:latin typeface="+mn-lt"/>
          <a:ea typeface="+mn-lt"/>
          <a:cs typeface="+mn-lt"/>
        </a:defRPr>
      </a:lvl3pPr>
      <a:lvl4pPr marL="1600200" indent="-228600" algn="l" defTabSz="914400">
        <a:spcBef>
          <a:spcPct val="20000"/>
        </a:spcBef>
        <a:buFont typeface="Arial"/>
        <a:buChar char="–"/>
        <a:defRPr sz="2000" kern="1200">
          <a:solidFill>
            <a:schemeClr val="tx1"/>
          </a:solidFill>
          <a:latin typeface="+mn-lt"/>
          <a:ea typeface="+mn-lt"/>
          <a:cs typeface="+mn-lt"/>
        </a:defRPr>
      </a:lvl4pPr>
      <a:lvl5pPr marL="2057400" indent="-228600" algn="l" defTabSz="914400">
        <a:spcBef>
          <a:spcPct val="20000"/>
        </a:spcBef>
        <a:buFont typeface="Arial"/>
        <a:buChar char="»"/>
        <a:defRPr sz="2000" kern="1200">
          <a:solidFill>
            <a:schemeClr val="tx1"/>
          </a:solidFill>
          <a:latin typeface="+mn-lt"/>
          <a:ea typeface="+mn-lt"/>
          <a:cs typeface="+mn-lt"/>
        </a:defRPr>
      </a:lvl5pPr>
      <a:lvl6pPr marL="2514600" indent="-228600" algn="l" defTabSz="914400">
        <a:spcBef>
          <a:spcPct val="20000"/>
        </a:spcBef>
        <a:buFont typeface="Arial"/>
        <a:buChar char="•"/>
        <a:defRPr sz="2000" kern="1200">
          <a:solidFill>
            <a:schemeClr val="tx1"/>
          </a:solidFill>
          <a:latin typeface="+mn-lt"/>
          <a:ea typeface="+mn-lt"/>
          <a:cs typeface="+mn-lt"/>
        </a:defRPr>
      </a:lvl6pPr>
      <a:lvl7pPr marL="2971800" indent="-228600" algn="l" defTabSz="914400">
        <a:spcBef>
          <a:spcPct val="20000"/>
        </a:spcBef>
        <a:buFont typeface="Arial"/>
        <a:buChar char="•"/>
        <a:defRPr sz="2000" kern="1200">
          <a:solidFill>
            <a:schemeClr val="tx1"/>
          </a:solidFill>
          <a:latin typeface="+mn-lt"/>
          <a:ea typeface="+mn-lt"/>
          <a:cs typeface="+mn-lt"/>
        </a:defRPr>
      </a:lvl7pPr>
      <a:lvl8pPr marL="3429000" indent="-228600" algn="l" defTabSz="914400">
        <a:spcBef>
          <a:spcPct val="20000"/>
        </a:spcBef>
        <a:buFont typeface="Arial"/>
        <a:buChar char="•"/>
        <a:defRPr sz="2000" kern="1200">
          <a:solidFill>
            <a:schemeClr val="tx1"/>
          </a:solidFill>
          <a:latin typeface="+mn-lt"/>
          <a:ea typeface="+mn-lt"/>
          <a:cs typeface="+mn-lt"/>
        </a:defRPr>
      </a:lvl8pPr>
      <a:lvl9pPr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chart" Target="../charts/char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hyperlink" Target="https://journals.sagepub.com/doi/full/10.1177/0003122419826020#fig2-0003122419826020" TargetMode="Externa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8" Type="http://schemas.openxmlformats.org/officeDocument/2006/relationships/hyperlink" Target="https://doi.org/10.1257/aeri.20210236" TargetMode="External"/><Relationship Id="rId3" Type="http://schemas.openxmlformats.org/officeDocument/2006/relationships/hyperlink" Target="https://doi.org/10.1177/0003122419826020" TargetMode="External"/><Relationship Id="rId7" Type="http://schemas.openxmlformats.org/officeDocument/2006/relationships/hyperlink" Target="https://doi.org/10.1016/j.jeconom.2020.09.006" TargetMode="External"/><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hyperlink" Target="https://bcallaway11.github.io/did/articles/multi-period-did.html" TargetMode="External"/><Relationship Id="rId5" Type="http://schemas.openxmlformats.org/officeDocument/2006/relationships/hyperlink" Target="https://www.nber.org/papers/w25018" TargetMode="External"/><Relationship Id="rId4" Type="http://schemas.openxmlformats.org/officeDocument/2006/relationships/hyperlink" Target="https://steinhardt.nyu.edu/research-alliance/research/publications/aggressive-policing-and-academic-outcome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F2A36"/>
        </a:solidFill>
        <a:effectLst/>
      </p:bgPr>
    </p:bg>
    <p:spTree>
      <p:nvGrpSpPr>
        <p:cNvPr id="1" name=""/>
        <p:cNvGrpSpPr/>
        <p:nvPr/>
      </p:nvGrpSpPr>
      <p:grpSpPr>
        <a:xfrm>
          <a:off x="0" y="0"/>
          <a:ext cx="0" cy="0"/>
          <a:chOff x="0" y="0"/>
          <a:chExt cx="0" cy="0"/>
        </a:xfrm>
      </p:grpSpPr>
      <p:sp>
        <p:nvSpPr>
          <p:cNvPr id="6" name="text-0">
            <a:extLst>
              <a:ext uri="{FF2B5EF4-FFF2-40B4-BE49-F238E27FC236}">
                <a16:creationId xmlns:a16="http://schemas.microsoft.com/office/drawing/2014/main" id="{A05FA734-E659-473F-B0A0-7BE59A0CB5DB}"/>
              </a:ext>
            </a:extLst>
          </p:cNvPr>
          <p:cNvSpPr>
            <a:spLocks noGrp="1"/>
          </p:cNvSpPr>
          <p:nvPr/>
        </p:nvSpPr>
        <p:spPr>
          <a:xfrm>
            <a:off x="552450" y="361950"/>
            <a:ext cx="11087100" cy="857250"/>
          </a:xfrm>
          <a:prstGeom prst="rect">
            <a:avLst/>
          </a:prstGeom>
          <a:noFill/>
          <a:ln w="0">
            <a:noFill/>
            <a:prstDash val="solid"/>
          </a:ln>
        </p:spPr>
        <p:txBody>
          <a:bodyPr lIns="0" tIns="0" rIns="0" bIns="0" anchor="t"/>
          <a:lstStyle>
            <a:defPPr>
              <a:defRPr sz="3000" b="1">
                <a:solidFill>
                  <a:srgbClr val="1F2A36"/>
                </a:solidFill>
                <a:latin typeface="Arial"/>
                <a:ea typeface="Arial"/>
                <a:cs typeface="Arial"/>
              </a:defRPr>
            </a:defPPr>
            <a:lvl1pPr>
              <a:defRPr sz="3000" b="1">
                <a:solidFill>
                  <a:srgbClr val="1F2A36"/>
                </a:solidFill>
                <a:latin typeface="Arial"/>
                <a:ea typeface="Arial"/>
                <a:cs typeface="Arial"/>
              </a:defRPr>
            </a:lvl1pPr>
            <a:lvl2pPr>
              <a:defRPr sz="3000" b="1">
                <a:solidFill>
                  <a:srgbClr val="1F2A36"/>
                </a:solidFill>
                <a:latin typeface="Arial"/>
                <a:ea typeface="Arial"/>
                <a:cs typeface="Arial"/>
              </a:defRPr>
            </a:lvl2pPr>
            <a:lvl3pPr>
              <a:defRPr sz="3000" b="1">
                <a:solidFill>
                  <a:srgbClr val="1F2A36"/>
                </a:solidFill>
                <a:latin typeface="Arial"/>
                <a:ea typeface="Arial"/>
                <a:cs typeface="Arial"/>
              </a:defRPr>
            </a:lvl3pPr>
            <a:lvl4pPr>
              <a:defRPr sz="3000" b="1">
                <a:solidFill>
                  <a:srgbClr val="1F2A36"/>
                </a:solidFill>
                <a:latin typeface="Arial"/>
                <a:ea typeface="Arial"/>
                <a:cs typeface="Arial"/>
              </a:defRPr>
            </a:lvl4pPr>
            <a:lvl5pPr>
              <a:defRPr sz="3000" b="1">
                <a:solidFill>
                  <a:srgbClr val="1F2A36"/>
                </a:solidFill>
                <a:latin typeface="Arial"/>
                <a:ea typeface="Arial"/>
                <a:cs typeface="Arial"/>
              </a:defRPr>
            </a:lvl5pPr>
            <a:lvl6pPr>
              <a:defRPr sz="3000" b="1">
                <a:solidFill>
                  <a:srgbClr val="1F2A36"/>
                </a:solidFill>
                <a:latin typeface="Arial"/>
                <a:ea typeface="Arial"/>
                <a:cs typeface="Arial"/>
              </a:defRPr>
            </a:lvl6pPr>
            <a:lvl7pPr>
              <a:defRPr sz="3000" b="1">
                <a:solidFill>
                  <a:srgbClr val="1F2A36"/>
                </a:solidFill>
                <a:latin typeface="Arial"/>
                <a:ea typeface="Arial"/>
                <a:cs typeface="Arial"/>
              </a:defRPr>
            </a:lvl7pPr>
            <a:lvl8pPr>
              <a:defRPr sz="3000" b="1">
                <a:solidFill>
                  <a:srgbClr val="1F2A36"/>
                </a:solidFill>
                <a:latin typeface="Arial"/>
                <a:ea typeface="Arial"/>
                <a:cs typeface="Arial"/>
              </a:defRPr>
            </a:lvl8pPr>
            <a:lvl9pPr>
              <a:defRPr sz="3000" b="1">
                <a:solidFill>
                  <a:srgbClr val="1F2A36"/>
                </a:solidFill>
                <a:latin typeface="Arial"/>
                <a:ea typeface="Arial"/>
                <a:cs typeface="Arial"/>
              </a:defRPr>
            </a:lvl9pPr>
          </a:lstStyle>
          <a:p>
            <a:endParaRPr/>
          </a:p>
        </p:txBody>
      </p:sp>
      <p:sp>
        <p:nvSpPr>
          <p:cNvPr id="2" name="text-1">
            <a:extLst>
              <a:ext uri="{FF2B5EF4-FFF2-40B4-BE49-F238E27FC236}">
                <a16:creationId xmlns:a16="http://schemas.microsoft.com/office/drawing/2014/main" id="{9D013B59-DA53-43E1-831F-F6AF64EE67B7}"/>
              </a:ext>
            </a:extLst>
          </p:cNvPr>
          <p:cNvSpPr>
            <a:spLocks noGrp="1"/>
          </p:cNvSpPr>
          <p:nvPr/>
        </p:nvSpPr>
        <p:spPr>
          <a:xfrm>
            <a:off x="11239500" y="6400800"/>
            <a:ext cx="476250" cy="266700"/>
          </a:xfrm>
          <a:prstGeom prst="rect">
            <a:avLst/>
          </a:prstGeom>
          <a:noFill/>
          <a:ln w="0">
            <a:noFill/>
            <a:prstDash val="solid"/>
          </a:ln>
        </p:spPr>
        <p:txBody>
          <a:bodyPr lIns="0" tIns="0" rIns="0" bIns="0" anchor="t"/>
          <a:lstStyle>
            <a:defPPr>
              <a:defRPr sz="1350" b="0">
                <a:solidFill>
                  <a:srgbClr val="5B6B78"/>
                </a:solidFill>
                <a:latin typeface="Arial"/>
                <a:ea typeface="Arial"/>
                <a:cs typeface="Arial"/>
              </a:defRPr>
            </a:defPPr>
            <a:lvl1pPr>
              <a:defRPr sz="1350" b="0">
                <a:solidFill>
                  <a:srgbClr val="5B6B78"/>
                </a:solidFill>
                <a:latin typeface="Arial"/>
                <a:ea typeface="Arial"/>
                <a:cs typeface="Arial"/>
              </a:defRPr>
            </a:lvl1pPr>
            <a:lvl2pPr>
              <a:defRPr sz="1350" b="0">
                <a:solidFill>
                  <a:srgbClr val="5B6B78"/>
                </a:solidFill>
                <a:latin typeface="Arial"/>
                <a:ea typeface="Arial"/>
                <a:cs typeface="Arial"/>
              </a:defRPr>
            </a:lvl2pPr>
            <a:lvl3pPr>
              <a:defRPr sz="1350" b="0">
                <a:solidFill>
                  <a:srgbClr val="5B6B78"/>
                </a:solidFill>
                <a:latin typeface="Arial"/>
                <a:ea typeface="Arial"/>
                <a:cs typeface="Arial"/>
              </a:defRPr>
            </a:lvl3pPr>
            <a:lvl4pPr>
              <a:defRPr sz="1350" b="0">
                <a:solidFill>
                  <a:srgbClr val="5B6B78"/>
                </a:solidFill>
                <a:latin typeface="Arial"/>
                <a:ea typeface="Arial"/>
                <a:cs typeface="Arial"/>
              </a:defRPr>
            </a:lvl4pPr>
            <a:lvl5pPr>
              <a:defRPr sz="1350" b="0">
                <a:solidFill>
                  <a:srgbClr val="5B6B78"/>
                </a:solidFill>
                <a:latin typeface="Arial"/>
                <a:ea typeface="Arial"/>
                <a:cs typeface="Arial"/>
              </a:defRPr>
            </a:lvl5pPr>
            <a:lvl6pPr>
              <a:defRPr sz="1350" b="0">
                <a:solidFill>
                  <a:srgbClr val="5B6B78"/>
                </a:solidFill>
                <a:latin typeface="Arial"/>
                <a:ea typeface="Arial"/>
                <a:cs typeface="Arial"/>
              </a:defRPr>
            </a:lvl6pPr>
            <a:lvl7pPr>
              <a:defRPr sz="1350" b="0">
                <a:solidFill>
                  <a:srgbClr val="5B6B78"/>
                </a:solidFill>
                <a:latin typeface="Arial"/>
                <a:ea typeface="Arial"/>
                <a:cs typeface="Arial"/>
              </a:defRPr>
            </a:lvl7pPr>
            <a:lvl8pPr>
              <a:defRPr sz="1350" b="0">
                <a:solidFill>
                  <a:srgbClr val="5B6B78"/>
                </a:solidFill>
                <a:latin typeface="Arial"/>
                <a:ea typeface="Arial"/>
                <a:cs typeface="Arial"/>
              </a:defRPr>
            </a:lvl8pPr>
            <a:lvl9pPr>
              <a:defRPr sz="1350" b="0">
                <a:solidFill>
                  <a:srgbClr val="5B6B78"/>
                </a:solidFill>
                <a:latin typeface="Arial"/>
                <a:ea typeface="Arial"/>
                <a:cs typeface="Arial"/>
              </a:defRPr>
            </a:lvl9pPr>
          </a:lstStyle>
          <a:p>
            <a:pPr>
              <a:defRPr sz="1350" b="0">
                <a:solidFill>
                  <a:srgbClr val="5B6B78"/>
                </a:solidFill>
                <a:latin typeface="Arial"/>
                <a:ea typeface="Arial"/>
                <a:cs typeface="Arial"/>
              </a:defRPr>
            </a:pPr>
            <a:r>
              <a:rPr sz="1350" b="0">
                <a:solidFill>
                  <a:srgbClr val="5B6B78"/>
                </a:solidFill>
                <a:latin typeface="Arial"/>
                <a:ea typeface="Arial"/>
                <a:cs typeface="Arial"/>
              </a:rPr>
              <a:t>1</a:t>
            </a:r>
          </a:p>
        </p:txBody>
      </p:sp>
      <p:sp>
        <p:nvSpPr>
          <p:cNvPr id="3" name="text-2">
            <a:extLst>
              <a:ext uri="{FF2B5EF4-FFF2-40B4-BE49-F238E27FC236}">
                <a16:creationId xmlns:a16="http://schemas.microsoft.com/office/drawing/2014/main" id="{D1FA1732-D661-4ECC-9DCD-0334B28A5EF3}"/>
              </a:ext>
            </a:extLst>
          </p:cNvPr>
          <p:cNvSpPr>
            <a:spLocks noGrp="1"/>
          </p:cNvSpPr>
          <p:nvPr/>
        </p:nvSpPr>
        <p:spPr>
          <a:xfrm>
            <a:off x="733425" y="1809750"/>
            <a:ext cx="10696575" cy="762000"/>
          </a:xfrm>
          <a:prstGeom prst="rect">
            <a:avLst/>
          </a:prstGeom>
          <a:noFill/>
          <a:ln w="0">
            <a:noFill/>
            <a:prstDash val="solid"/>
          </a:ln>
        </p:spPr>
        <p:txBody>
          <a:bodyPr lIns="0" tIns="0" rIns="0" bIns="0" anchor="t"/>
          <a:lstStyle>
            <a:defPPr>
              <a:defRPr sz="4050" b="1">
                <a:solidFill>
                  <a:srgbClr val="FFFFFF"/>
                </a:solidFill>
                <a:latin typeface="Arial"/>
                <a:ea typeface="Arial"/>
                <a:cs typeface="Arial"/>
              </a:defRPr>
            </a:defPPr>
            <a:lvl1pPr>
              <a:defRPr sz="4050" b="1">
                <a:solidFill>
                  <a:srgbClr val="FFFFFF"/>
                </a:solidFill>
                <a:latin typeface="Arial"/>
                <a:ea typeface="Arial"/>
                <a:cs typeface="Arial"/>
              </a:defRPr>
            </a:lvl1pPr>
            <a:lvl2pPr>
              <a:defRPr sz="4050" b="1">
                <a:solidFill>
                  <a:srgbClr val="FFFFFF"/>
                </a:solidFill>
                <a:latin typeface="Arial"/>
                <a:ea typeface="Arial"/>
                <a:cs typeface="Arial"/>
              </a:defRPr>
            </a:lvl2pPr>
            <a:lvl3pPr>
              <a:defRPr sz="4050" b="1">
                <a:solidFill>
                  <a:srgbClr val="FFFFFF"/>
                </a:solidFill>
                <a:latin typeface="Arial"/>
                <a:ea typeface="Arial"/>
                <a:cs typeface="Arial"/>
              </a:defRPr>
            </a:lvl3pPr>
            <a:lvl4pPr>
              <a:defRPr sz="4050" b="1">
                <a:solidFill>
                  <a:srgbClr val="FFFFFF"/>
                </a:solidFill>
                <a:latin typeface="Arial"/>
                <a:ea typeface="Arial"/>
                <a:cs typeface="Arial"/>
              </a:defRPr>
            </a:lvl4pPr>
            <a:lvl5pPr>
              <a:defRPr sz="4050" b="1">
                <a:solidFill>
                  <a:srgbClr val="FFFFFF"/>
                </a:solidFill>
                <a:latin typeface="Arial"/>
                <a:ea typeface="Arial"/>
                <a:cs typeface="Arial"/>
              </a:defRPr>
            </a:lvl5pPr>
            <a:lvl6pPr>
              <a:defRPr sz="4050" b="1">
                <a:solidFill>
                  <a:srgbClr val="FFFFFF"/>
                </a:solidFill>
                <a:latin typeface="Arial"/>
                <a:ea typeface="Arial"/>
                <a:cs typeface="Arial"/>
              </a:defRPr>
            </a:lvl6pPr>
            <a:lvl7pPr>
              <a:defRPr sz="4050" b="1">
                <a:solidFill>
                  <a:srgbClr val="FFFFFF"/>
                </a:solidFill>
                <a:latin typeface="Arial"/>
                <a:ea typeface="Arial"/>
                <a:cs typeface="Arial"/>
              </a:defRPr>
            </a:lvl7pPr>
            <a:lvl8pPr>
              <a:defRPr sz="4050" b="1">
                <a:solidFill>
                  <a:srgbClr val="FFFFFF"/>
                </a:solidFill>
                <a:latin typeface="Arial"/>
                <a:ea typeface="Arial"/>
                <a:cs typeface="Arial"/>
              </a:defRPr>
            </a:lvl8pPr>
            <a:lvl9pPr>
              <a:defRPr sz="4050" b="1">
                <a:solidFill>
                  <a:srgbClr val="FFFFFF"/>
                </a:solidFill>
                <a:latin typeface="Arial"/>
                <a:ea typeface="Arial"/>
                <a:cs typeface="Arial"/>
              </a:defRPr>
            </a:lvl9pPr>
          </a:lstStyle>
          <a:p>
            <a:pPr>
              <a:defRPr sz="4050" b="1">
                <a:solidFill>
                  <a:srgbClr val="FFFFFF"/>
                </a:solidFill>
                <a:latin typeface="Arial"/>
                <a:ea typeface="Arial"/>
                <a:cs typeface="Arial"/>
              </a:defRPr>
            </a:pPr>
            <a:r>
              <a:rPr sz="4050" b="1">
                <a:solidFill>
                  <a:srgbClr val="FFFFFF"/>
                </a:solidFill>
                <a:latin typeface="Arial"/>
                <a:ea typeface="Arial"/>
                <a:cs typeface="Arial"/>
              </a:rPr>
              <a:t>Difference-in-differences</a:t>
            </a:r>
          </a:p>
        </p:txBody>
      </p:sp>
      <p:sp>
        <p:nvSpPr>
          <p:cNvPr id="4" name="text-3">
            <a:extLst>
              <a:ext uri="{FF2B5EF4-FFF2-40B4-BE49-F238E27FC236}">
                <a16:creationId xmlns:a16="http://schemas.microsoft.com/office/drawing/2014/main" id="{CF32BE13-647D-4F5E-B268-34FDAB1B1386}"/>
              </a:ext>
            </a:extLst>
          </p:cNvPr>
          <p:cNvSpPr>
            <a:spLocks noGrp="1"/>
          </p:cNvSpPr>
          <p:nvPr/>
        </p:nvSpPr>
        <p:spPr>
          <a:xfrm>
            <a:off x="733425" y="2762250"/>
            <a:ext cx="10696575" cy="857250"/>
          </a:xfrm>
          <a:prstGeom prst="rect">
            <a:avLst/>
          </a:prstGeom>
          <a:noFill/>
          <a:ln w="0">
            <a:noFill/>
            <a:prstDash val="solid"/>
          </a:ln>
        </p:spPr>
        <p:txBody>
          <a:bodyPr lIns="0" tIns="0" rIns="0" bIns="0" anchor="t"/>
          <a:lstStyle>
            <a:defPPr>
              <a:defRPr sz="2925" b="0">
                <a:solidFill>
                  <a:srgbClr val="FFFFFF"/>
                </a:solidFill>
                <a:latin typeface="Arial"/>
                <a:ea typeface="Arial"/>
                <a:cs typeface="Arial"/>
              </a:defRPr>
            </a:defPPr>
            <a:lvl1pPr>
              <a:defRPr sz="2925" b="0">
                <a:solidFill>
                  <a:srgbClr val="FFFFFF"/>
                </a:solidFill>
                <a:latin typeface="Arial"/>
                <a:ea typeface="Arial"/>
                <a:cs typeface="Arial"/>
              </a:defRPr>
            </a:lvl1pPr>
            <a:lvl2pPr>
              <a:defRPr sz="2925" b="0">
                <a:solidFill>
                  <a:srgbClr val="FFFFFF"/>
                </a:solidFill>
                <a:latin typeface="Arial"/>
                <a:ea typeface="Arial"/>
                <a:cs typeface="Arial"/>
              </a:defRPr>
            </a:lvl2pPr>
            <a:lvl3pPr>
              <a:defRPr sz="2925" b="0">
                <a:solidFill>
                  <a:srgbClr val="FFFFFF"/>
                </a:solidFill>
                <a:latin typeface="Arial"/>
                <a:ea typeface="Arial"/>
                <a:cs typeface="Arial"/>
              </a:defRPr>
            </a:lvl3pPr>
            <a:lvl4pPr>
              <a:defRPr sz="2925" b="0">
                <a:solidFill>
                  <a:srgbClr val="FFFFFF"/>
                </a:solidFill>
                <a:latin typeface="Arial"/>
                <a:ea typeface="Arial"/>
                <a:cs typeface="Arial"/>
              </a:defRPr>
            </a:lvl4pPr>
            <a:lvl5pPr>
              <a:defRPr sz="2925" b="0">
                <a:solidFill>
                  <a:srgbClr val="FFFFFF"/>
                </a:solidFill>
                <a:latin typeface="Arial"/>
                <a:ea typeface="Arial"/>
                <a:cs typeface="Arial"/>
              </a:defRPr>
            </a:lvl5pPr>
            <a:lvl6pPr>
              <a:defRPr sz="2925" b="0">
                <a:solidFill>
                  <a:srgbClr val="FFFFFF"/>
                </a:solidFill>
                <a:latin typeface="Arial"/>
                <a:ea typeface="Arial"/>
                <a:cs typeface="Arial"/>
              </a:defRPr>
            </a:lvl6pPr>
            <a:lvl7pPr>
              <a:defRPr sz="2925" b="0">
                <a:solidFill>
                  <a:srgbClr val="FFFFFF"/>
                </a:solidFill>
                <a:latin typeface="Arial"/>
                <a:ea typeface="Arial"/>
                <a:cs typeface="Arial"/>
              </a:defRPr>
            </a:lvl7pPr>
            <a:lvl8pPr>
              <a:defRPr sz="2925" b="0">
                <a:solidFill>
                  <a:srgbClr val="FFFFFF"/>
                </a:solidFill>
                <a:latin typeface="Arial"/>
                <a:ea typeface="Arial"/>
                <a:cs typeface="Arial"/>
              </a:defRPr>
            </a:lvl8pPr>
            <a:lvl9pPr>
              <a:defRPr sz="2925" b="0">
                <a:solidFill>
                  <a:srgbClr val="FFFFFF"/>
                </a:solidFill>
                <a:latin typeface="Arial"/>
                <a:ea typeface="Arial"/>
                <a:cs typeface="Arial"/>
              </a:defRPr>
            </a:lvl9pPr>
          </a:lstStyle>
          <a:p>
            <a:pPr>
              <a:defRPr sz="2925" b="0">
                <a:solidFill>
                  <a:srgbClr val="FFFFFF"/>
                </a:solidFill>
                <a:latin typeface="Arial"/>
                <a:ea typeface="Arial"/>
                <a:cs typeface="Arial"/>
              </a:defRPr>
            </a:pPr>
            <a:r>
              <a:rPr sz="2925" b="0">
                <a:solidFill>
                  <a:srgbClr val="FFFFFF"/>
                </a:solidFill>
                <a:latin typeface="Arial"/>
                <a:ea typeface="Arial"/>
                <a:cs typeface="Arial"/>
              </a:rPr>
              <a:t>Parallel trends, policing, and staggered timing</a:t>
            </a:r>
          </a:p>
        </p:txBody>
      </p:sp>
      <p:sp>
        <p:nvSpPr>
          <p:cNvPr id="5" name="text-4">
            <a:extLst>
              <a:ext uri="{FF2B5EF4-FFF2-40B4-BE49-F238E27FC236}">
                <a16:creationId xmlns:a16="http://schemas.microsoft.com/office/drawing/2014/main" id="{34859846-28F9-4DFB-93B5-10EFDD027D3A}"/>
              </a:ext>
            </a:extLst>
          </p:cNvPr>
          <p:cNvSpPr>
            <a:spLocks noGrp="1"/>
          </p:cNvSpPr>
          <p:nvPr/>
        </p:nvSpPr>
        <p:spPr>
          <a:xfrm>
            <a:off x="733425" y="4048125"/>
            <a:ext cx="10696575" cy="1047750"/>
          </a:xfrm>
          <a:prstGeom prst="rect">
            <a:avLst/>
          </a:prstGeom>
          <a:noFill/>
          <a:ln w="0">
            <a:noFill/>
            <a:prstDash val="solid"/>
          </a:ln>
        </p:spPr>
        <p:txBody>
          <a:bodyPr lIns="0" tIns="0" rIns="0" bIns="0" anchor="t"/>
          <a:lstStyle>
            <a:defPPr>
              <a:defRPr sz="2025" b="0">
                <a:solidFill>
                  <a:srgbClr val="D9E6E7"/>
                </a:solidFill>
                <a:latin typeface="Arial"/>
                <a:ea typeface="Arial"/>
                <a:cs typeface="Arial"/>
              </a:defRPr>
            </a:defPPr>
            <a:lvl1pPr>
              <a:defRPr sz="2025" b="0">
                <a:solidFill>
                  <a:srgbClr val="D9E6E7"/>
                </a:solidFill>
                <a:latin typeface="Arial"/>
                <a:ea typeface="Arial"/>
                <a:cs typeface="Arial"/>
              </a:defRPr>
            </a:lvl1pPr>
            <a:lvl2pPr>
              <a:defRPr sz="2025" b="0">
                <a:solidFill>
                  <a:srgbClr val="D9E6E7"/>
                </a:solidFill>
                <a:latin typeface="Arial"/>
                <a:ea typeface="Arial"/>
                <a:cs typeface="Arial"/>
              </a:defRPr>
            </a:lvl2pPr>
            <a:lvl3pPr>
              <a:defRPr sz="2025" b="0">
                <a:solidFill>
                  <a:srgbClr val="D9E6E7"/>
                </a:solidFill>
                <a:latin typeface="Arial"/>
                <a:ea typeface="Arial"/>
                <a:cs typeface="Arial"/>
              </a:defRPr>
            </a:lvl3pPr>
            <a:lvl4pPr>
              <a:defRPr sz="2025" b="0">
                <a:solidFill>
                  <a:srgbClr val="D9E6E7"/>
                </a:solidFill>
                <a:latin typeface="Arial"/>
                <a:ea typeface="Arial"/>
                <a:cs typeface="Arial"/>
              </a:defRPr>
            </a:lvl4pPr>
            <a:lvl5pPr>
              <a:defRPr sz="2025" b="0">
                <a:solidFill>
                  <a:srgbClr val="D9E6E7"/>
                </a:solidFill>
                <a:latin typeface="Arial"/>
                <a:ea typeface="Arial"/>
                <a:cs typeface="Arial"/>
              </a:defRPr>
            </a:lvl5pPr>
            <a:lvl6pPr>
              <a:defRPr sz="2025" b="0">
                <a:solidFill>
                  <a:srgbClr val="D9E6E7"/>
                </a:solidFill>
                <a:latin typeface="Arial"/>
                <a:ea typeface="Arial"/>
                <a:cs typeface="Arial"/>
              </a:defRPr>
            </a:lvl6pPr>
            <a:lvl7pPr>
              <a:defRPr sz="2025" b="0">
                <a:solidFill>
                  <a:srgbClr val="D9E6E7"/>
                </a:solidFill>
                <a:latin typeface="Arial"/>
                <a:ea typeface="Arial"/>
                <a:cs typeface="Arial"/>
              </a:defRPr>
            </a:lvl7pPr>
            <a:lvl8pPr>
              <a:defRPr sz="2025" b="0">
                <a:solidFill>
                  <a:srgbClr val="D9E6E7"/>
                </a:solidFill>
                <a:latin typeface="Arial"/>
                <a:ea typeface="Arial"/>
                <a:cs typeface="Arial"/>
              </a:defRPr>
            </a:lvl8pPr>
            <a:lvl9pPr>
              <a:defRPr sz="2025" b="0">
                <a:solidFill>
                  <a:srgbClr val="D9E6E7"/>
                </a:solidFill>
                <a:latin typeface="Arial"/>
                <a:ea typeface="Arial"/>
                <a:cs typeface="Arial"/>
              </a:defRPr>
            </a:lvl9pPr>
          </a:lstStyle>
          <a:p>
            <a:pPr>
              <a:defRPr sz="2025" b="0">
                <a:solidFill>
                  <a:srgbClr val="D9E6E7"/>
                </a:solidFill>
                <a:latin typeface="Arial"/>
                <a:ea typeface="Arial"/>
                <a:cs typeface="Arial"/>
              </a:defRPr>
            </a:pPr>
            <a:r>
              <a:rPr sz="2025" b="0">
                <a:solidFill>
                  <a:srgbClr val="D9E6E7"/>
                </a:solidFill>
                <a:latin typeface="Arial"/>
                <a:ea typeface="Arial"/>
                <a:cs typeface="Arial"/>
              </a:rPr>
              <a:t>Week 9 · Causal Analysis · CUNY Graduate Center</a:t>
            </a:r>
          </a:p>
          <a:p>
            <a:pPr>
              <a:defRPr sz="2025" b="0">
                <a:solidFill>
                  <a:srgbClr val="D9E6E7"/>
                </a:solidFill>
                <a:latin typeface="Arial"/>
                <a:ea typeface="Arial"/>
                <a:cs typeface="Arial"/>
              </a:defRPr>
            </a:pPr>
            <a:r>
              <a:rPr sz="2025" b="0">
                <a:solidFill>
                  <a:srgbClr val="D9E6E7"/>
                </a:solidFill>
                <a:latin typeface="Arial"/>
                <a:ea typeface="Arial"/>
                <a:cs typeface="Arial"/>
              </a:rPr>
              <a:t>Legewie &amp; Fagan (2019): Operation Impact</a:t>
            </a:r>
          </a:p>
        </p:txBody>
      </p:sp>
    </p:spTree>
    <p:extLst>
      <p:ext uri="{BB962C8B-B14F-4D97-AF65-F5344CB8AC3E}">
        <p14:creationId xmlns:p14="http://schemas.microsoft.com/office/powerpoint/2010/main" val="20993246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text-0">
            <a:extLst>
              <a:ext uri="{FF2B5EF4-FFF2-40B4-BE49-F238E27FC236}">
                <a16:creationId xmlns:a16="http://schemas.microsoft.com/office/drawing/2014/main" id="{D0E15C9F-EE78-484D-8306-34AF95BED33B}"/>
              </a:ext>
            </a:extLst>
          </p:cNvPr>
          <p:cNvSpPr>
            <a:spLocks noGrp="1"/>
          </p:cNvSpPr>
          <p:nvPr/>
        </p:nvSpPr>
        <p:spPr>
          <a:xfrm>
            <a:off x="552450" y="361950"/>
            <a:ext cx="11087100" cy="857250"/>
          </a:xfrm>
          <a:prstGeom prst="rect">
            <a:avLst/>
          </a:prstGeom>
          <a:noFill/>
          <a:ln w="0">
            <a:noFill/>
            <a:prstDash val="solid"/>
          </a:ln>
        </p:spPr>
        <p:txBody>
          <a:bodyPr lIns="0" tIns="0" rIns="0" bIns="0" anchor="t"/>
          <a:lstStyle>
            <a:defPPr>
              <a:defRPr sz="3000" b="1">
                <a:solidFill>
                  <a:srgbClr val="1F2A36"/>
                </a:solidFill>
                <a:latin typeface="Arial"/>
                <a:ea typeface="Arial"/>
                <a:cs typeface="Arial"/>
              </a:defRPr>
            </a:defPPr>
            <a:lvl1pPr>
              <a:defRPr sz="3000" b="1">
                <a:solidFill>
                  <a:srgbClr val="1F2A36"/>
                </a:solidFill>
                <a:latin typeface="Arial"/>
                <a:ea typeface="Arial"/>
                <a:cs typeface="Arial"/>
              </a:defRPr>
            </a:lvl1pPr>
            <a:lvl2pPr>
              <a:defRPr sz="3000" b="1">
                <a:solidFill>
                  <a:srgbClr val="1F2A36"/>
                </a:solidFill>
                <a:latin typeface="Arial"/>
                <a:ea typeface="Arial"/>
                <a:cs typeface="Arial"/>
              </a:defRPr>
            </a:lvl2pPr>
            <a:lvl3pPr>
              <a:defRPr sz="3000" b="1">
                <a:solidFill>
                  <a:srgbClr val="1F2A36"/>
                </a:solidFill>
                <a:latin typeface="Arial"/>
                <a:ea typeface="Arial"/>
                <a:cs typeface="Arial"/>
              </a:defRPr>
            </a:lvl3pPr>
            <a:lvl4pPr>
              <a:defRPr sz="3000" b="1">
                <a:solidFill>
                  <a:srgbClr val="1F2A36"/>
                </a:solidFill>
                <a:latin typeface="Arial"/>
                <a:ea typeface="Arial"/>
                <a:cs typeface="Arial"/>
              </a:defRPr>
            </a:lvl4pPr>
            <a:lvl5pPr>
              <a:defRPr sz="3000" b="1">
                <a:solidFill>
                  <a:srgbClr val="1F2A36"/>
                </a:solidFill>
                <a:latin typeface="Arial"/>
                <a:ea typeface="Arial"/>
                <a:cs typeface="Arial"/>
              </a:defRPr>
            </a:lvl5pPr>
            <a:lvl6pPr>
              <a:defRPr sz="3000" b="1">
                <a:solidFill>
                  <a:srgbClr val="1F2A36"/>
                </a:solidFill>
                <a:latin typeface="Arial"/>
                <a:ea typeface="Arial"/>
                <a:cs typeface="Arial"/>
              </a:defRPr>
            </a:lvl6pPr>
            <a:lvl7pPr>
              <a:defRPr sz="3000" b="1">
                <a:solidFill>
                  <a:srgbClr val="1F2A36"/>
                </a:solidFill>
                <a:latin typeface="Arial"/>
                <a:ea typeface="Arial"/>
                <a:cs typeface="Arial"/>
              </a:defRPr>
            </a:lvl7pPr>
            <a:lvl8pPr>
              <a:defRPr sz="3000" b="1">
                <a:solidFill>
                  <a:srgbClr val="1F2A36"/>
                </a:solidFill>
                <a:latin typeface="Arial"/>
                <a:ea typeface="Arial"/>
                <a:cs typeface="Arial"/>
              </a:defRPr>
            </a:lvl8pPr>
            <a:lvl9pPr>
              <a:defRPr sz="3000" b="1">
                <a:solidFill>
                  <a:srgbClr val="1F2A36"/>
                </a:solidFill>
                <a:latin typeface="Arial"/>
                <a:ea typeface="Arial"/>
                <a:cs typeface="Arial"/>
              </a:defRPr>
            </a:lvl9pPr>
          </a:lstStyle>
          <a:p>
            <a:pPr>
              <a:defRPr sz="3000" b="1">
                <a:solidFill>
                  <a:srgbClr val="1F2A36"/>
                </a:solidFill>
                <a:latin typeface="Arial"/>
                <a:ea typeface="Arial"/>
                <a:cs typeface="Arial"/>
              </a:defRPr>
            </a:pPr>
            <a:r>
              <a:rPr sz="3000" b="1">
                <a:solidFill>
                  <a:srgbClr val="1F2A36"/>
                </a:solidFill>
                <a:latin typeface="Arial"/>
                <a:ea typeface="Arial"/>
                <a:cs typeface="Arial"/>
              </a:rPr>
              <a:t>Can neighborhood policing affect learning?</a:t>
            </a:r>
          </a:p>
        </p:txBody>
      </p:sp>
      <p:sp>
        <p:nvSpPr>
          <p:cNvPr id="2" name="text-1">
            <a:extLst>
              <a:ext uri="{FF2B5EF4-FFF2-40B4-BE49-F238E27FC236}">
                <a16:creationId xmlns:a16="http://schemas.microsoft.com/office/drawing/2014/main" id="{E4B8A396-F006-4F6F-BB73-86E1D8BB0143}"/>
              </a:ext>
            </a:extLst>
          </p:cNvPr>
          <p:cNvSpPr>
            <a:spLocks noGrp="1"/>
          </p:cNvSpPr>
          <p:nvPr/>
        </p:nvSpPr>
        <p:spPr>
          <a:xfrm>
            <a:off x="11239500" y="6400800"/>
            <a:ext cx="476250" cy="266700"/>
          </a:xfrm>
          <a:prstGeom prst="rect">
            <a:avLst/>
          </a:prstGeom>
          <a:noFill/>
          <a:ln w="0">
            <a:noFill/>
            <a:prstDash val="solid"/>
          </a:ln>
        </p:spPr>
        <p:txBody>
          <a:bodyPr lIns="0" tIns="0" rIns="0" bIns="0" anchor="t"/>
          <a:lstStyle>
            <a:defPPr>
              <a:defRPr sz="1350" b="0">
                <a:solidFill>
                  <a:srgbClr val="5B6B78"/>
                </a:solidFill>
                <a:latin typeface="Arial"/>
                <a:ea typeface="Arial"/>
                <a:cs typeface="Arial"/>
              </a:defRPr>
            </a:defPPr>
            <a:lvl1pPr>
              <a:defRPr sz="1350" b="0">
                <a:solidFill>
                  <a:srgbClr val="5B6B78"/>
                </a:solidFill>
                <a:latin typeface="Arial"/>
                <a:ea typeface="Arial"/>
                <a:cs typeface="Arial"/>
              </a:defRPr>
            </a:lvl1pPr>
            <a:lvl2pPr>
              <a:defRPr sz="1350" b="0">
                <a:solidFill>
                  <a:srgbClr val="5B6B78"/>
                </a:solidFill>
                <a:latin typeface="Arial"/>
                <a:ea typeface="Arial"/>
                <a:cs typeface="Arial"/>
              </a:defRPr>
            </a:lvl2pPr>
            <a:lvl3pPr>
              <a:defRPr sz="1350" b="0">
                <a:solidFill>
                  <a:srgbClr val="5B6B78"/>
                </a:solidFill>
                <a:latin typeface="Arial"/>
                <a:ea typeface="Arial"/>
                <a:cs typeface="Arial"/>
              </a:defRPr>
            </a:lvl3pPr>
            <a:lvl4pPr>
              <a:defRPr sz="1350" b="0">
                <a:solidFill>
                  <a:srgbClr val="5B6B78"/>
                </a:solidFill>
                <a:latin typeface="Arial"/>
                <a:ea typeface="Arial"/>
                <a:cs typeface="Arial"/>
              </a:defRPr>
            </a:lvl4pPr>
            <a:lvl5pPr>
              <a:defRPr sz="1350" b="0">
                <a:solidFill>
                  <a:srgbClr val="5B6B78"/>
                </a:solidFill>
                <a:latin typeface="Arial"/>
                <a:ea typeface="Arial"/>
                <a:cs typeface="Arial"/>
              </a:defRPr>
            </a:lvl5pPr>
            <a:lvl6pPr>
              <a:defRPr sz="1350" b="0">
                <a:solidFill>
                  <a:srgbClr val="5B6B78"/>
                </a:solidFill>
                <a:latin typeface="Arial"/>
                <a:ea typeface="Arial"/>
                <a:cs typeface="Arial"/>
              </a:defRPr>
            </a:lvl6pPr>
            <a:lvl7pPr>
              <a:defRPr sz="1350" b="0">
                <a:solidFill>
                  <a:srgbClr val="5B6B78"/>
                </a:solidFill>
                <a:latin typeface="Arial"/>
                <a:ea typeface="Arial"/>
                <a:cs typeface="Arial"/>
              </a:defRPr>
            </a:lvl7pPr>
            <a:lvl8pPr>
              <a:defRPr sz="1350" b="0">
                <a:solidFill>
                  <a:srgbClr val="5B6B78"/>
                </a:solidFill>
                <a:latin typeface="Arial"/>
                <a:ea typeface="Arial"/>
                <a:cs typeface="Arial"/>
              </a:defRPr>
            </a:lvl8pPr>
            <a:lvl9pPr>
              <a:defRPr sz="1350" b="0">
                <a:solidFill>
                  <a:srgbClr val="5B6B78"/>
                </a:solidFill>
                <a:latin typeface="Arial"/>
                <a:ea typeface="Arial"/>
                <a:cs typeface="Arial"/>
              </a:defRPr>
            </a:lvl9pPr>
          </a:lstStyle>
          <a:p>
            <a:pPr>
              <a:defRPr sz="1350" b="0">
                <a:solidFill>
                  <a:srgbClr val="5B6B78"/>
                </a:solidFill>
                <a:latin typeface="Arial"/>
                <a:ea typeface="Arial"/>
                <a:cs typeface="Arial"/>
              </a:defRPr>
            </a:pPr>
            <a:r>
              <a:rPr sz="1350" b="0">
                <a:solidFill>
                  <a:srgbClr val="5B6B78"/>
                </a:solidFill>
                <a:latin typeface="Arial"/>
                <a:ea typeface="Arial"/>
                <a:cs typeface="Arial"/>
              </a:rPr>
              <a:t>2</a:t>
            </a:r>
          </a:p>
        </p:txBody>
      </p:sp>
      <p:sp>
        <p:nvSpPr>
          <p:cNvPr id="3" name="text-2">
            <a:extLst>
              <a:ext uri="{FF2B5EF4-FFF2-40B4-BE49-F238E27FC236}">
                <a16:creationId xmlns:a16="http://schemas.microsoft.com/office/drawing/2014/main" id="{5E1643DA-F193-4697-B751-88C23233756A}"/>
              </a:ext>
            </a:extLst>
          </p:cNvPr>
          <p:cNvSpPr>
            <a:spLocks noGrp="1"/>
          </p:cNvSpPr>
          <p:nvPr/>
        </p:nvSpPr>
        <p:spPr>
          <a:xfrm>
            <a:off x="552450" y="6200775"/>
            <a:ext cx="10382250" cy="333375"/>
          </a:xfrm>
          <a:prstGeom prst="rect">
            <a:avLst/>
          </a:prstGeom>
          <a:noFill/>
          <a:ln w="0">
            <a:noFill/>
            <a:prstDash val="solid"/>
          </a:ln>
        </p:spPr>
        <p:txBody>
          <a:bodyPr lIns="0" tIns="0" rIns="0" bIns="0" anchor="t"/>
          <a:lstStyle>
            <a:defPPr>
              <a:defRPr sz="1125" b="0">
                <a:solidFill>
                  <a:srgbClr val="5B6B78"/>
                </a:solidFill>
                <a:latin typeface="Arial"/>
                <a:ea typeface="Arial"/>
                <a:cs typeface="Arial"/>
              </a:defRPr>
            </a:defPPr>
            <a:lvl1pPr>
              <a:defRPr sz="1125" b="0">
                <a:solidFill>
                  <a:srgbClr val="5B6B78"/>
                </a:solidFill>
                <a:latin typeface="Arial"/>
                <a:ea typeface="Arial"/>
                <a:cs typeface="Arial"/>
              </a:defRPr>
            </a:lvl1pPr>
            <a:lvl2pPr>
              <a:defRPr sz="1125" b="0">
                <a:solidFill>
                  <a:srgbClr val="5B6B78"/>
                </a:solidFill>
                <a:latin typeface="Arial"/>
                <a:ea typeface="Arial"/>
                <a:cs typeface="Arial"/>
              </a:defRPr>
            </a:lvl2pPr>
            <a:lvl3pPr>
              <a:defRPr sz="1125" b="0">
                <a:solidFill>
                  <a:srgbClr val="5B6B78"/>
                </a:solidFill>
                <a:latin typeface="Arial"/>
                <a:ea typeface="Arial"/>
                <a:cs typeface="Arial"/>
              </a:defRPr>
            </a:lvl3pPr>
            <a:lvl4pPr>
              <a:defRPr sz="1125" b="0">
                <a:solidFill>
                  <a:srgbClr val="5B6B78"/>
                </a:solidFill>
                <a:latin typeface="Arial"/>
                <a:ea typeface="Arial"/>
                <a:cs typeface="Arial"/>
              </a:defRPr>
            </a:lvl4pPr>
            <a:lvl5pPr>
              <a:defRPr sz="1125" b="0">
                <a:solidFill>
                  <a:srgbClr val="5B6B78"/>
                </a:solidFill>
                <a:latin typeface="Arial"/>
                <a:ea typeface="Arial"/>
                <a:cs typeface="Arial"/>
              </a:defRPr>
            </a:lvl5pPr>
            <a:lvl6pPr>
              <a:defRPr sz="1125" b="0">
                <a:solidFill>
                  <a:srgbClr val="5B6B78"/>
                </a:solidFill>
                <a:latin typeface="Arial"/>
                <a:ea typeface="Arial"/>
                <a:cs typeface="Arial"/>
              </a:defRPr>
            </a:lvl6pPr>
            <a:lvl7pPr>
              <a:defRPr sz="1125" b="0">
                <a:solidFill>
                  <a:srgbClr val="5B6B78"/>
                </a:solidFill>
                <a:latin typeface="Arial"/>
                <a:ea typeface="Arial"/>
                <a:cs typeface="Arial"/>
              </a:defRPr>
            </a:lvl7pPr>
            <a:lvl8pPr>
              <a:defRPr sz="1125" b="0">
                <a:solidFill>
                  <a:srgbClr val="5B6B78"/>
                </a:solidFill>
                <a:latin typeface="Arial"/>
                <a:ea typeface="Arial"/>
                <a:cs typeface="Arial"/>
              </a:defRPr>
            </a:lvl8pPr>
            <a:lvl9pPr>
              <a:defRPr sz="1125" b="0">
                <a:solidFill>
                  <a:srgbClr val="5B6B78"/>
                </a:solidFill>
                <a:latin typeface="Arial"/>
                <a:ea typeface="Arial"/>
                <a:cs typeface="Arial"/>
              </a:defRPr>
            </a:lvl9pPr>
          </a:lstStyle>
          <a:p>
            <a:pPr>
              <a:defRPr sz="1125" b="0">
                <a:solidFill>
                  <a:srgbClr val="5B6B78"/>
                </a:solidFill>
                <a:latin typeface="Arial"/>
                <a:ea typeface="Arial"/>
                <a:cs typeface="Arial"/>
              </a:defRPr>
            </a:pPr>
            <a:r>
              <a:rPr sz="1125" b="0">
                <a:solidFill>
                  <a:srgbClr val="5B6B78"/>
                </a:solidFill>
                <a:latin typeface="Arial"/>
                <a:ea typeface="Arial"/>
                <a:cs typeface="Arial"/>
              </a:rPr>
              <a:t>Legewie &amp; Fagan (2019), American Sociological Review</a:t>
            </a:r>
          </a:p>
        </p:txBody>
      </p:sp>
      <p:sp>
        <p:nvSpPr>
          <p:cNvPr id="4" name="text-3">
            <a:extLst>
              <a:ext uri="{FF2B5EF4-FFF2-40B4-BE49-F238E27FC236}">
                <a16:creationId xmlns:a16="http://schemas.microsoft.com/office/drawing/2014/main" id="{66B5502E-6186-4E72-AE7A-2C2CBD135975}"/>
              </a:ext>
            </a:extLst>
          </p:cNvPr>
          <p:cNvSpPr>
            <a:spLocks noGrp="1"/>
          </p:cNvSpPr>
          <p:nvPr/>
        </p:nvSpPr>
        <p:spPr>
          <a:xfrm>
            <a:off x="552450" y="1571625"/>
            <a:ext cx="10668000" cy="1047750"/>
          </a:xfrm>
          <a:prstGeom prst="rect">
            <a:avLst/>
          </a:prstGeom>
          <a:noFill/>
          <a:ln w="0">
            <a:noFill/>
            <a:prstDash val="solid"/>
          </a:ln>
        </p:spPr>
        <p:txBody>
          <a:bodyPr lIns="0" tIns="0" rIns="0" bIns="0" anchor="t"/>
          <a:lstStyle>
            <a:defPPr>
              <a:defRPr sz="2700" b="1">
                <a:solidFill>
                  <a:srgbClr val="2E6F73"/>
                </a:solidFill>
                <a:latin typeface="Arial"/>
                <a:ea typeface="Arial"/>
                <a:cs typeface="Arial"/>
              </a:defRPr>
            </a:defPPr>
            <a:lvl1pPr>
              <a:defRPr sz="2700" b="1">
                <a:solidFill>
                  <a:srgbClr val="2E6F73"/>
                </a:solidFill>
                <a:latin typeface="Arial"/>
                <a:ea typeface="Arial"/>
                <a:cs typeface="Arial"/>
              </a:defRPr>
            </a:lvl1pPr>
            <a:lvl2pPr>
              <a:defRPr sz="2700" b="1">
                <a:solidFill>
                  <a:srgbClr val="2E6F73"/>
                </a:solidFill>
                <a:latin typeface="Arial"/>
                <a:ea typeface="Arial"/>
                <a:cs typeface="Arial"/>
              </a:defRPr>
            </a:lvl2pPr>
            <a:lvl3pPr>
              <a:defRPr sz="2700" b="1">
                <a:solidFill>
                  <a:srgbClr val="2E6F73"/>
                </a:solidFill>
                <a:latin typeface="Arial"/>
                <a:ea typeface="Arial"/>
                <a:cs typeface="Arial"/>
              </a:defRPr>
            </a:lvl3pPr>
            <a:lvl4pPr>
              <a:defRPr sz="2700" b="1">
                <a:solidFill>
                  <a:srgbClr val="2E6F73"/>
                </a:solidFill>
                <a:latin typeface="Arial"/>
                <a:ea typeface="Arial"/>
                <a:cs typeface="Arial"/>
              </a:defRPr>
            </a:lvl4pPr>
            <a:lvl5pPr>
              <a:defRPr sz="2700" b="1">
                <a:solidFill>
                  <a:srgbClr val="2E6F73"/>
                </a:solidFill>
                <a:latin typeface="Arial"/>
                <a:ea typeface="Arial"/>
                <a:cs typeface="Arial"/>
              </a:defRPr>
            </a:lvl5pPr>
            <a:lvl6pPr>
              <a:defRPr sz="2700" b="1">
                <a:solidFill>
                  <a:srgbClr val="2E6F73"/>
                </a:solidFill>
                <a:latin typeface="Arial"/>
                <a:ea typeface="Arial"/>
                <a:cs typeface="Arial"/>
              </a:defRPr>
            </a:lvl6pPr>
            <a:lvl7pPr>
              <a:defRPr sz="2700" b="1">
                <a:solidFill>
                  <a:srgbClr val="2E6F73"/>
                </a:solidFill>
                <a:latin typeface="Arial"/>
                <a:ea typeface="Arial"/>
                <a:cs typeface="Arial"/>
              </a:defRPr>
            </a:lvl7pPr>
            <a:lvl8pPr>
              <a:defRPr sz="2700" b="1">
                <a:solidFill>
                  <a:srgbClr val="2E6F73"/>
                </a:solidFill>
                <a:latin typeface="Arial"/>
                <a:ea typeface="Arial"/>
                <a:cs typeface="Arial"/>
              </a:defRPr>
            </a:lvl8pPr>
            <a:lvl9pPr>
              <a:defRPr sz="2700" b="1">
                <a:solidFill>
                  <a:srgbClr val="2E6F73"/>
                </a:solidFill>
                <a:latin typeface="Arial"/>
                <a:ea typeface="Arial"/>
                <a:cs typeface="Arial"/>
              </a:defRPr>
            </a:lvl9pPr>
          </a:lstStyle>
          <a:p>
            <a:pPr>
              <a:defRPr sz="2700" b="1">
                <a:solidFill>
                  <a:srgbClr val="2E6F73"/>
                </a:solidFill>
                <a:latin typeface="Arial"/>
                <a:ea typeface="Arial"/>
                <a:cs typeface="Arial"/>
              </a:defRPr>
            </a:pPr>
            <a:r>
              <a:rPr sz="2700" b="1">
                <a:solidFill>
                  <a:srgbClr val="2E6F73"/>
                </a:solidFill>
                <a:latin typeface="Arial"/>
                <a:ea typeface="Arial"/>
                <a:cs typeface="Arial"/>
              </a:rPr>
              <a:t>Operation Impact increased police presence</a:t>
            </a:r>
          </a:p>
          <a:p>
            <a:pPr>
              <a:defRPr sz="2700" b="1">
                <a:solidFill>
                  <a:srgbClr val="2E6F73"/>
                </a:solidFill>
                <a:latin typeface="Arial"/>
                <a:ea typeface="Arial"/>
                <a:cs typeface="Arial"/>
              </a:defRPr>
            </a:pPr>
            <a:r>
              <a:rPr sz="2700" b="1">
                <a:solidFill>
                  <a:srgbClr val="2E6F73"/>
                </a:solidFill>
                <a:latin typeface="Arial"/>
                <a:ea typeface="Arial"/>
                <a:cs typeface="Arial"/>
              </a:rPr>
              <a:t>in selected NYC neighborhoods.</a:t>
            </a:r>
          </a:p>
        </p:txBody>
      </p:sp>
      <p:sp>
        <p:nvSpPr>
          <p:cNvPr id="5" name="text-4">
            <a:extLst>
              <a:ext uri="{FF2B5EF4-FFF2-40B4-BE49-F238E27FC236}">
                <a16:creationId xmlns:a16="http://schemas.microsoft.com/office/drawing/2014/main" id="{70470493-BC74-4B7E-A250-6BA6FD7C3559}"/>
              </a:ext>
            </a:extLst>
          </p:cNvPr>
          <p:cNvSpPr>
            <a:spLocks noGrp="1"/>
          </p:cNvSpPr>
          <p:nvPr/>
        </p:nvSpPr>
        <p:spPr>
          <a:xfrm>
            <a:off x="552450" y="3000375"/>
            <a:ext cx="10668000" cy="381000"/>
          </a:xfrm>
          <a:prstGeom prst="rect">
            <a:avLst/>
          </a:prstGeom>
          <a:noFill/>
          <a:ln w="0">
            <a:noFill/>
            <a:prstDash val="solid"/>
          </a:ln>
        </p:spPr>
        <p:txBody>
          <a:bodyPr lIns="0" tIns="0" rIns="0" bIns="0" anchor="t"/>
          <a:lstStyle>
            <a:defPPr>
              <a:defRPr sz="2100" b="1">
                <a:solidFill>
                  <a:srgbClr val="2E6F73"/>
                </a:solidFill>
                <a:latin typeface="Arial"/>
                <a:ea typeface="Arial"/>
                <a:cs typeface="Arial"/>
              </a:defRPr>
            </a:defPPr>
            <a:lvl1pPr>
              <a:defRPr sz="2100" b="1">
                <a:solidFill>
                  <a:srgbClr val="2E6F73"/>
                </a:solidFill>
                <a:latin typeface="Arial"/>
                <a:ea typeface="Arial"/>
                <a:cs typeface="Arial"/>
              </a:defRPr>
            </a:lvl1pPr>
            <a:lvl2pPr>
              <a:defRPr sz="2100" b="1">
                <a:solidFill>
                  <a:srgbClr val="2E6F73"/>
                </a:solidFill>
                <a:latin typeface="Arial"/>
                <a:ea typeface="Arial"/>
                <a:cs typeface="Arial"/>
              </a:defRPr>
            </a:lvl2pPr>
            <a:lvl3pPr>
              <a:defRPr sz="2100" b="1">
                <a:solidFill>
                  <a:srgbClr val="2E6F73"/>
                </a:solidFill>
                <a:latin typeface="Arial"/>
                <a:ea typeface="Arial"/>
                <a:cs typeface="Arial"/>
              </a:defRPr>
            </a:lvl3pPr>
            <a:lvl4pPr>
              <a:defRPr sz="2100" b="1">
                <a:solidFill>
                  <a:srgbClr val="2E6F73"/>
                </a:solidFill>
                <a:latin typeface="Arial"/>
                <a:ea typeface="Arial"/>
                <a:cs typeface="Arial"/>
              </a:defRPr>
            </a:lvl4pPr>
            <a:lvl5pPr>
              <a:defRPr sz="2100" b="1">
                <a:solidFill>
                  <a:srgbClr val="2E6F73"/>
                </a:solidFill>
                <a:latin typeface="Arial"/>
                <a:ea typeface="Arial"/>
                <a:cs typeface="Arial"/>
              </a:defRPr>
            </a:lvl5pPr>
            <a:lvl6pPr>
              <a:defRPr sz="2100" b="1">
                <a:solidFill>
                  <a:srgbClr val="2E6F73"/>
                </a:solidFill>
                <a:latin typeface="Arial"/>
                <a:ea typeface="Arial"/>
                <a:cs typeface="Arial"/>
              </a:defRPr>
            </a:lvl6pPr>
            <a:lvl7pPr>
              <a:defRPr sz="2100" b="1">
                <a:solidFill>
                  <a:srgbClr val="2E6F73"/>
                </a:solidFill>
                <a:latin typeface="Arial"/>
                <a:ea typeface="Arial"/>
                <a:cs typeface="Arial"/>
              </a:defRPr>
            </a:lvl7pPr>
            <a:lvl8pPr>
              <a:defRPr sz="2100" b="1">
                <a:solidFill>
                  <a:srgbClr val="2E6F73"/>
                </a:solidFill>
                <a:latin typeface="Arial"/>
                <a:ea typeface="Arial"/>
                <a:cs typeface="Arial"/>
              </a:defRPr>
            </a:lvl8pPr>
            <a:lvl9pPr>
              <a:defRPr sz="2100" b="1">
                <a:solidFill>
                  <a:srgbClr val="2E6F73"/>
                </a:solidFill>
                <a:latin typeface="Arial"/>
                <a:ea typeface="Arial"/>
                <a:cs typeface="Arial"/>
              </a:defRPr>
            </a:lvl9pPr>
          </a:lstStyle>
          <a:p>
            <a:pPr>
              <a:defRPr sz="2100" b="1">
                <a:solidFill>
                  <a:srgbClr val="2E6F73"/>
                </a:solidFill>
                <a:latin typeface="Arial"/>
                <a:ea typeface="Arial"/>
                <a:cs typeface="Arial"/>
              </a:defRPr>
            </a:pPr>
            <a:r>
              <a:rPr sz="2100" b="1">
                <a:solidFill>
                  <a:srgbClr val="2E6F73"/>
                </a:solidFill>
                <a:latin typeface="Arial"/>
                <a:ea typeface="Arial"/>
                <a:cs typeface="Arial"/>
              </a:rPr>
              <a:t>Possible benefit</a:t>
            </a:r>
          </a:p>
        </p:txBody>
      </p:sp>
      <p:sp>
        <p:nvSpPr>
          <p:cNvPr id="6" name="text-5">
            <a:extLst>
              <a:ext uri="{FF2B5EF4-FFF2-40B4-BE49-F238E27FC236}">
                <a16:creationId xmlns:a16="http://schemas.microsoft.com/office/drawing/2014/main" id="{209AD350-7EFB-44CC-8B5B-9D41E9B1256C}"/>
              </a:ext>
            </a:extLst>
          </p:cNvPr>
          <p:cNvSpPr>
            <a:spLocks noGrp="1"/>
          </p:cNvSpPr>
          <p:nvPr/>
        </p:nvSpPr>
        <p:spPr>
          <a:xfrm>
            <a:off x="552450" y="3409950"/>
            <a:ext cx="10668000" cy="781050"/>
          </a:xfrm>
          <a:prstGeom prst="rect">
            <a:avLst/>
          </a:prstGeom>
          <a:noFill/>
          <a:ln w="0">
            <a:noFill/>
            <a:prstDash val="solid"/>
          </a:ln>
        </p:spPr>
        <p:txBody>
          <a:bodyPr lIns="0" tIns="0" rIns="0" bIns="0" anchor="t"/>
          <a:lstStyle>
            <a:defPPr>
              <a:defRPr sz="2025" b="0">
                <a:solidFill>
                  <a:srgbClr val="1F2A36"/>
                </a:solidFill>
                <a:latin typeface="Arial"/>
                <a:ea typeface="Arial"/>
                <a:cs typeface="Arial"/>
              </a:defRPr>
            </a:defPPr>
            <a:lvl1pPr>
              <a:defRPr sz="2025" b="0">
                <a:solidFill>
                  <a:srgbClr val="1F2A36"/>
                </a:solidFill>
                <a:latin typeface="Arial"/>
                <a:ea typeface="Arial"/>
                <a:cs typeface="Arial"/>
              </a:defRPr>
            </a:lvl1pPr>
            <a:lvl2pPr>
              <a:defRPr sz="2025" b="0">
                <a:solidFill>
                  <a:srgbClr val="1F2A36"/>
                </a:solidFill>
                <a:latin typeface="Arial"/>
                <a:ea typeface="Arial"/>
                <a:cs typeface="Arial"/>
              </a:defRPr>
            </a:lvl2pPr>
            <a:lvl3pPr>
              <a:defRPr sz="2025" b="0">
                <a:solidFill>
                  <a:srgbClr val="1F2A36"/>
                </a:solidFill>
                <a:latin typeface="Arial"/>
                <a:ea typeface="Arial"/>
                <a:cs typeface="Arial"/>
              </a:defRPr>
            </a:lvl3pPr>
            <a:lvl4pPr>
              <a:defRPr sz="2025" b="0">
                <a:solidFill>
                  <a:srgbClr val="1F2A36"/>
                </a:solidFill>
                <a:latin typeface="Arial"/>
                <a:ea typeface="Arial"/>
                <a:cs typeface="Arial"/>
              </a:defRPr>
            </a:lvl4pPr>
            <a:lvl5pPr>
              <a:defRPr sz="2025" b="0">
                <a:solidFill>
                  <a:srgbClr val="1F2A36"/>
                </a:solidFill>
                <a:latin typeface="Arial"/>
                <a:ea typeface="Arial"/>
                <a:cs typeface="Arial"/>
              </a:defRPr>
            </a:lvl5pPr>
            <a:lvl6pPr>
              <a:defRPr sz="2025" b="0">
                <a:solidFill>
                  <a:srgbClr val="1F2A36"/>
                </a:solidFill>
                <a:latin typeface="Arial"/>
                <a:ea typeface="Arial"/>
                <a:cs typeface="Arial"/>
              </a:defRPr>
            </a:lvl6pPr>
            <a:lvl7pPr>
              <a:defRPr sz="2025" b="0">
                <a:solidFill>
                  <a:srgbClr val="1F2A36"/>
                </a:solidFill>
                <a:latin typeface="Arial"/>
                <a:ea typeface="Arial"/>
                <a:cs typeface="Arial"/>
              </a:defRPr>
            </a:lvl7pPr>
            <a:lvl8pPr>
              <a:defRPr sz="2025" b="0">
                <a:solidFill>
                  <a:srgbClr val="1F2A36"/>
                </a:solidFill>
                <a:latin typeface="Arial"/>
                <a:ea typeface="Arial"/>
                <a:cs typeface="Arial"/>
              </a:defRPr>
            </a:lvl8pPr>
            <a:lvl9pPr>
              <a:defRPr sz="2025" b="0">
                <a:solidFill>
                  <a:srgbClr val="1F2A36"/>
                </a:solidFill>
                <a:latin typeface="Arial"/>
                <a:ea typeface="Arial"/>
                <a:cs typeface="Arial"/>
              </a:defRPr>
            </a:lvl9pPr>
          </a:lstStyle>
          <a:p>
            <a:pPr>
              <a:defRPr sz="2025" b="0">
                <a:solidFill>
                  <a:srgbClr val="1F2A36"/>
                </a:solidFill>
                <a:latin typeface="Arial"/>
                <a:ea typeface="Arial"/>
                <a:cs typeface="Arial"/>
              </a:defRPr>
            </a:pPr>
            <a:r>
              <a:rPr sz="2025" b="0">
                <a:solidFill>
                  <a:srgbClr val="1F2A36"/>
                </a:solidFill>
                <a:latin typeface="Arial"/>
                <a:ea typeface="Arial"/>
                <a:cs typeface="Arial"/>
              </a:rPr>
              <a:t>Less violence could improve students’ ability to learn.</a:t>
            </a:r>
          </a:p>
        </p:txBody>
      </p:sp>
      <p:sp>
        <p:nvSpPr>
          <p:cNvPr id="7" name="text-6">
            <a:extLst>
              <a:ext uri="{FF2B5EF4-FFF2-40B4-BE49-F238E27FC236}">
                <a16:creationId xmlns:a16="http://schemas.microsoft.com/office/drawing/2014/main" id="{151749CA-0225-4820-B73D-1A244688F857}"/>
              </a:ext>
            </a:extLst>
          </p:cNvPr>
          <p:cNvSpPr>
            <a:spLocks noGrp="1"/>
          </p:cNvSpPr>
          <p:nvPr/>
        </p:nvSpPr>
        <p:spPr>
          <a:xfrm>
            <a:off x="552450" y="4286250"/>
            <a:ext cx="10668000" cy="381000"/>
          </a:xfrm>
          <a:prstGeom prst="rect">
            <a:avLst/>
          </a:prstGeom>
          <a:noFill/>
          <a:ln w="0">
            <a:noFill/>
            <a:prstDash val="solid"/>
          </a:ln>
        </p:spPr>
        <p:txBody>
          <a:bodyPr lIns="0" tIns="0" rIns="0" bIns="0" anchor="t"/>
          <a:lstStyle>
            <a:defPPr>
              <a:defRPr sz="2100" b="1">
                <a:solidFill>
                  <a:srgbClr val="2E6F73"/>
                </a:solidFill>
                <a:latin typeface="Arial"/>
                <a:ea typeface="Arial"/>
                <a:cs typeface="Arial"/>
              </a:defRPr>
            </a:defPPr>
            <a:lvl1pPr>
              <a:defRPr sz="2100" b="1">
                <a:solidFill>
                  <a:srgbClr val="2E6F73"/>
                </a:solidFill>
                <a:latin typeface="Arial"/>
                <a:ea typeface="Arial"/>
                <a:cs typeface="Arial"/>
              </a:defRPr>
            </a:lvl1pPr>
            <a:lvl2pPr>
              <a:defRPr sz="2100" b="1">
                <a:solidFill>
                  <a:srgbClr val="2E6F73"/>
                </a:solidFill>
                <a:latin typeface="Arial"/>
                <a:ea typeface="Arial"/>
                <a:cs typeface="Arial"/>
              </a:defRPr>
            </a:lvl2pPr>
            <a:lvl3pPr>
              <a:defRPr sz="2100" b="1">
                <a:solidFill>
                  <a:srgbClr val="2E6F73"/>
                </a:solidFill>
                <a:latin typeface="Arial"/>
                <a:ea typeface="Arial"/>
                <a:cs typeface="Arial"/>
              </a:defRPr>
            </a:lvl3pPr>
            <a:lvl4pPr>
              <a:defRPr sz="2100" b="1">
                <a:solidFill>
                  <a:srgbClr val="2E6F73"/>
                </a:solidFill>
                <a:latin typeface="Arial"/>
                <a:ea typeface="Arial"/>
                <a:cs typeface="Arial"/>
              </a:defRPr>
            </a:lvl4pPr>
            <a:lvl5pPr>
              <a:defRPr sz="2100" b="1">
                <a:solidFill>
                  <a:srgbClr val="2E6F73"/>
                </a:solidFill>
                <a:latin typeface="Arial"/>
                <a:ea typeface="Arial"/>
                <a:cs typeface="Arial"/>
              </a:defRPr>
            </a:lvl5pPr>
            <a:lvl6pPr>
              <a:defRPr sz="2100" b="1">
                <a:solidFill>
                  <a:srgbClr val="2E6F73"/>
                </a:solidFill>
                <a:latin typeface="Arial"/>
                <a:ea typeface="Arial"/>
                <a:cs typeface="Arial"/>
              </a:defRPr>
            </a:lvl6pPr>
            <a:lvl7pPr>
              <a:defRPr sz="2100" b="1">
                <a:solidFill>
                  <a:srgbClr val="2E6F73"/>
                </a:solidFill>
                <a:latin typeface="Arial"/>
                <a:ea typeface="Arial"/>
                <a:cs typeface="Arial"/>
              </a:defRPr>
            </a:lvl7pPr>
            <a:lvl8pPr>
              <a:defRPr sz="2100" b="1">
                <a:solidFill>
                  <a:srgbClr val="2E6F73"/>
                </a:solidFill>
                <a:latin typeface="Arial"/>
                <a:ea typeface="Arial"/>
                <a:cs typeface="Arial"/>
              </a:defRPr>
            </a:lvl8pPr>
            <a:lvl9pPr>
              <a:defRPr sz="2100" b="1">
                <a:solidFill>
                  <a:srgbClr val="2E6F73"/>
                </a:solidFill>
                <a:latin typeface="Arial"/>
                <a:ea typeface="Arial"/>
                <a:cs typeface="Arial"/>
              </a:defRPr>
            </a:lvl9pPr>
          </a:lstStyle>
          <a:p>
            <a:pPr>
              <a:defRPr sz="2100" b="1">
                <a:solidFill>
                  <a:srgbClr val="2E6F73"/>
                </a:solidFill>
                <a:latin typeface="Arial"/>
                <a:ea typeface="Arial"/>
                <a:cs typeface="Arial"/>
              </a:defRPr>
            </a:pPr>
            <a:r>
              <a:rPr sz="2100" b="1">
                <a:solidFill>
                  <a:srgbClr val="2E6F73"/>
                </a:solidFill>
                <a:latin typeface="Arial"/>
                <a:ea typeface="Arial"/>
                <a:cs typeface="Arial"/>
              </a:rPr>
              <a:t>Possible harm</a:t>
            </a:r>
          </a:p>
        </p:txBody>
      </p:sp>
      <p:sp>
        <p:nvSpPr>
          <p:cNvPr id="8" name="text-7">
            <a:extLst>
              <a:ext uri="{FF2B5EF4-FFF2-40B4-BE49-F238E27FC236}">
                <a16:creationId xmlns:a16="http://schemas.microsoft.com/office/drawing/2014/main" id="{890F28E4-D5F4-41AF-AEF9-0AB7428D040E}"/>
              </a:ext>
            </a:extLst>
          </p:cNvPr>
          <p:cNvSpPr>
            <a:spLocks noGrp="1"/>
          </p:cNvSpPr>
          <p:nvPr/>
        </p:nvSpPr>
        <p:spPr>
          <a:xfrm>
            <a:off x="552450" y="4695825"/>
            <a:ext cx="10668000" cy="781050"/>
          </a:xfrm>
          <a:prstGeom prst="rect">
            <a:avLst/>
          </a:prstGeom>
          <a:noFill/>
          <a:ln w="0">
            <a:noFill/>
            <a:prstDash val="solid"/>
          </a:ln>
        </p:spPr>
        <p:txBody>
          <a:bodyPr lIns="0" tIns="0" rIns="0" bIns="0" anchor="t"/>
          <a:lstStyle>
            <a:defPPr>
              <a:defRPr sz="2025" b="0">
                <a:solidFill>
                  <a:srgbClr val="1F2A36"/>
                </a:solidFill>
                <a:latin typeface="Arial"/>
                <a:ea typeface="Arial"/>
                <a:cs typeface="Arial"/>
              </a:defRPr>
            </a:defPPr>
            <a:lvl1pPr>
              <a:defRPr sz="2025" b="0">
                <a:solidFill>
                  <a:srgbClr val="1F2A36"/>
                </a:solidFill>
                <a:latin typeface="Arial"/>
                <a:ea typeface="Arial"/>
                <a:cs typeface="Arial"/>
              </a:defRPr>
            </a:lvl1pPr>
            <a:lvl2pPr>
              <a:defRPr sz="2025" b="0">
                <a:solidFill>
                  <a:srgbClr val="1F2A36"/>
                </a:solidFill>
                <a:latin typeface="Arial"/>
                <a:ea typeface="Arial"/>
                <a:cs typeface="Arial"/>
              </a:defRPr>
            </a:lvl2pPr>
            <a:lvl3pPr>
              <a:defRPr sz="2025" b="0">
                <a:solidFill>
                  <a:srgbClr val="1F2A36"/>
                </a:solidFill>
                <a:latin typeface="Arial"/>
                <a:ea typeface="Arial"/>
                <a:cs typeface="Arial"/>
              </a:defRPr>
            </a:lvl3pPr>
            <a:lvl4pPr>
              <a:defRPr sz="2025" b="0">
                <a:solidFill>
                  <a:srgbClr val="1F2A36"/>
                </a:solidFill>
                <a:latin typeface="Arial"/>
                <a:ea typeface="Arial"/>
                <a:cs typeface="Arial"/>
              </a:defRPr>
            </a:lvl4pPr>
            <a:lvl5pPr>
              <a:defRPr sz="2025" b="0">
                <a:solidFill>
                  <a:srgbClr val="1F2A36"/>
                </a:solidFill>
                <a:latin typeface="Arial"/>
                <a:ea typeface="Arial"/>
                <a:cs typeface="Arial"/>
              </a:defRPr>
            </a:lvl5pPr>
            <a:lvl6pPr>
              <a:defRPr sz="2025" b="0">
                <a:solidFill>
                  <a:srgbClr val="1F2A36"/>
                </a:solidFill>
                <a:latin typeface="Arial"/>
                <a:ea typeface="Arial"/>
                <a:cs typeface="Arial"/>
              </a:defRPr>
            </a:lvl6pPr>
            <a:lvl7pPr>
              <a:defRPr sz="2025" b="0">
                <a:solidFill>
                  <a:srgbClr val="1F2A36"/>
                </a:solidFill>
                <a:latin typeface="Arial"/>
                <a:ea typeface="Arial"/>
                <a:cs typeface="Arial"/>
              </a:defRPr>
            </a:lvl7pPr>
            <a:lvl8pPr>
              <a:defRPr sz="2025" b="0">
                <a:solidFill>
                  <a:srgbClr val="1F2A36"/>
                </a:solidFill>
                <a:latin typeface="Arial"/>
                <a:ea typeface="Arial"/>
                <a:cs typeface="Arial"/>
              </a:defRPr>
            </a:lvl8pPr>
            <a:lvl9pPr>
              <a:defRPr sz="2025" b="0">
                <a:solidFill>
                  <a:srgbClr val="1F2A36"/>
                </a:solidFill>
                <a:latin typeface="Arial"/>
                <a:ea typeface="Arial"/>
                <a:cs typeface="Arial"/>
              </a:defRPr>
            </a:lvl9pPr>
          </a:lstStyle>
          <a:p>
            <a:pPr>
              <a:defRPr sz="2025" b="0">
                <a:solidFill>
                  <a:srgbClr val="1F2A36"/>
                </a:solidFill>
                <a:latin typeface="Arial"/>
                <a:ea typeface="Arial"/>
                <a:cs typeface="Arial"/>
              </a:defRPr>
            </a:pPr>
            <a:r>
              <a:rPr sz="2025" b="0">
                <a:solidFill>
                  <a:srgbClr val="1F2A36"/>
                </a:solidFill>
                <a:latin typeface="Arial"/>
                <a:ea typeface="Arial"/>
                <a:cs typeface="Arial"/>
              </a:rPr>
              <a:t>Police encounters, stress, or avoidance could disrupt school engagement.</a:t>
            </a:r>
          </a:p>
        </p:txBody>
      </p:sp>
      <p:sp>
        <p:nvSpPr>
          <p:cNvPr id="9" name="text-8">
            <a:extLst>
              <a:ext uri="{FF2B5EF4-FFF2-40B4-BE49-F238E27FC236}">
                <a16:creationId xmlns:a16="http://schemas.microsoft.com/office/drawing/2014/main" id="{F5679B04-0552-43B7-8F5A-16B6EB5AA133}"/>
              </a:ext>
            </a:extLst>
          </p:cNvPr>
          <p:cNvSpPr>
            <a:spLocks noGrp="1"/>
          </p:cNvSpPr>
          <p:nvPr/>
        </p:nvSpPr>
        <p:spPr>
          <a:xfrm>
            <a:off x="552450" y="5638800"/>
            <a:ext cx="10763250" cy="523875"/>
          </a:xfrm>
          <a:prstGeom prst="rect">
            <a:avLst/>
          </a:prstGeom>
          <a:noFill/>
          <a:ln w="0">
            <a:noFill/>
            <a:prstDash val="solid"/>
          </a:ln>
        </p:spPr>
        <p:txBody>
          <a:bodyPr lIns="0" tIns="0" rIns="0" bIns="0" anchor="t"/>
          <a:lstStyle>
            <a:defPPr>
              <a:defRPr sz="1875" b="1">
                <a:solidFill>
                  <a:srgbClr val="1F2A36"/>
                </a:solidFill>
                <a:latin typeface="Arial"/>
                <a:ea typeface="Arial"/>
                <a:cs typeface="Arial"/>
              </a:defRPr>
            </a:defPPr>
            <a:lvl1pPr>
              <a:defRPr sz="1875" b="1">
                <a:solidFill>
                  <a:srgbClr val="1F2A36"/>
                </a:solidFill>
                <a:latin typeface="Arial"/>
                <a:ea typeface="Arial"/>
                <a:cs typeface="Arial"/>
              </a:defRPr>
            </a:lvl1pPr>
            <a:lvl2pPr>
              <a:defRPr sz="1875" b="1">
                <a:solidFill>
                  <a:srgbClr val="1F2A36"/>
                </a:solidFill>
                <a:latin typeface="Arial"/>
                <a:ea typeface="Arial"/>
                <a:cs typeface="Arial"/>
              </a:defRPr>
            </a:lvl2pPr>
            <a:lvl3pPr>
              <a:defRPr sz="1875" b="1">
                <a:solidFill>
                  <a:srgbClr val="1F2A36"/>
                </a:solidFill>
                <a:latin typeface="Arial"/>
                <a:ea typeface="Arial"/>
                <a:cs typeface="Arial"/>
              </a:defRPr>
            </a:lvl3pPr>
            <a:lvl4pPr>
              <a:defRPr sz="1875" b="1">
                <a:solidFill>
                  <a:srgbClr val="1F2A36"/>
                </a:solidFill>
                <a:latin typeface="Arial"/>
                <a:ea typeface="Arial"/>
                <a:cs typeface="Arial"/>
              </a:defRPr>
            </a:lvl4pPr>
            <a:lvl5pPr>
              <a:defRPr sz="1875" b="1">
                <a:solidFill>
                  <a:srgbClr val="1F2A36"/>
                </a:solidFill>
                <a:latin typeface="Arial"/>
                <a:ea typeface="Arial"/>
                <a:cs typeface="Arial"/>
              </a:defRPr>
            </a:lvl5pPr>
            <a:lvl6pPr>
              <a:defRPr sz="1875" b="1">
                <a:solidFill>
                  <a:srgbClr val="1F2A36"/>
                </a:solidFill>
                <a:latin typeface="Arial"/>
                <a:ea typeface="Arial"/>
                <a:cs typeface="Arial"/>
              </a:defRPr>
            </a:lvl6pPr>
            <a:lvl7pPr>
              <a:defRPr sz="1875" b="1">
                <a:solidFill>
                  <a:srgbClr val="1F2A36"/>
                </a:solidFill>
                <a:latin typeface="Arial"/>
                <a:ea typeface="Arial"/>
                <a:cs typeface="Arial"/>
              </a:defRPr>
            </a:lvl7pPr>
            <a:lvl8pPr>
              <a:defRPr sz="1875" b="1">
                <a:solidFill>
                  <a:srgbClr val="1F2A36"/>
                </a:solidFill>
                <a:latin typeface="Arial"/>
                <a:ea typeface="Arial"/>
                <a:cs typeface="Arial"/>
              </a:defRPr>
            </a:lvl8pPr>
            <a:lvl9pPr>
              <a:defRPr sz="1875" b="1">
                <a:solidFill>
                  <a:srgbClr val="1F2A36"/>
                </a:solidFill>
                <a:latin typeface="Arial"/>
                <a:ea typeface="Arial"/>
                <a:cs typeface="Arial"/>
              </a:defRPr>
            </a:lvl9pPr>
          </a:lstStyle>
          <a:p>
            <a:pPr>
              <a:defRPr sz="1875" b="1">
                <a:solidFill>
                  <a:srgbClr val="1F2A36"/>
                </a:solidFill>
                <a:latin typeface="Arial"/>
                <a:ea typeface="Arial"/>
                <a:cs typeface="Arial"/>
              </a:defRPr>
            </a:pPr>
            <a:r>
              <a:rPr sz="1875" b="1">
                <a:solidFill>
                  <a:srgbClr val="1F2A36"/>
                </a:solidFill>
                <a:latin typeface="Arial"/>
                <a:ea typeface="Arial"/>
                <a:cs typeface="Arial"/>
              </a:rPr>
              <a:t>What comparison would let us distinguish these effects from neighborhood differences?</a:t>
            </a:r>
          </a:p>
        </p:txBody>
      </p:sp>
    </p:spTree>
    <p:extLst>
      <p:ext uri="{BB962C8B-B14F-4D97-AF65-F5344CB8AC3E}">
        <p14:creationId xmlns:p14="http://schemas.microsoft.com/office/powerpoint/2010/main" val="13516112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aphicFrame>
        <p:nvGraphicFramePr>
          <p:cNvPr id="3" name="Card-Krueger table">
            <a:extLst>
              <a:ext uri="{FF2B5EF4-FFF2-40B4-BE49-F238E27FC236}">
                <a16:creationId xmlns:a16="http://schemas.microsoft.com/office/drawing/2014/main" id="{5E49C465-212C-4CF1-A068-1250D47241E4}"/>
              </a:ext>
            </a:extLst>
          </p:cNvPr>
          <p:cNvGraphicFramePr/>
          <p:nvPr/>
        </p:nvGraphicFramePr>
        <p:xfrm>
          <a:off x="548640" y="1463040"/>
          <a:ext cx="6949440" cy="2279904"/>
        </p:xfrm>
        <a:graphic>
          <a:graphicData uri="http://schemas.openxmlformats.org/drawingml/2006/table">
            <a:tbl>
              <a:tblPr/>
              <a:tblGrid>
                <a:gridCol w="265176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tblGrid>
              <a:tr h="566928">
                <a:tc>
                  <a:txBody>
                    <a:bodyPr/>
                    <a:lstStyle/>
                    <a:p>
                      <a:pPr marL="0" indent="0" algn="ctr">
                        <a:buNone/>
                      </a:pPr>
                      <a:r>
                        <a:rPr sz="1600" b="1">
                          <a:solidFill>
                            <a:schemeClr val="bg1"/>
                          </a:solidFill>
                        </a:rPr>
                        <a:t>FTE employment</a:t>
                      </a:r>
                      <a:endParaRPr sz="1600"/>
                    </a:p>
                  </a:txBody>
                  <a:tcPr anchor="ctr">
                    <a:lnL w="12700" cmpd="sng">
                      <a:solidFill>
                        <a:srgbClr val="EEF1F3"/>
                      </a:solidFill>
                      <a:prstDash val="solid"/>
                    </a:lnL>
                    <a:lnR w="12700" cmpd="sng">
                      <a:solidFill>
                        <a:srgbClr val="EEF1F3"/>
                      </a:solidFill>
                      <a:prstDash val="solid"/>
                    </a:lnR>
                    <a:lnT w="12700" cmpd="sng">
                      <a:solidFill>
                        <a:srgbClr val="EEF1F3"/>
                      </a:solidFill>
                      <a:prstDash val="solid"/>
                    </a:lnT>
                    <a:lnB w="12700" cmpd="sng">
                      <a:solidFill>
                        <a:srgbClr val="EEF1F3"/>
                      </a:solidFill>
                      <a:prstDash val="solid"/>
                    </a:lnB>
                    <a:solidFill>
                      <a:srgbClr val="2E3B4A"/>
                    </a:solidFill>
                  </a:tcPr>
                </a:tc>
                <a:tc>
                  <a:txBody>
                    <a:bodyPr/>
                    <a:lstStyle/>
                    <a:p>
                      <a:pPr marL="0" indent="0" algn="ctr">
                        <a:buNone/>
                      </a:pPr>
                      <a:r>
                        <a:rPr sz="1600" b="1">
                          <a:solidFill>
                            <a:schemeClr val="bg1"/>
                          </a:solidFill>
                        </a:rPr>
                        <a:t>Before (Feb 1992)</a:t>
                      </a:r>
                      <a:endParaRPr sz="1600"/>
                    </a:p>
                  </a:txBody>
                  <a:tcPr anchor="ctr">
                    <a:lnL w="12700" cmpd="sng">
                      <a:solidFill>
                        <a:srgbClr val="EEF1F3"/>
                      </a:solidFill>
                      <a:prstDash val="solid"/>
                    </a:lnL>
                    <a:lnR w="12700" cmpd="sng">
                      <a:solidFill>
                        <a:srgbClr val="EEF1F3"/>
                      </a:solidFill>
                      <a:prstDash val="solid"/>
                    </a:lnR>
                    <a:lnT w="12700" cmpd="sng">
                      <a:solidFill>
                        <a:srgbClr val="EEF1F3"/>
                      </a:solidFill>
                      <a:prstDash val="solid"/>
                    </a:lnT>
                    <a:lnB w="12700" cmpd="sng">
                      <a:solidFill>
                        <a:srgbClr val="EEF1F3"/>
                      </a:solidFill>
                      <a:prstDash val="solid"/>
                    </a:lnB>
                    <a:solidFill>
                      <a:srgbClr val="2E3B4A"/>
                    </a:solidFill>
                  </a:tcPr>
                </a:tc>
                <a:tc>
                  <a:txBody>
                    <a:bodyPr/>
                    <a:lstStyle/>
                    <a:p>
                      <a:pPr marL="0" indent="0" algn="ctr">
                        <a:buNone/>
                      </a:pPr>
                      <a:r>
                        <a:rPr sz="1600" b="1">
                          <a:solidFill>
                            <a:schemeClr val="bg1"/>
                          </a:solidFill>
                        </a:rPr>
                        <a:t>After (Nov 1992)</a:t>
                      </a:r>
                      <a:endParaRPr sz="1600"/>
                    </a:p>
                  </a:txBody>
                  <a:tcPr anchor="ctr">
                    <a:lnL w="12700" cmpd="sng">
                      <a:solidFill>
                        <a:srgbClr val="EEF1F3"/>
                      </a:solidFill>
                      <a:prstDash val="solid"/>
                    </a:lnL>
                    <a:lnR w="12700" cmpd="sng">
                      <a:solidFill>
                        <a:srgbClr val="EEF1F3"/>
                      </a:solidFill>
                      <a:prstDash val="solid"/>
                    </a:lnR>
                    <a:lnT w="12700" cmpd="sng">
                      <a:solidFill>
                        <a:srgbClr val="EEF1F3"/>
                      </a:solidFill>
                      <a:prstDash val="solid"/>
                    </a:lnT>
                    <a:lnB w="12700" cmpd="sng">
                      <a:solidFill>
                        <a:srgbClr val="EEF1F3"/>
                      </a:solidFill>
                      <a:prstDash val="solid"/>
                    </a:lnB>
                    <a:solidFill>
                      <a:srgbClr val="2E3B4A"/>
                    </a:solidFill>
                  </a:tcPr>
                </a:tc>
                <a:tc>
                  <a:txBody>
                    <a:bodyPr/>
                    <a:lstStyle/>
                    <a:p>
                      <a:pPr marL="0" indent="0" algn="ctr">
                        <a:buNone/>
                      </a:pPr>
                      <a:r>
                        <a:rPr sz="1600" b="1">
                          <a:solidFill>
                            <a:schemeClr val="bg1"/>
                          </a:solidFill>
                        </a:rPr>
                        <a:t>Change</a:t>
                      </a:r>
                      <a:endParaRPr sz="1600"/>
                    </a:p>
                  </a:txBody>
                  <a:tcPr anchor="ctr">
                    <a:lnL w="12700" cmpd="sng">
                      <a:solidFill>
                        <a:srgbClr val="EEF1F3"/>
                      </a:solidFill>
                      <a:prstDash val="solid"/>
                    </a:lnL>
                    <a:lnR w="12700" cmpd="sng">
                      <a:solidFill>
                        <a:srgbClr val="EEF1F3"/>
                      </a:solidFill>
                      <a:prstDash val="solid"/>
                    </a:lnR>
                    <a:lnT w="12700" cmpd="sng">
                      <a:solidFill>
                        <a:srgbClr val="EEF1F3"/>
                      </a:solidFill>
                      <a:prstDash val="solid"/>
                    </a:lnT>
                    <a:lnB w="12700" cmpd="sng">
                      <a:solidFill>
                        <a:srgbClr val="EEF1F3"/>
                      </a:solidFill>
                      <a:prstDash val="solid"/>
                    </a:lnB>
                    <a:solidFill>
                      <a:srgbClr val="2E3B4A"/>
                    </a:solidFill>
                  </a:tcPr>
                </a:tc>
                <a:extLst>
                  <a:ext uri="{0D108BD9-81ED-4DB2-BD59-A6C34878D82A}">
                    <a16:rowId xmlns:a16="http://schemas.microsoft.com/office/drawing/2014/main" val="10000"/>
                  </a:ext>
                </a:extLst>
              </a:tr>
              <a:tr h="566928">
                <a:tc>
                  <a:txBody>
                    <a:bodyPr/>
                    <a:lstStyle/>
                    <a:p>
                      <a:pPr marL="0" indent="0" algn="l">
                        <a:buNone/>
                      </a:pPr>
                      <a:r>
                        <a:rPr sz="1800" b="1">
                          <a:solidFill>
                            <a:schemeClr val="tx1"/>
                          </a:solidFill>
                        </a:rPr>
                        <a:t>New Jersey (wage rose)</a:t>
                      </a:r>
                      <a:endParaRPr sz="1800"/>
                    </a:p>
                  </a:txBody>
                  <a:tcPr anchor="ctr">
                    <a:lnL w="12700" cmpd="sng">
                      <a:solidFill>
                        <a:srgbClr val="EEF1F3"/>
                      </a:solidFill>
                      <a:prstDash val="solid"/>
                    </a:lnL>
                    <a:lnR w="12700" cmpd="sng">
                      <a:solidFill>
                        <a:srgbClr val="EEF1F3"/>
                      </a:solidFill>
                      <a:prstDash val="solid"/>
                    </a:lnR>
                    <a:lnT w="12700" cmpd="sng">
                      <a:solidFill>
                        <a:srgbClr val="EEF1F3"/>
                      </a:solidFill>
                      <a:prstDash val="solid"/>
                    </a:lnT>
                    <a:lnB w="12700" cmpd="sng">
                      <a:solidFill>
                        <a:srgbClr val="EEF1F3"/>
                      </a:solidFill>
                      <a:prstDash val="solid"/>
                    </a:lnB>
                  </a:tcPr>
                </a:tc>
                <a:tc>
                  <a:txBody>
                    <a:bodyPr/>
                    <a:lstStyle/>
                    <a:p>
                      <a:pPr marL="0" indent="0" algn="ctr">
                        <a:buNone/>
                      </a:pPr>
                      <a:r>
                        <a:rPr sz="1800">
                          <a:solidFill>
                            <a:schemeClr val="tx1"/>
                          </a:solidFill>
                        </a:rPr>
                        <a:t>20.44</a:t>
                      </a:r>
                      <a:endParaRPr sz="1800"/>
                    </a:p>
                  </a:txBody>
                  <a:tcPr anchor="ctr">
                    <a:lnL w="12700" cmpd="sng">
                      <a:solidFill>
                        <a:srgbClr val="EEF1F3"/>
                      </a:solidFill>
                      <a:prstDash val="solid"/>
                    </a:lnL>
                    <a:lnR w="12700" cmpd="sng">
                      <a:solidFill>
                        <a:srgbClr val="EEF1F3"/>
                      </a:solidFill>
                      <a:prstDash val="solid"/>
                    </a:lnR>
                    <a:lnT w="12700" cmpd="sng">
                      <a:solidFill>
                        <a:srgbClr val="EEF1F3"/>
                      </a:solidFill>
                      <a:prstDash val="solid"/>
                    </a:lnT>
                    <a:lnB w="12700" cmpd="sng">
                      <a:solidFill>
                        <a:srgbClr val="EEF1F3"/>
                      </a:solidFill>
                      <a:prstDash val="solid"/>
                    </a:lnB>
                  </a:tcPr>
                </a:tc>
                <a:tc>
                  <a:txBody>
                    <a:bodyPr/>
                    <a:lstStyle/>
                    <a:p>
                      <a:pPr marL="0" indent="0" algn="ctr">
                        <a:buNone/>
                      </a:pPr>
                      <a:r>
                        <a:rPr sz="1800">
                          <a:solidFill>
                            <a:schemeClr val="tx1"/>
                          </a:solidFill>
                        </a:rPr>
                        <a:t>21.03</a:t>
                      </a:r>
                      <a:endParaRPr sz="1800"/>
                    </a:p>
                  </a:txBody>
                  <a:tcPr anchor="ctr">
                    <a:lnL w="12700" cmpd="sng">
                      <a:solidFill>
                        <a:srgbClr val="EEF1F3"/>
                      </a:solidFill>
                      <a:prstDash val="solid"/>
                    </a:lnL>
                    <a:lnR w="12700" cmpd="sng">
                      <a:solidFill>
                        <a:srgbClr val="EEF1F3"/>
                      </a:solidFill>
                      <a:prstDash val="solid"/>
                    </a:lnR>
                    <a:lnT w="12700" cmpd="sng">
                      <a:solidFill>
                        <a:srgbClr val="EEF1F3"/>
                      </a:solidFill>
                      <a:prstDash val="solid"/>
                    </a:lnT>
                    <a:lnB w="12700" cmpd="sng">
                      <a:solidFill>
                        <a:srgbClr val="EEF1F3"/>
                      </a:solidFill>
                      <a:prstDash val="solid"/>
                    </a:lnB>
                  </a:tcPr>
                </a:tc>
                <a:tc>
                  <a:txBody>
                    <a:bodyPr/>
                    <a:lstStyle/>
                    <a:p>
                      <a:pPr marL="0" indent="0" algn="ctr">
                        <a:buNone/>
                      </a:pPr>
                      <a:r>
                        <a:rPr sz="1800">
                          <a:solidFill>
                            <a:schemeClr val="tx1"/>
                          </a:solidFill>
                        </a:rPr>
                        <a:t>+0.59</a:t>
                      </a:r>
                      <a:endParaRPr sz="1800"/>
                    </a:p>
                  </a:txBody>
                  <a:tcPr anchor="ctr">
                    <a:lnL w="12700" cmpd="sng">
                      <a:solidFill>
                        <a:srgbClr val="EEF1F3"/>
                      </a:solidFill>
                      <a:prstDash val="solid"/>
                    </a:lnL>
                    <a:lnR w="12700" cmpd="sng">
                      <a:solidFill>
                        <a:srgbClr val="EEF1F3"/>
                      </a:solidFill>
                      <a:prstDash val="solid"/>
                    </a:lnR>
                    <a:lnT w="12700" cmpd="sng">
                      <a:solidFill>
                        <a:srgbClr val="EEF1F3"/>
                      </a:solidFill>
                      <a:prstDash val="solid"/>
                    </a:lnT>
                    <a:lnB w="12700" cmpd="sng">
                      <a:solidFill>
                        <a:srgbClr val="EEF1F3"/>
                      </a:solidFill>
                      <a:prstDash val="solid"/>
                    </a:lnB>
                  </a:tcPr>
                </a:tc>
                <a:extLst>
                  <a:ext uri="{0D108BD9-81ED-4DB2-BD59-A6C34878D82A}">
                    <a16:rowId xmlns:a16="http://schemas.microsoft.com/office/drawing/2014/main" val="10001"/>
                  </a:ext>
                </a:extLst>
              </a:tr>
              <a:tr h="566928">
                <a:tc>
                  <a:txBody>
                    <a:bodyPr/>
                    <a:lstStyle/>
                    <a:p>
                      <a:pPr marL="0" indent="0" algn="l">
                        <a:buNone/>
                      </a:pPr>
                      <a:r>
                        <a:rPr sz="1800" b="1">
                          <a:solidFill>
                            <a:schemeClr val="tx1"/>
                          </a:solidFill>
                        </a:rPr>
                        <a:t>Pennsylvania (no change)</a:t>
                      </a:r>
                      <a:endParaRPr sz="1800"/>
                    </a:p>
                  </a:txBody>
                  <a:tcPr anchor="ctr">
                    <a:lnL w="12700" cmpd="sng">
                      <a:solidFill>
                        <a:srgbClr val="EEF1F3"/>
                      </a:solidFill>
                      <a:prstDash val="solid"/>
                    </a:lnL>
                    <a:lnR w="12700" cmpd="sng">
                      <a:solidFill>
                        <a:srgbClr val="EEF1F3"/>
                      </a:solidFill>
                      <a:prstDash val="solid"/>
                    </a:lnR>
                    <a:lnT w="12700" cmpd="sng">
                      <a:solidFill>
                        <a:srgbClr val="EEF1F3"/>
                      </a:solidFill>
                      <a:prstDash val="solid"/>
                    </a:lnT>
                    <a:lnB w="12700" cmpd="sng">
                      <a:solidFill>
                        <a:srgbClr val="EEF1F3"/>
                      </a:solidFill>
                      <a:prstDash val="solid"/>
                    </a:lnB>
                  </a:tcPr>
                </a:tc>
                <a:tc>
                  <a:txBody>
                    <a:bodyPr/>
                    <a:lstStyle/>
                    <a:p>
                      <a:pPr marL="0" indent="0" algn="ctr">
                        <a:buNone/>
                      </a:pPr>
                      <a:r>
                        <a:rPr sz="1800">
                          <a:solidFill>
                            <a:schemeClr val="tx1"/>
                          </a:solidFill>
                        </a:rPr>
                        <a:t>23.33</a:t>
                      </a:r>
                      <a:endParaRPr sz="1800"/>
                    </a:p>
                  </a:txBody>
                  <a:tcPr anchor="ctr">
                    <a:lnL w="12700" cmpd="sng">
                      <a:solidFill>
                        <a:srgbClr val="EEF1F3"/>
                      </a:solidFill>
                      <a:prstDash val="solid"/>
                    </a:lnL>
                    <a:lnR w="12700" cmpd="sng">
                      <a:solidFill>
                        <a:srgbClr val="EEF1F3"/>
                      </a:solidFill>
                      <a:prstDash val="solid"/>
                    </a:lnR>
                    <a:lnT w="12700" cmpd="sng">
                      <a:solidFill>
                        <a:srgbClr val="EEF1F3"/>
                      </a:solidFill>
                      <a:prstDash val="solid"/>
                    </a:lnT>
                    <a:lnB w="12700" cmpd="sng">
                      <a:solidFill>
                        <a:srgbClr val="EEF1F3"/>
                      </a:solidFill>
                      <a:prstDash val="solid"/>
                    </a:lnB>
                  </a:tcPr>
                </a:tc>
                <a:tc>
                  <a:txBody>
                    <a:bodyPr/>
                    <a:lstStyle/>
                    <a:p>
                      <a:pPr marL="0" indent="0" algn="ctr">
                        <a:buNone/>
                      </a:pPr>
                      <a:r>
                        <a:rPr sz="1800">
                          <a:solidFill>
                            <a:schemeClr val="tx1"/>
                          </a:solidFill>
                        </a:rPr>
                        <a:t>21.17</a:t>
                      </a:r>
                      <a:endParaRPr sz="1800"/>
                    </a:p>
                  </a:txBody>
                  <a:tcPr anchor="ctr">
                    <a:lnL w="12700" cmpd="sng">
                      <a:solidFill>
                        <a:srgbClr val="EEF1F3"/>
                      </a:solidFill>
                      <a:prstDash val="solid"/>
                    </a:lnL>
                    <a:lnR w="12700" cmpd="sng">
                      <a:solidFill>
                        <a:srgbClr val="EEF1F3"/>
                      </a:solidFill>
                      <a:prstDash val="solid"/>
                    </a:lnR>
                    <a:lnT w="12700" cmpd="sng">
                      <a:solidFill>
                        <a:srgbClr val="EEF1F3"/>
                      </a:solidFill>
                      <a:prstDash val="solid"/>
                    </a:lnT>
                    <a:lnB w="12700" cmpd="sng">
                      <a:solidFill>
                        <a:srgbClr val="EEF1F3"/>
                      </a:solidFill>
                      <a:prstDash val="solid"/>
                    </a:lnB>
                  </a:tcPr>
                </a:tc>
                <a:tc>
                  <a:txBody>
                    <a:bodyPr/>
                    <a:lstStyle/>
                    <a:p>
                      <a:pPr marL="0" indent="0" algn="ctr">
                        <a:buNone/>
                      </a:pPr>
                      <a:r>
                        <a:rPr sz="1800">
                          <a:solidFill>
                            <a:schemeClr val="tx1"/>
                          </a:solidFill>
                        </a:rPr>
                        <a:t>−2.16</a:t>
                      </a:r>
                      <a:endParaRPr sz="1800"/>
                    </a:p>
                  </a:txBody>
                  <a:tcPr anchor="ctr">
                    <a:lnL w="12700" cmpd="sng">
                      <a:solidFill>
                        <a:srgbClr val="EEF1F3"/>
                      </a:solidFill>
                      <a:prstDash val="solid"/>
                    </a:lnL>
                    <a:lnR w="12700" cmpd="sng">
                      <a:solidFill>
                        <a:srgbClr val="EEF1F3"/>
                      </a:solidFill>
                      <a:prstDash val="solid"/>
                    </a:lnR>
                    <a:lnT w="12700" cmpd="sng">
                      <a:solidFill>
                        <a:srgbClr val="EEF1F3"/>
                      </a:solidFill>
                      <a:prstDash val="solid"/>
                    </a:lnT>
                    <a:lnB w="12700" cmpd="sng">
                      <a:solidFill>
                        <a:srgbClr val="EEF1F3"/>
                      </a:solidFill>
                      <a:prstDash val="solid"/>
                    </a:lnB>
                  </a:tcPr>
                </a:tc>
                <a:extLst>
                  <a:ext uri="{0D108BD9-81ED-4DB2-BD59-A6C34878D82A}">
                    <a16:rowId xmlns:a16="http://schemas.microsoft.com/office/drawing/2014/main" val="10002"/>
                  </a:ext>
                </a:extLst>
              </a:tr>
              <a:tr h="566928">
                <a:tc>
                  <a:txBody>
                    <a:bodyPr/>
                    <a:lstStyle/>
                    <a:p>
                      <a:pPr marL="0" indent="0" algn="l">
                        <a:buNone/>
                      </a:pPr>
                      <a:r>
                        <a:rPr sz="1800" b="1">
                          <a:solidFill>
                            <a:schemeClr val="tx1"/>
                          </a:solidFill>
                        </a:rPr>
                        <a:t>DiD estimate</a:t>
                      </a:r>
                      <a:endParaRPr sz="1800"/>
                    </a:p>
                  </a:txBody>
                  <a:tcPr anchor="ctr">
                    <a:lnL w="12700" cmpd="sng">
                      <a:solidFill>
                        <a:srgbClr val="EEF1F3"/>
                      </a:solidFill>
                      <a:prstDash val="solid"/>
                    </a:lnL>
                    <a:lnR w="12700" cmpd="sng">
                      <a:solidFill>
                        <a:srgbClr val="EEF1F3"/>
                      </a:solidFill>
                      <a:prstDash val="solid"/>
                    </a:lnR>
                    <a:lnT w="12700" cmpd="sng">
                      <a:solidFill>
                        <a:srgbClr val="EEF1F3"/>
                      </a:solidFill>
                      <a:prstDash val="solid"/>
                    </a:lnT>
                    <a:lnB w="12700" cmpd="sng">
                      <a:solidFill>
                        <a:srgbClr val="EEF1F3"/>
                      </a:solidFill>
                      <a:prstDash val="solid"/>
                    </a:lnB>
                    <a:solidFill>
                      <a:srgbClr val="D9E6E7"/>
                    </a:solidFill>
                  </a:tcPr>
                </a:tc>
                <a:tc>
                  <a:txBody>
                    <a:bodyPr/>
                    <a:lstStyle/>
                    <a:p>
                      <a:pPr marL="0" indent="0" algn="ctr">
                        <a:buNone/>
                      </a:pPr>
                      <a:endParaRPr sz="1800"/>
                    </a:p>
                  </a:txBody>
                  <a:tcPr anchor="ctr">
                    <a:lnL w="12700" cmpd="sng">
                      <a:solidFill>
                        <a:srgbClr val="EEF1F3"/>
                      </a:solidFill>
                      <a:prstDash val="solid"/>
                    </a:lnL>
                    <a:lnR w="12700" cmpd="sng">
                      <a:solidFill>
                        <a:srgbClr val="EEF1F3"/>
                      </a:solidFill>
                      <a:prstDash val="solid"/>
                    </a:lnR>
                    <a:lnT w="12700" cmpd="sng">
                      <a:solidFill>
                        <a:srgbClr val="EEF1F3"/>
                      </a:solidFill>
                      <a:prstDash val="solid"/>
                    </a:lnT>
                    <a:lnB w="12700" cmpd="sng">
                      <a:solidFill>
                        <a:srgbClr val="EEF1F3"/>
                      </a:solidFill>
                      <a:prstDash val="solid"/>
                    </a:lnB>
                    <a:solidFill>
                      <a:srgbClr val="D9E6E7"/>
                    </a:solidFill>
                  </a:tcPr>
                </a:tc>
                <a:tc>
                  <a:txBody>
                    <a:bodyPr/>
                    <a:lstStyle/>
                    <a:p>
                      <a:pPr marL="0" indent="0" algn="ctr">
                        <a:buNone/>
                      </a:pPr>
                      <a:endParaRPr sz="1800"/>
                    </a:p>
                  </a:txBody>
                  <a:tcPr anchor="ctr">
                    <a:lnL w="12700" cmpd="sng">
                      <a:solidFill>
                        <a:srgbClr val="EEF1F3"/>
                      </a:solidFill>
                      <a:prstDash val="solid"/>
                    </a:lnL>
                    <a:lnR w="12700" cmpd="sng">
                      <a:solidFill>
                        <a:srgbClr val="EEF1F3"/>
                      </a:solidFill>
                      <a:prstDash val="solid"/>
                    </a:lnR>
                    <a:lnT w="12700" cmpd="sng">
                      <a:solidFill>
                        <a:srgbClr val="EEF1F3"/>
                      </a:solidFill>
                      <a:prstDash val="solid"/>
                    </a:lnT>
                    <a:lnB w="12700" cmpd="sng">
                      <a:solidFill>
                        <a:srgbClr val="EEF1F3"/>
                      </a:solidFill>
                      <a:prstDash val="solid"/>
                    </a:lnB>
                    <a:solidFill>
                      <a:srgbClr val="D9E6E7"/>
                    </a:solidFill>
                  </a:tcPr>
                </a:tc>
                <a:tc>
                  <a:txBody>
                    <a:bodyPr/>
                    <a:lstStyle/>
                    <a:p>
                      <a:pPr marL="0" indent="0" algn="ctr">
                        <a:buNone/>
                      </a:pPr>
                      <a:r>
                        <a:rPr sz="1800" b="1">
                          <a:solidFill>
                            <a:schemeClr val="accent2"/>
                          </a:solidFill>
                        </a:rPr>
                        <a:t>+2.75</a:t>
                      </a:r>
                      <a:endParaRPr sz="1800"/>
                    </a:p>
                  </a:txBody>
                  <a:tcPr anchor="ctr">
                    <a:lnL w="12700" cmpd="sng">
                      <a:solidFill>
                        <a:srgbClr val="EEF1F3"/>
                      </a:solidFill>
                      <a:prstDash val="solid"/>
                    </a:lnL>
                    <a:lnR w="12700" cmpd="sng">
                      <a:solidFill>
                        <a:srgbClr val="EEF1F3"/>
                      </a:solidFill>
                      <a:prstDash val="solid"/>
                    </a:lnR>
                    <a:lnT w="12700" cmpd="sng">
                      <a:solidFill>
                        <a:srgbClr val="EEF1F3"/>
                      </a:solidFill>
                      <a:prstDash val="solid"/>
                    </a:lnT>
                    <a:lnB w="12700" cmpd="sng">
                      <a:solidFill>
                        <a:srgbClr val="EEF1F3"/>
                      </a:solidFill>
                      <a:prstDash val="solid"/>
                    </a:lnB>
                    <a:solidFill>
                      <a:srgbClr val="D9E6E7"/>
                    </a:solidFill>
                  </a:tcPr>
                </a:tc>
                <a:extLst>
                  <a:ext uri="{0D108BD9-81ED-4DB2-BD59-A6C34878D82A}">
                    <a16:rowId xmlns:a16="http://schemas.microsoft.com/office/drawing/2014/main" val="10003"/>
                  </a:ext>
                </a:extLst>
              </a:tr>
            </a:tbl>
          </a:graphicData>
        </a:graphic>
      </p:graphicFrame>
      <p:sp>
        <p:nvSpPr>
          <p:cNvPr id="4" name="text-0">
            <a:extLst>
              <a:ext uri="{FF2B5EF4-FFF2-40B4-BE49-F238E27FC236}">
                <a16:creationId xmlns:a16="http://schemas.microsoft.com/office/drawing/2014/main" id="{B6BB20FD-C7AE-4475-8044-4440CB57FA4F}"/>
              </a:ext>
            </a:extLst>
          </p:cNvPr>
          <p:cNvSpPr>
            <a:spLocks noGrp="1"/>
          </p:cNvSpPr>
          <p:nvPr/>
        </p:nvSpPr>
        <p:spPr>
          <a:xfrm>
            <a:off x="552450" y="361950"/>
            <a:ext cx="11087100" cy="857250"/>
          </a:xfrm>
          <a:prstGeom prst="rect">
            <a:avLst/>
          </a:prstGeom>
          <a:noFill/>
          <a:ln w="0">
            <a:noFill/>
            <a:prstDash val="solid"/>
          </a:ln>
        </p:spPr>
        <p:txBody>
          <a:bodyPr lIns="0" tIns="0" rIns="0" bIns="0" anchor="t"/>
          <a:lstStyle>
            <a:defPPr>
              <a:defRPr sz="3000" b="1">
                <a:solidFill>
                  <a:srgbClr val="1F2A36"/>
                </a:solidFill>
                <a:latin typeface="Arial"/>
                <a:ea typeface="Arial"/>
                <a:cs typeface="Arial"/>
              </a:defRPr>
            </a:defPPr>
            <a:lvl1pPr>
              <a:defRPr sz="3000" b="1">
                <a:solidFill>
                  <a:srgbClr val="1F2A36"/>
                </a:solidFill>
                <a:latin typeface="Arial"/>
                <a:ea typeface="Arial"/>
                <a:cs typeface="Arial"/>
              </a:defRPr>
            </a:lvl1pPr>
            <a:lvl2pPr>
              <a:defRPr sz="3000" b="1">
                <a:solidFill>
                  <a:srgbClr val="1F2A36"/>
                </a:solidFill>
                <a:latin typeface="Arial"/>
                <a:ea typeface="Arial"/>
                <a:cs typeface="Arial"/>
              </a:defRPr>
            </a:lvl2pPr>
            <a:lvl3pPr>
              <a:defRPr sz="3000" b="1">
                <a:solidFill>
                  <a:srgbClr val="1F2A36"/>
                </a:solidFill>
                <a:latin typeface="Arial"/>
                <a:ea typeface="Arial"/>
                <a:cs typeface="Arial"/>
              </a:defRPr>
            </a:lvl3pPr>
            <a:lvl4pPr>
              <a:defRPr sz="3000" b="1">
                <a:solidFill>
                  <a:srgbClr val="1F2A36"/>
                </a:solidFill>
                <a:latin typeface="Arial"/>
                <a:ea typeface="Arial"/>
                <a:cs typeface="Arial"/>
              </a:defRPr>
            </a:lvl4pPr>
            <a:lvl5pPr>
              <a:defRPr sz="3000" b="1">
                <a:solidFill>
                  <a:srgbClr val="1F2A36"/>
                </a:solidFill>
                <a:latin typeface="Arial"/>
                <a:ea typeface="Arial"/>
                <a:cs typeface="Arial"/>
              </a:defRPr>
            </a:lvl5pPr>
            <a:lvl6pPr>
              <a:defRPr sz="3000" b="1">
                <a:solidFill>
                  <a:srgbClr val="1F2A36"/>
                </a:solidFill>
                <a:latin typeface="Arial"/>
                <a:ea typeface="Arial"/>
                <a:cs typeface="Arial"/>
              </a:defRPr>
            </a:lvl6pPr>
            <a:lvl7pPr>
              <a:defRPr sz="3000" b="1">
                <a:solidFill>
                  <a:srgbClr val="1F2A36"/>
                </a:solidFill>
                <a:latin typeface="Arial"/>
                <a:ea typeface="Arial"/>
                <a:cs typeface="Arial"/>
              </a:defRPr>
            </a:lvl7pPr>
            <a:lvl8pPr>
              <a:defRPr sz="3000" b="1">
                <a:solidFill>
                  <a:srgbClr val="1F2A36"/>
                </a:solidFill>
                <a:latin typeface="Arial"/>
                <a:ea typeface="Arial"/>
                <a:cs typeface="Arial"/>
              </a:defRPr>
            </a:lvl8pPr>
            <a:lvl9pPr>
              <a:defRPr sz="3000" b="1">
                <a:solidFill>
                  <a:srgbClr val="1F2A36"/>
                </a:solidFill>
                <a:latin typeface="Arial"/>
                <a:ea typeface="Arial"/>
                <a:cs typeface="Arial"/>
              </a:defRPr>
            </a:lvl9pPr>
          </a:lstStyle>
          <a:p>
            <a:pPr>
              <a:defRPr sz="3000" b="1">
                <a:solidFill>
                  <a:srgbClr val="1F2A36"/>
                </a:solidFill>
                <a:latin typeface="Arial"/>
                <a:ea typeface="Arial"/>
                <a:cs typeface="Arial"/>
              </a:defRPr>
            </a:pPr>
            <a:r>
              <a:rPr sz="3000" b="1">
                <a:solidFill>
                  <a:srgbClr val="1F2A36"/>
                </a:solidFill>
                <a:latin typeface="Arial"/>
                <a:ea typeface="Arial"/>
                <a:cs typeface="Arial"/>
              </a:rPr>
              <a:t>Recap: compare changes in employment</a:t>
            </a:r>
          </a:p>
        </p:txBody>
      </p:sp>
      <p:sp>
        <p:nvSpPr>
          <p:cNvPr id="5" name="text-1">
            <a:extLst>
              <a:ext uri="{FF2B5EF4-FFF2-40B4-BE49-F238E27FC236}">
                <a16:creationId xmlns:a16="http://schemas.microsoft.com/office/drawing/2014/main" id="{6500853C-CC59-4A95-B046-E1EB2C393BE2}"/>
              </a:ext>
            </a:extLst>
          </p:cNvPr>
          <p:cNvSpPr>
            <a:spLocks noGrp="1"/>
          </p:cNvSpPr>
          <p:nvPr/>
        </p:nvSpPr>
        <p:spPr>
          <a:xfrm>
            <a:off x="11239500" y="6400800"/>
            <a:ext cx="476250" cy="266700"/>
          </a:xfrm>
          <a:prstGeom prst="rect">
            <a:avLst/>
          </a:prstGeom>
          <a:noFill/>
          <a:ln w="0">
            <a:noFill/>
            <a:prstDash val="solid"/>
          </a:ln>
        </p:spPr>
        <p:txBody>
          <a:bodyPr lIns="0" tIns="0" rIns="0" bIns="0" anchor="t"/>
          <a:lstStyle>
            <a:defPPr>
              <a:defRPr sz="1350" b="0">
                <a:solidFill>
                  <a:srgbClr val="5B6B78"/>
                </a:solidFill>
                <a:latin typeface="Arial"/>
                <a:ea typeface="Arial"/>
                <a:cs typeface="Arial"/>
              </a:defRPr>
            </a:defPPr>
            <a:lvl1pPr>
              <a:defRPr sz="1350" b="0">
                <a:solidFill>
                  <a:srgbClr val="5B6B78"/>
                </a:solidFill>
                <a:latin typeface="Arial"/>
                <a:ea typeface="Arial"/>
                <a:cs typeface="Arial"/>
              </a:defRPr>
            </a:lvl1pPr>
            <a:lvl2pPr>
              <a:defRPr sz="1350" b="0">
                <a:solidFill>
                  <a:srgbClr val="5B6B78"/>
                </a:solidFill>
                <a:latin typeface="Arial"/>
                <a:ea typeface="Arial"/>
                <a:cs typeface="Arial"/>
              </a:defRPr>
            </a:lvl2pPr>
            <a:lvl3pPr>
              <a:defRPr sz="1350" b="0">
                <a:solidFill>
                  <a:srgbClr val="5B6B78"/>
                </a:solidFill>
                <a:latin typeface="Arial"/>
                <a:ea typeface="Arial"/>
                <a:cs typeface="Arial"/>
              </a:defRPr>
            </a:lvl3pPr>
            <a:lvl4pPr>
              <a:defRPr sz="1350" b="0">
                <a:solidFill>
                  <a:srgbClr val="5B6B78"/>
                </a:solidFill>
                <a:latin typeface="Arial"/>
                <a:ea typeface="Arial"/>
                <a:cs typeface="Arial"/>
              </a:defRPr>
            </a:lvl4pPr>
            <a:lvl5pPr>
              <a:defRPr sz="1350" b="0">
                <a:solidFill>
                  <a:srgbClr val="5B6B78"/>
                </a:solidFill>
                <a:latin typeface="Arial"/>
                <a:ea typeface="Arial"/>
                <a:cs typeface="Arial"/>
              </a:defRPr>
            </a:lvl5pPr>
            <a:lvl6pPr>
              <a:defRPr sz="1350" b="0">
                <a:solidFill>
                  <a:srgbClr val="5B6B78"/>
                </a:solidFill>
                <a:latin typeface="Arial"/>
                <a:ea typeface="Arial"/>
                <a:cs typeface="Arial"/>
              </a:defRPr>
            </a:lvl6pPr>
            <a:lvl7pPr>
              <a:defRPr sz="1350" b="0">
                <a:solidFill>
                  <a:srgbClr val="5B6B78"/>
                </a:solidFill>
                <a:latin typeface="Arial"/>
                <a:ea typeface="Arial"/>
                <a:cs typeface="Arial"/>
              </a:defRPr>
            </a:lvl7pPr>
            <a:lvl8pPr>
              <a:defRPr sz="1350" b="0">
                <a:solidFill>
                  <a:srgbClr val="5B6B78"/>
                </a:solidFill>
                <a:latin typeface="Arial"/>
                <a:ea typeface="Arial"/>
                <a:cs typeface="Arial"/>
              </a:defRPr>
            </a:lvl8pPr>
            <a:lvl9pPr>
              <a:defRPr sz="1350" b="0">
                <a:solidFill>
                  <a:srgbClr val="5B6B78"/>
                </a:solidFill>
                <a:latin typeface="Arial"/>
                <a:ea typeface="Arial"/>
                <a:cs typeface="Arial"/>
              </a:defRPr>
            </a:lvl9pPr>
          </a:lstStyle>
          <a:p>
            <a:pPr>
              <a:defRPr sz="1350" b="0">
                <a:solidFill>
                  <a:srgbClr val="5B6B78"/>
                </a:solidFill>
                <a:latin typeface="Arial"/>
                <a:ea typeface="Arial"/>
                <a:cs typeface="Arial"/>
              </a:defRPr>
            </a:pPr>
            <a:r>
              <a:rPr sz="1350" b="0">
                <a:solidFill>
                  <a:srgbClr val="5B6B78"/>
                </a:solidFill>
                <a:latin typeface="Arial"/>
                <a:ea typeface="Arial"/>
                <a:cs typeface="Arial"/>
              </a:rPr>
              <a:t>3</a:t>
            </a:r>
          </a:p>
        </p:txBody>
      </p:sp>
      <p:sp>
        <p:nvSpPr>
          <p:cNvPr id="6" name="text-2">
            <a:extLst>
              <a:ext uri="{FF2B5EF4-FFF2-40B4-BE49-F238E27FC236}">
                <a16:creationId xmlns:a16="http://schemas.microsoft.com/office/drawing/2014/main" id="{B4888DEA-2458-4AF1-A68C-1AEF14DD313E}"/>
              </a:ext>
            </a:extLst>
          </p:cNvPr>
          <p:cNvSpPr>
            <a:spLocks noGrp="1"/>
          </p:cNvSpPr>
          <p:nvPr/>
        </p:nvSpPr>
        <p:spPr>
          <a:xfrm>
            <a:off x="552450" y="6200775"/>
            <a:ext cx="10382250" cy="333375"/>
          </a:xfrm>
          <a:prstGeom prst="rect">
            <a:avLst/>
          </a:prstGeom>
          <a:noFill/>
          <a:ln w="0">
            <a:noFill/>
            <a:prstDash val="solid"/>
          </a:ln>
        </p:spPr>
        <p:txBody>
          <a:bodyPr lIns="0" tIns="0" rIns="0" bIns="0" anchor="t"/>
          <a:lstStyle>
            <a:defPPr>
              <a:defRPr sz="1125" b="0">
                <a:solidFill>
                  <a:srgbClr val="5B6B78"/>
                </a:solidFill>
                <a:latin typeface="Arial"/>
                <a:ea typeface="Arial"/>
                <a:cs typeface="Arial"/>
              </a:defRPr>
            </a:defPPr>
            <a:lvl1pPr>
              <a:defRPr sz="1125" b="0">
                <a:solidFill>
                  <a:srgbClr val="5B6B78"/>
                </a:solidFill>
                <a:latin typeface="Arial"/>
                <a:ea typeface="Arial"/>
                <a:cs typeface="Arial"/>
              </a:defRPr>
            </a:lvl1pPr>
            <a:lvl2pPr>
              <a:defRPr sz="1125" b="0">
                <a:solidFill>
                  <a:srgbClr val="5B6B78"/>
                </a:solidFill>
                <a:latin typeface="Arial"/>
                <a:ea typeface="Arial"/>
                <a:cs typeface="Arial"/>
              </a:defRPr>
            </a:lvl2pPr>
            <a:lvl3pPr>
              <a:defRPr sz="1125" b="0">
                <a:solidFill>
                  <a:srgbClr val="5B6B78"/>
                </a:solidFill>
                <a:latin typeface="Arial"/>
                <a:ea typeface="Arial"/>
                <a:cs typeface="Arial"/>
              </a:defRPr>
            </a:lvl3pPr>
            <a:lvl4pPr>
              <a:defRPr sz="1125" b="0">
                <a:solidFill>
                  <a:srgbClr val="5B6B78"/>
                </a:solidFill>
                <a:latin typeface="Arial"/>
                <a:ea typeface="Arial"/>
                <a:cs typeface="Arial"/>
              </a:defRPr>
            </a:lvl4pPr>
            <a:lvl5pPr>
              <a:defRPr sz="1125" b="0">
                <a:solidFill>
                  <a:srgbClr val="5B6B78"/>
                </a:solidFill>
                <a:latin typeface="Arial"/>
                <a:ea typeface="Arial"/>
                <a:cs typeface="Arial"/>
              </a:defRPr>
            </a:lvl5pPr>
            <a:lvl6pPr>
              <a:defRPr sz="1125" b="0">
                <a:solidFill>
                  <a:srgbClr val="5B6B78"/>
                </a:solidFill>
                <a:latin typeface="Arial"/>
                <a:ea typeface="Arial"/>
                <a:cs typeface="Arial"/>
              </a:defRPr>
            </a:lvl6pPr>
            <a:lvl7pPr>
              <a:defRPr sz="1125" b="0">
                <a:solidFill>
                  <a:srgbClr val="5B6B78"/>
                </a:solidFill>
                <a:latin typeface="Arial"/>
                <a:ea typeface="Arial"/>
                <a:cs typeface="Arial"/>
              </a:defRPr>
            </a:lvl7pPr>
            <a:lvl8pPr>
              <a:defRPr sz="1125" b="0">
                <a:solidFill>
                  <a:srgbClr val="5B6B78"/>
                </a:solidFill>
                <a:latin typeface="Arial"/>
                <a:ea typeface="Arial"/>
                <a:cs typeface="Arial"/>
              </a:defRPr>
            </a:lvl8pPr>
            <a:lvl9pPr>
              <a:defRPr sz="1125" b="0">
                <a:solidFill>
                  <a:srgbClr val="5B6B78"/>
                </a:solidFill>
                <a:latin typeface="Arial"/>
                <a:ea typeface="Arial"/>
                <a:cs typeface="Arial"/>
              </a:defRPr>
            </a:lvl9pPr>
          </a:lstStyle>
          <a:p>
            <a:pPr>
              <a:defRPr sz="1125" b="0">
                <a:solidFill>
                  <a:srgbClr val="5B6B78"/>
                </a:solidFill>
                <a:latin typeface="Arial"/>
                <a:ea typeface="Arial"/>
                <a:cs typeface="Arial"/>
              </a:defRPr>
            </a:pPr>
            <a:r>
              <a:rPr sz="1125" b="0">
                <a:solidFill>
                  <a:srgbClr val="5B6B78"/>
                </a:solidFill>
                <a:latin typeface="Arial"/>
                <a:ea typeface="Arial"/>
                <a:cs typeface="Arial"/>
              </a:rPr>
              <a:t>Card &amp; Krueger (1994). Full-time-equivalent employment per restaurant.</a:t>
            </a:r>
          </a:p>
        </p:txBody>
      </p:sp>
      <p:sp>
        <p:nvSpPr>
          <p:cNvPr id="7" name="text-3">
            <a:extLst>
              <a:ext uri="{FF2B5EF4-FFF2-40B4-BE49-F238E27FC236}">
                <a16:creationId xmlns:a16="http://schemas.microsoft.com/office/drawing/2014/main" id="{A1A7D2D7-398A-43E5-B4DB-A3244180EF68}"/>
              </a:ext>
            </a:extLst>
          </p:cNvPr>
          <p:cNvSpPr>
            <a:spLocks noGrp="1"/>
          </p:cNvSpPr>
          <p:nvPr/>
        </p:nvSpPr>
        <p:spPr>
          <a:xfrm>
            <a:off x="8239125" y="1666875"/>
            <a:ext cx="3333750" cy="457200"/>
          </a:xfrm>
          <a:prstGeom prst="rect">
            <a:avLst/>
          </a:prstGeom>
          <a:noFill/>
          <a:ln w="0">
            <a:noFill/>
            <a:prstDash val="solid"/>
          </a:ln>
        </p:spPr>
        <p:txBody>
          <a:bodyPr lIns="0" tIns="0" rIns="0" bIns="0" anchor="t"/>
          <a:lstStyle>
            <a:defPPr>
              <a:defRPr sz="2250" b="1">
                <a:solidFill>
                  <a:srgbClr val="2E6F73"/>
                </a:solidFill>
                <a:latin typeface="Arial"/>
                <a:ea typeface="Arial"/>
                <a:cs typeface="Arial"/>
              </a:defRPr>
            </a:defPPr>
            <a:lvl1pPr>
              <a:defRPr sz="2250" b="1">
                <a:solidFill>
                  <a:srgbClr val="2E6F73"/>
                </a:solidFill>
                <a:latin typeface="Arial"/>
                <a:ea typeface="Arial"/>
                <a:cs typeface="Arial"/>
              </a:defRPr>
            </a:lvl1pPr>
            <a:lvl2pPr>
              <a:defRPr sz="2250" b="1">
                <a:solidFill>
                  <a:srgbClr val="2E6F73"/>
                </a:solidFill>
                <a:latin typeface="Arial"/>
                <a:ea typeface="Arial"/>
                <a:cs typeface="Arial"/>
              </a:defRPr>
            </a:lvl2pPr>
            <a:lvl3pPr>
              <a:defRPr sz="2250" b="1">
                <a:solidFill>
                  <a:srgbClr val="2E6F73"/>
                </a:solidFill>
                <a:latin typeface="Arial"/>
                <a:ea typeface="Arial"/>
                <a:cs typeface="Arial"/>
              </a:defRPr>
            </a:lvl3pPr>
            <a:lvl4pPr>
              <a:defRPr sz="2250" b="1">
                <a:solidFill>
                  <a:srgbClr val="2E6F73"/>
                </a:solidFill>
                <a:latin typeface="Arial"/>
                <a:ea typeface="Arial"/>
                <a:cs typeface="Arial"/>
              </a:defRPr>
            </a:lvl4pPr>
            <a:lvl5pPr>
              <a:defRPr sz="2250" b="1">
                <a:solidFill>
                  <a:srgbClr val="2E6F73"/>
                </a:solidFill>
                <a:latin typeface="Arial"/>
                <a:ea typeface="Arial"/>
                <a:cs typeface="Arial"/>
              </a:defRPr>
            </a:lvl5pPr>
            <a:lvl6pPr>
              <a:defRPr sz="2250" b="1">
                <a:solidFill>
                  <a:srgbClr val="2E6F73"/>
                </a:solidFill>
                <a:latin typeface="Arial"/>
                <a:ea typeface="Arial"/>
                <a:cs typeface="Arial"/>
              </a:defRPr>
            </a:lvl6pPr>
            <a:lvl7pPr>
              <a:defRPr sz="2250" b="1">
                <a:solidFill>
                  <a:srgbClr val="2E6F73"/>
                </a:solidFill>
                <a:latin typeface="Arial"/>
                <a:ea typeface="Arial"/>
                <a:cs typeface="Arial"/>
              </a:defRPr>
            </a:lvl7pPr>
            <a:lvl8pPr>
              <a:defRPr sz="2250" b="1">
                <a:solidFill>
                  <a:srgbClr val="2E6F73"/>
                </a:solidFill>
                <a:latin typeface="Arial"/>
                <a:ea typeface="Arial"/>
                <a:cs typeface="Arial"/>
              </a:defRPr>
            </a:lvl8pPr>
            <a:lvl9pPr>
              <a:defRPr sz="2250" b="1">
                <a:solidFill>
                  <a:srgbClr val="2E6F73"/>
                </a:solidFill>
                <a:latin typeface="Arial"/>
                <a:ea typeface="Arial"/>
                <a:cs typeface="Arial"/>
              </a:defRPr>
            </a:lvl9pPr>
          </a:lstStyle>
          <a:p>
            <a:pPr>
              <a:defRPr sz="2250" b="1">
                <a:solidFill>
                  <a:srgbClr val="2E6F73"/>
                </a:solidFill>
                <a:latin typeface="Arial"/>
                <a:ea typeface="Arial"/>
                <a:cs typeface="Arial"/>
              </a:defRPr>
            </a:pPr>
            <a:r>
              <a:rPr sz="2250" b="1">
                <a:solidFill>
                  <a:srgbClr val="2E6F73"/>
                </a:solidFill>
                <a:latin typeface="Arial"/>
                <a:ea typeface="Arial"/>
                <a:cs typeface="Arial"/>
              </a:rPr>
              <a:t>Parallel trends</a:t>
            </a:r>
          </a:p>
        </p:txBody>
      </p:sp>
      <p:sp>
        <p:nvSpPr>
          <p:cNvPr id="8" name="text-4">
            <a:extLst>
              <a:ext uri="{FF2B5EF4-FFF2-40B4-BE49-F238E27FC236}">
                <a16:creationId xmlns:a16="http://schemas.microsoft.com/office/drawing/2014/main" id="{2C4C6CD3-7F2F-46F0-B494-CC854B681FA2}"/>
              </a:ext>
            </a:extLst>
          </p:cNvPr>
          <p:cNvSpPr>
            <a:spLocks noGrp="1"/>
          </p:cNvSpPr>
          <p:nvPr/>
        </p:nvSpPr>
        <p:spPr>
          <a:xfrm>
            <a:off x="8239125" y="2333625"/>
            <a:ext cx="3238500" cy="2381250"/>
          </a:xfrm>
          <a:prstGeom prst="rect">
            <a:avLst/>
          </a:prstGeom>
          <a:noFill/>
          <a:ln w="0">
            <a:noFill/>
            <a:prstDash val="solid"/>
          </a:ln>
        </p:spPr>
        <p:txBody>
          <a:bodyPr lIns="0" tIns="0" rIns="0" bIns="0" anchor="t"/>
          <a:lstStyle>
            <a:defPPr>
              <a:defRPr sz="2175" b="0">
                <a:solidFill>
                  <a:srgbClr val="1F2A36"/>
                </a:solidFill>
                <a:latin typeface="Arial"/>
                <a:ea typeface="Arial"/>
                <a:cs typeface="Arial"/>
              </a:defRPr>
            </a:defPPr>
            <a:lvl1pPr>
              <a:defRPr sz="2175" b="0">
                <a:solidFill>
                  <a:srgbClr val="1F2A36"/>
                </a:solidFill>
                <a:latin typeface="Arial"/>
                <a:ea typeface="Arial"/>
                <a:cs typeface="Arial"/>
              </a:defRPr>
            </a:lvl1pPr>
            <a:lvl2pPr>
              <a:defRPr sz="2175" b="0">
                <a:solidFill>
                  <a:srgbClr val="1F2A36"/>
                </a:solidFill>
                <a:latin typeface="Arial"/>
                <a:ea typeface="Arial"/>
                <a:cs typeface="Arial"/>
              </a:defRPr>
            </a:lvl2pPr>
            <a:lvl3pPr>
              <a:defRPr sz="2175" b="0">
                <a:solidFill>
                  <a:srgbClr val="1F2A36"/>
                </a:solidFill>
                <a:latin typeface="Arial"/>
                <a:ea typeface="Arial"/>
                <a:cs typeface="Arial"/>
              </a:defRPr>
            </a:lvl3pPr>
            <a:lvl4pPr>
              <a:defRPr sz="2175" b="0">
                <a:solidFill>
                  <a:srgbClr val="1F2A36"/>
                </a:solidFill>
                <a:latin typeface="Arial"/>
                <a:ea typeface="Arial"/>
                <a:cs typeface="Arial"/>
              </a:defRPr>
            </a:lvl4pPr>
            <a:lvl5pPr>
              <a:defRPr sz="2175" b="0">
                <a:solidFill>
                  <a:srgbClr val="1F2A36"/>
                </a:solidFill>
                <a:latin typeface="Arial"/>
                <a:ea typeface="Arial"/>
                <a:cs typeface="Arial"/>
              </a:defRPr>
            </a:lvl5pPr>
            <a:lvl6pPr>
              <a:defRPr sz="2175" b="0">
                <a:solidFill>
                  <a:srgbClr val="1F2A36"/>
                </a:solidFill>
                <a:latin typeface="Arial"/>
                <a:ea typeface="Arial"/>
                <a:cs typeface="Arial"/>
              </a:defRPr>
            </a:lvl6pPr>
            <a:lvl7pPr>
              <a:defRPr sz="2175" b="0">
                <a:solidFill>
                  <a:srgbClr val="1F2A36"/>
                </a:solidFill>
                <a:latin typeface="Arial"/>
                <a:ea typeface="Arial"/>
                <a:cs typeface="Arial"/>
              </a:defRPr>
            </a:lvl7pPr>
            <a:lvl8pPr>
              <a:defRPr sz="2175" b="0">
                <a:solidFill>
                  <a:srgbClr val="1F2A36"/>
                </a:solidFill>
                <a:latin typeface="Arial"/>
                <a:ea typeface="Arial"/>
                <a:cs typeface="Arial"/>
              </a:defRPr>
            </a:lvl8pPr>
            <a:lvl9pPr>
              <a:defRPr sz="2175" b="0">
                <a:solidFill>
                  <a:srgbClr val="1F2A36"/>
                </a:solidFill>
                <a:latin typeface="Arial"/>
                <a:ea typeface="Arial"/>
                <a:cs typeface="Arial"/>
              </a:defRPr>
            </a:lvl9pPr>
          </a:lstStyle>
          <a:p>
            <a:pPr>
              <a:defRPr sz="2175" b="0">
                <a:solidFill>
                  <a:srgbClr val="1F2A36"/>
                </a:solidFill>
                <a:latin typeface="Arial"/>
                <a:ea typeface="Arial"/>
                <a:cs typeface="Arial"/>
              </a:defRPr>
            </a:pPr>
            <a:r>
              <a:rPr sz="2175" b="0">
                <a:solidFill>
                  <a:srgbClr val="1F2A36"/>
                </a:solidFill>
                <a:latin typeface="Arial"/>
                <a:ea typeface="Arial"/>
                <a:cs typeface="Arial"/>
              </a:rPr>
              <a:t>Without the wage increase, New Jersey would have experienced the same employment change as Pennsylvania.</a:t>
            </a:r>
          </a:p>
        </p:txBody>
      </p:sp>
      <p:sp>
        <p:nvSpPr>
          <p:cNvPr id="9" name="text-5">
            <a:extLst>
              <a:ext uri="{FF2B5EF4-FFF2-40B4-BE49-F238E27FC236}">
                <a16:creationId xmlns:a16="http://schemas.microsoft.com/office/drawing/2014/main" id="{947CA524-1EA6-4994-9CA4-4EA169E0374B}"/>
              </a:ext>
            </a:extLst>
          </p:cNvPr>
          <p:cNvSpPr>
            <a:spLocks noGrp="1"/>
          </p:cNvSpPr>
          <p:nvPr/>
        </p:nvSpPr>
        <p:spPr>
          <a:xfrm>
            <a:off x="8239125" y="5029200"/>
            <a:ext cx="3238500" cy="571500"/>
          </a:xfrm>
          <a:prstGeom prst="rect">
            <a:avLst/>
          </a:prstGeom>
          <a:noFill/>
          <a:ln w="0">
            <a:noFill/>
            <a:prstDash val="solid"/>
          </a:ln>
        </p:spPr>
        <p:txBody>
          <a:bodyPr lIns="0" tIns="0" rIns="0" bIns="0" anchor="t"/>
          <a:lstStyle>
            <a:defPPr>
              <a:defRPr sz="1725" b="0">
                <a:solidFill>
                  <a:srgbClr val="5B6B78"/>
                </a:solidFill>
                <a:latin typeface="Arial"/>
                <a:ea typeface="Arial"/>
                <a:cs typeface="Arial"/>
              </a:defRPr>
            </a:defPPr>
            <a:lvl1pPr>
              <a:defRPr sz="1725" b="0">
                <a:solidFill>
                  <a:srgbClr val="5B6B78"/>
                </a:solidFill>
                <a:latin typeface="Arial"/>
                <a:ea typeface="Arial"/>
                <a:cs typeface="Arial"/>
              </a:defRPr>
            </a:lvl1pPr>
            <a:lvl2pPr>
              <a:defRPr sz="1725" b="0">
                <a:solidFill>
                  <a:srgbClr val="5B6B78"/>
                </a:solidFill>
                <a:latin typeface="Arial"/>
                <a:ea typeface="Arial"/>
                <a:cs typeface="Arial"/>
              </a:defRPr>
            </a:lvl2pPr>
            <a:lvl3pPr>
              <a:defRPr sz="1725" b="0">
                <a:solidFill>
                  <a:srgbClr val="5B6B78"/>
                </a:solidFill>
                <a:latin typeface="Arial"/>
                <a:ea typeface="Arial"/>
                <a:cs typeface="Arial"/>
              </a:defRPr>
            </a:lvl3pPr>
            <a:lvl4pPr>
              <a:defRPr sz="1725" b="0">
                <a:solidFill>
                  <a:srgbClr val="5B6B78"/>
                </a:solidFill>
                <a:latin typeface="Arial"/>
                <a:ea typeface="Arial"/>
                <a:cs typeface="Arial"/>
              </a:defRPr>
            </a:lvl4pPr>
            <a:lvl5pPr>
              <a:defRPr sz="1725" b="0">
                <a:solidFill>
                  <a:srgbClr val="5B6B78"/>
                </a:solidFill>
                <a:latin typeface="Arial"/>
                <a:ea typeface="Arial"/>
                <a:cs typeface="Arial"/>
              </a:defRPr>
            </a:lvl5pPr>
            <a:lvl6pPr>
              <a:defRPr sz="1725" b="0">
                <a:solidFill>
                  <a:srgbClr val="5B6B78"/>
                </a:solidFill>
                <a:latin typeface="Arial"/>
                <a:ea typeface="Arial"/>
                <a:cs typeface="Arial"/>
              </a:defRPr>
            </a:lvl6pPr>
            <a:lvl7pPr>
              <a:defRPr sz="1725" b="0">
                <a:solidFill>
                  <a:srgbClr val="5B6B78"/>
                </a:solidFill>
                <a:latin typeface="Arial"/>
                <a:ea typeface="Arial"/>
                <a:cs typeface="Arial"/>
              </a:defRPr>
            </a:lvl7pPr>
            <a:lvl8pPr>
              <a:defRPr sz="1725" b="0">
                <a:solidFill>
                  <a:srgbClr val="5B6B78"/>
                </a:solidFill>
                <a:latin typeface="Arial"/>
                <a:ea typeface="Arial"/>
                <a:cs typeface="Arial"/>
              </a:defRPr>
            </a:lvl8pPr>
            <a:lvl9pPr>
              <a:defRPr sz="1725" b="0">
                <a:solidFill>
                  <a:srgbClr val="5B6B78"/>
                </a:solidFill>
                <a:latin typeface="Arial"/>
                <a:ea typeface="Arial"/>
                <a:cs typeface="Arial"/>
              </a:defRPr>
            </a:lvl9pPr>
          </a:lstStyle>
          <a:p>
            <a:pPr>
              <a:defRPr sz="1725" b="0">
                <a:solidFill>
                  <a:srgbClr val="5B6B78"/>
                </a:solidFill>
                <a:latin typeface="Arial"/>
                <a:ea typeface="Arial"/>
                <a:cs typeface="Arial"/>
              </a:defRPr>
            </a:pPr>
            <a:r>
              <a:rPr sz="1725" b="0">
                <a:solidFill>
                  <a:srgbClr val="5B6B78"/>
                </a:solidFill>
                <a:latin typeface="Arial"/>
                <a:ea typeface="Arial"/>
                <a:cs typeface="Arial"/>
              </a:rPr>
              <a:t>Key identifying assumption</a:t>
            </a:r>
          </a:p>
        </p:txBody>
      </p:sp>
    </p:spTree>
    <p:extLst>
      <p:ext uri="{BB962C8B-B14F-4D97-AF65-F5344CB8AC3E}">
        <p14:creationId xmlns:p14="http://schemas.microsoft.com/office/powerpoint/2010/main" val="14407645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ext-0">
            <a:extLst>
              <a:ext uri="{FF2B5EF4-FFF2-40B4-BE49-F238E27FC236}">
                <a16:creationId xmlns:a16="http://schemas.microsoft.com/office/drawing/2014/main" id="{6AAAC452-A9DD-4601-9B1B-EA014BB2F6C4}"/>
              </a:ext>
            </a:extLst>
          </p:cNvPr>
          <p:cNvSpPr>
            <a:spLocks noGrp="1"/>
          </p:cNvSpPr>
          <p:nvPr/>
        </p:nvSpPr>
        <p:spPr>
          <a:xfrm>
            <a:off x="552450" y="361950"/>
            <a:ext cx="11087100" cy="857250"/>
          </a:xfrm>
          <a:prstGeom prst="rect">
            <a:avLst/>
          </a:prstGeom>
          <a:noFill/>
          <a:ln w="0">
            <a:noFill/>
            <a:prstDash val="solid"/>
          </a:ln>
        </p:spPr>
        <p:txBody>
          <a:bodyPr lIns="0" tIns="0" rIns="0" bIns="0" anchor="t"/>
          <a:lstStyle>
            <a:defPPr>
              <a:defRPr sz="3000" b="1">
                <a:solidFill>
                  <a:srgbClr val="1F2A36"/>
                </a:solidFill>
                <a:latin typeface="Arial"/>
                <a:ea typeface="Arial"/>
                <a:cs typeface="Arial"/>
              </a:defRPr>
            </a:defPPr>
            <a:lvl1pPr>
              <a:defRPr sz="3000" b="1">
                <a:solidFill>
                  <a:srgbClr val="1F2A36"/>
                </a:solidFill>
                <a:latin typeface="Arial"/>
                <a:ea typeface="Arial"/>
                <a:cs typeface="Arial"/>
              </a:defRPr>
            </a:lvl1pPr>
            <a:lvl2pPr>
              <a:defRPr sz="3000" b="1">
                <a:solidFill>
                  <a:srgbClr val="1F2A36"/>
                </a:solidFill>
                <a:latin typeface="Arial"/>
                <a:ea typeface="Arial"/>
                <a:cs typeface="Arial"/>
              </a:defRPr>
            </a:lvl2pPr>
            <a:lvl3pPr>
              <a:defRPr sz="3000" b="1">
                <a:solidFill>
                  <a:srgbClr val="1F2A36"/>
                </a:solidFill>
                <a:latin typeface="Arial"/>
                <a:ea typeface="Arial"/>
                <a:cs typeface="Arial"/>
              </a:defRPr>
            </a:lvl3pPr>
            <a:lvl4pPr>
              <a:defRPr sz="3000" b="1">
                <a:solidFill>
                  <a:srgbClr val="1F2A36"/>
                </a:solidFill>
                <a:latin typeface="Arial"/>
                <a:ea typeface="Arial"/>
                <a:cs typeface="Arial"/>
              </a:defRPr>
            </a:lvl4pPr>
            <a:lvl5pPr>
              <a:defRPr sz="3000" b="1">
                <a:solidFill>
                  <a:srgbClr val="1F2A36"/>
                </a:solidFill>
                <a:latin typeface="Arial"/>
                <a:ea typeface="Arial"/>
                <a:cs typeface="Arial"/>
              </a:defRPr>
            </a:lvl5pPr>
            <a:lvl6pPr>
              <a:defRPr sz="3000" b="1">
                <a:solidFill>
                  <a:srgbClr val="1F2A36"/>
                </a:solidFill>
                <a:latin typeface="Arial"/>
                <a:ea typeface="Arial"/>
                <a:cs typeface="Arial"/>
              </a:defRPr>
            </a:lvl6pPr>
            <a:lvl7pPr>
              <a:defRPr sz="3000" b="1">
                <a:solidFill>
                  <a:srgbClr val="1F2A36"/>
                </a:solidFill>
                <a:latin typeface="Arial"/>
                <a:ea typeface="Arial"/>
                <a:cs typeface="Arial"/>
              </a:defRPr>
            </a:lvl7pPr>
            <a:lvl8pPr>
              <a:defRPr sz="3000" b="1">
                <a:solidFill>
                  <a:srgbClr val="1F2A36"/>
                </a:solidFill>
                <a:latin typeface="Arial"/>
                <a:ea typeface="Arial"/>
                <a:cs typeface="Arial"/>
              </a:defRPr>
            </a:lvl8pPr>
            <a:lvl9pPr>
              <a:defRPr sz="3000" b="1">
                <a:solidFill>
                  <a:srgbClr val="1F2A36"/>
                </a:solidFill>
                <a:latin typeface="Arial"/>
                <a:ea typeface="Arial"/>
                <a:cs typeface="Arial"/>
              </a:defRPr>
            </a:lvl9pPr>
          </a:lstStyle>
          <a:p>
            <a:pPr>
              <a:defRPr sz="3000" b="1">
                <a:solidFill>
                  <a:srgbClr val="1F2A36"/>
                </a:solidFill>
                <a:latin typeface="Arial"/>
                <a:ea typeface="Arial"/>
                <a:cs typeface="Arial"/>
              </a:defRPr>
            </a:pPr>
            <a:r>
              <a:rPr sz="3000" b="1">
                <a:solidFill>
                  <a:srgbClr val="1F2A36"/>
                </a:solidFill>
                <a:latin typeface="Arial"/>
                <a:ea typeface="Arial"/>
                <a:cs typeface="Arial"/>
              </a:rPr>
              <a:t>Exercise: fill in the missing counterfactual</a:t>
            </a:r>
          </a:p>
        </p:txBody>
      </p:sp>
      <p:sp>
        <p:nvSpPr>
          <p:cNvPr id="2" name="text-1">
            <a:extLst>
              <a:ext uri="{FF2B5EF4-FFF2-40B4-BE49-F238E27FC236}">
                <a16:creationId xmlns:a16="http://schemas.microsoft.com/office/drawing/2014/main" id="{F48AC6F1-E4DC-4007-BEF2-257D21626A8F}"/>
              </a:ext>
            </a:extLst>
          </p:cNvPr>
          <p:cNvSpPr>
            <a:spLocks noGrp="1"/>
          </p:cNvSpPr>
          <p:nvPr/>
        </p:nvSpPr>
        <p:spPr>
          <a:xfrm>
            <a:off x="11239500" y="6400800"/>
            <a:ext cx="476250" cy="266700"/>
          </a:xfrm>
          <a:prstGeom prst="rect">
            <a:avLst/>
          </a:prstGeom>
          <a:noFill/>
          <a:ln w="0">
            <a:noFill/>
            <a:prstDash val="solid"/>
          </a:ln>
        </p:spPr>
        <p:txBody>
          <a:bodyPr lIns="0" tIns="0" rIns="0" bIns="0" anchor="t"/>
          <a:lstStyle>
            <a:defPPr>
              <a:defRPr sz="1350" b="0">
                <a:solidFill>
                  <a:srgbClr val="5B6B78"/>
                </a:solidFill>
                <a:latin typeface="Arial"/>
                <a:ea typeface="Arial"/>
                <a:cs typeface="Arial"/>
              </a:defRPr>
            </a:defPPr>
            <a:lvl1pPr>
              <a:defRPr sz="1350" b="0">
                <a:solidFill>
                  <a:srgbClr val="5B6B78"/>
                </a:solidFill>
                <a:latin typeface="Arial"/>
                <a:ea typeface="Arial"/>
                <a:cs typeface="Arial"/>
              </a:defRPr>
            </a:lvl1pPr>
            <a:lvl2pPr>
              <a:defRPr sz="1350" b="0">
                <a:solidFill>
                  <a:srgbClr val="5B6B78"/>
                </a:solidFill>
                <a:latin typeface="Arial"/>
                <a:ea typeface="Arial"/>
                <a:cs typeface="Arial"/>
              </a:defRPr>
            </a:lvl2pPr>
            <a:lvl3pPr>
              <a:defRPr sz="1350" b="0">
                <a:solidFill>
                  <a:srgbClr val="5B6B78"/>
                </a:solidFill>
                <a:latin typeface="Arial"/>
                <a:ea typeface="Arial"/>
                <a:cs typeface="Arial"/>
              </a:defRPr>
            </a:lvl3pPr>
            <a:lvl4pPr>
              <a:defRPr sz="1350" b="0">
                <a:solidFill>
                  <a:srgbClr val="5B6B78"/>
                </a:solidFill>
                <a:latin typeface="Arial"/>
                <a:ea typeface="Arial"/>
                <a:cs typeface="Arial"/>
              </a:defRPr>
            </a:lvl4pPr>
            <a:lvl5pPr>
              <a:defRPr sz="1350" b="0">
                <a:solidFill>
                  <a:srgbClr val="5B6B78"/>
                </a:solidFill>
                <a:latin typeface="Arial"/>
                <a:ea typeface="Arial"/>
                <a:cs typeface="Arial"/>
              </a:defRPr>
            </a:lvl5pPr>
            <a:lvl6pPr>
              <a:defRPr sz="1350" b="0">
                <a:solidFill>
                  <a:srgbClr val="5B6B78"/>
                </a:solidFill>
                <a:latin typeface="Arial"/>
                <a:ea typeface="Arial"/>
                <a:cs typeface="Arial"/>
              </a:defRPr>
            </a:lvl6pPr>
            <a:lvl7pPr>
              <a:defRPr sz="1350" b="0">
                <a:solidFill>
                  <a:srgbClr val="5B6B78"/>
                </a:solidFill>
                <a:latin typeface="Arial"/>
                <a:ea typeface="Arial"/>
                <a:cs typeface="Arial"/>
              </a:defRPr>
            </a:lvl7pPr>
            <a:lvl8pPr>
              <a:defRPr sz="1350" b="0">
                <a:solidFill>
                  <a:srgbClr val="5B6B78"/>
                </a:solidFill>
                <a:latin typeface="Arial"/>
                <a:ea typeface="Arial"/>
                <a:cs typeface="Arial"/>
              </a:defRPr>
            </a:lvl8pPr>
            <a:lvl9pPr>
              <a:defRPr sz="1350" b="0">
                <a:solidFill>
                  <a:srgbClr val="5B6B78"/>
                </a:solidFill>
                <a:latin typeface="Arial"/>
                <a:ea typeface="Arial"/>
                <a:cs typeface="Arial"/>
              </a:defRPr>
            </a:lvl9pPr>
          </a:lstStyle>
          <a:p>
            <a:pPr>
              <a:defRPr sz="1350" b="0">
                <a:solidFill>
                  <a:srgbClr val="5B6B78"/>
                </a:solidFill>
                <a:latin typeface="Arial"/>
                <a:ea typeface="Arial"/>
                <a:cs typeface="Arial"/>
              </a:defRPr>
            </a:pPr>
            <a:r>
              <a:rPr sz="1350" b="0">
                <a:solidFill>
                  <a:srgbClr val="5B6B78"/>
                </a:solidFill>
                <a:latin typeface="Arial"/>
                <a:ea typeface="Arial"/>
                <a:cs typeface="Arial"/>
              </a:rPr>
              <a:t>4</a:t>
            </a:r>
          </a:p>
        </p:txBody>
      </p:sp>
      <p:sp>
        <p:nvSpPr>
          <p:cNvPr id="3" name="text-2">
            <a:extLst>
              <a:ext uri="{FF2B5EF4-FFF2-40B4-BE49-F238E27FC236}">
                <a16:creationId xmlns:a16="http://schemas.microsoft.com/office/drawing/2014/main" id="{06385E11-AA99-4DA7-9B79-8204EE63F729}"/>
              </a:ext>
            </a:extLst>
          </p:cNvPr>
          <p:cNvSpPr>
            <a:spLocks noGrp="1"/>
          </p:cNvSpPr>
          <p:nvPr/>
        </p:nvSpPr>
        <p:spPr>
          <a:xfrm>
            <a:off x="552450" y="1524000"/>
            <a:ext cx="10763250" cy="523875"/>
          </a:xfrm>
          <a:prstGeom prst="rect">
            <a:avLst/>
          </a:prstGeom>
          <a:noFill/>
          <a:ln w="0">
            <a:noFill/>
            <a:prstDash val="solid"/>
          </a:ln>
        </p:spPr>
        <p:txBody>
          <a:bodyPr lIns="0" tIns="0" rIns="0" bIns="0" anchor="t"/>
          <a:lstStyle>
            <a:defPPr>
              <a:defRPr sz="2550" b="0">
                <a:solidFill>
                  <a:srgbClr val="1F2A36"/>
                </a:solidFill>
                <a:latin typeface="Arial"/>
                <a:ea typeface="Arial"/>
                <a:cs typeface="Arial"/>
              </a:defRPr>
            </a:defPPr>
            <a:lvl1pPr>
              <a:defRPr sz="2550" b="0">
                <a:solidFill>
                  <a:srgbClr val="1F2A36"/>
                </a:solidFill>
                <a:latin typeface="Arial"/>
                <a:ea typeface="Arial"/>
                <a:cs typeface="Arial"/>
              </a:defRPr>
            </a:lvl1pPr>
            <a:lvl2pPr>
              <a:defRPr sz="2550" b="0">
                <a:solidFill>
                  <a:srgbClr val="1F2A36"/>
                </a:solidFill>
                <a:latin typeface="Arial"/>
                <a:ea typeface="Arial"/>
                <a:cs typeface="Arial"/>
              </a:defRPr>
            </a:lvl2pPr>
            <a:lvl3pPr>
              <a:defRPr sz="2550" b="0">
                <a:solidFill>
                  <a:srgbClr val="1F2A36"/>
                </a:solidFill>
                <a:latin typeface="Arial"/>
                <a:ea typeface="Arial"/>
                <a:cs typeface="Arial"/>
              </a:defRPr>
            </a:lvl3pPr>
            <a:lvl4pPr>
              <a:defRPr sz="2550" b="0">
                <a:solidFill>
                  <a:srgbClr val="1F2A36"/>
                </a:solidFill>
                <a:latin typeface="Arial"/>
                <a:ea typeface="Arial"/>
                <a:cs typeface="Arial"/>
              </a:defRPr>
            </a:lvl4pPr>
            <a:lvl5pPr>
              <a:defRPr sz="2550" b="0">
                <a:solidFill>
                  <a:srgbClr val="1F2A36"/>
                </a:solidFill>
                <a:latin typeface="Arial"/>
                <a:ea typeface="Arial"/>
                <a:cs typeface="Arial"/>
              </a:defRPr>
            </a:lvl5pPr>
            <a:lvl6pPr>
              <a:defRPr sz="2550" b="0">
                <a:solidFill>
                  <a:srgbClr val="1F2A36"/>
                </a:solidFill>
                <a:latin typeface="Arial"/>
                <a:ea typeface="Arial"/>
                <a:cs typeface="Arial"/>
              </a:defRPr>
            </a:lvl6pPr>
            <a:lvl7pPr>
              <a:defRPr sz="2550" b="0">
                <a:solidFill>
                  <a:srgbClr val="1F2A36"/>
                </a:solidFill>
                <a:latin typeface="Arial"/>
                <a:ea typeface="Arial"/>
                <a:cs typeface="Arial"/>
              </a:defRPr>
            </a:lvl7pPr>
            <a:lvl8pPr>
              <a:defRPr sz="2550" b="0">
                <a:solidFill>
                  <a:srgbClr val="1F2A36"/>
                </a:solidFill>
                <a:latin typeface="Arial"/>
                <a:ea typeface="Arial"/>
                <a:cs typeface="Arial"/>
              </a:defRPr>
            </a:lvl8pPr>
            <a:lvl9pPr>
              <a:defRPr sz="2550" b="0">
                <a:solidFill>
                  <a:srgbClr val="1F2A36"/>
                </a:solidFill>
                <a:latin typeface="Arial"/>
                <a:ea typeface="Arial"/>
                <a:cs typeface="Arial"/>
              </a:defRPr>
            </a:lvl9pPr>
          </a:lstStyle>
          <a:p>
            <a:pPr>
              <a:defRPr sz="2550" b="0">
                <a:solidFill>
                  <a:srgbClr val="1F2A36"/>
                </a:solidFill>
                <a:latin typeface="Arial"/>
                <a:ea typeface="Arial"/>
                <a:cs typeface="Arial"/>
              </a:defRPr>
            </a:pPr>
            <a:r>
              <a:rPr sz="2550" b="0">
                <a:solidFill>
                  <a:srgbClr val="1F2A36"/>
                </a:solidFill>
                <a:latin typeface="Arial"/>
                <a:ea typeface="Arial"/>
                <a:cs typeface="Arial"/>
              </a:rPr>
              <a:t>Pennsylvania changed by −2.16.</a:t>
            </a:r>
          </a:p>
        </p:txBody>
      </p:sp>
      <p:sp>
        <p:nvSpPr>
          <p:cNvPr id="4" name="text-3">
            <a:extLst>
              <a:ext uri="{FF2B5EF4-FFF2-40B4-BE49-F238E27FC236}">
                <a16:creationId xmlns:a16="http://schemas.microsoft.com/office/drawing/2014/main" id="{3C1FD6B0-9D4D-4C5B-B93C-85BFDA7DE097}"/>
              </a:ext>
            </a:extLst>
          </p:cNvPr>
          <p:cNvSpPr>
            <a:spLocks noGrp="1"/>
          </p:cNvSpPr>
          <p:nvPr/>
        </p:nvSpPr>
        <p:spPr>
          <a:xfrm>
            <a:off x="552450" y="2238375"/>
            <a:ext cx="10763250" cy="523875"/>
          </a:xfrm>
          <a:prstGeom prst="rect">
            <a:avLst/>
          </a:prstGeom>
          <a:noFill/>
          <a:ln w="0">
            <a:noFill/>
            <a:prstDash val="solid"/>
          </a:ln>
        </p:spPr>
        <p:txBody>
          <a:bodyPr lIns="0" tIns="0" rIns="0" bIns="0" anchor="t"/>
          <a:lstStyle>
            <a:defPPr>
              <a:defRPr sz="2550" b="0">
                <a:solidFill>
                  <a:srgbClr val="1F2A36"/>
                </a:solidFill>
                <a:latin typeface="Arial"/>
                <a:ea typeface="Arial"/>
                <a:cs typeface="Arial"/>
              </a:defRPr>
            </a:defPPr>
            <a:lvl1pPr>
              <a:defRPr sz="2550" b="0">
                <a:solidFill>
                  <a:srgbClr val="1F2A36"/>
                </a:solidFill>
                <a:latin typeface="Arial"/>
                <a:ea typeface="Arial"/>
                <a:cs typeface="Arial"/>
              </a:defRPr>
            </a:lvl1pPr>
            <a:lvl2pPr>
              <a:defRPr sz="2550" b="0">
                <a:solidFill>
                  <a:srgbClr val="1F2A36"/>
                </a:solidFill>
                <a:latin typeface="Arial"/>
                <a:ea typeface="Arial"/>
                <a:cs typeface="Arial"/>
              </a:defRPr>
            </a:lvl2pPr>
            <a:lvl3pPr>
              <a:defRPr sz="2550" b="0">
                <a:solidFill>
                  <a:srgbClr val="1F2A36"/>
                </a:solidFill>
                <a:latin typeface="Arial"/>
                <a:ea typeface="Arial"/>
                <a:cs typeface="Arial"/>
              </a:defRPr>
            </a:lvl3pPr>
            <a:lvl4pPr>
              <a:defRPr sz="2550" b="0">
                <a:solidFill>
                  <a:srgbClr val="1F2A36"/>
                </a:solidFill>
                <a:latin typeface="Arial"/>
                <a:ea typeface="Arial"/>
                <a:cs typeface="Arial"/>
              </a:defRPr>
            </a:lvl4pPr>
            <a:lvl5pPr>
              <a:defRPr sz="2550" b="0">
                <a:solidFill>
                  <a:srgbClr val="1F2A36"/>
                </a:solidFill>
                <a:latin typeface="Arial"/>
                <a:ea typeface="Arial"/>
                <a:cs typeface="Arial"/>
              </a:defRPr>
            </a:lvl5pPr>
            <a:lvl6pPr>
              <a:defRPr sz="2550" b="0">
                <a:solidFill>
                  <a:srgbClr val="1F2A36"/>
                </a:solidFill>
                <a:latin typeface="Arial"/>
                <a:ea typeface="Arial"/>
                <a:cs typeface="Arial"/>
              </a:defRPr>
            </a:lvl6pPr>
            <a:lvl7pPr>
              <a:defRPr sz="2550" b="0">
                <a:solidFill>
                  <a:srgbClr val="1F2A36"/>
                </a:solidFill>
                <a:latin typeface="Arial"/>
                <a:ea typeface="Arial"/>
                <a:cs typeface="Arial"/>
              </a:defRPr>
            </a:lvl7pPr>
            <a:lvl8pPr>
              <a:defRPr sz="2550" b="0">
                <a:solidFill>
                  <a:srgbClr val="1F2A36"/>
                </a:solidFill>
                <a:latin typeface="Arial"/>
                <a:ea typeface="Arial"/>
                <a:cs typeface="Arial"/>
              </a:defRPr>
            </a:lvl8pPr>
            <a:lvl9pPr>
              <a:defRPr sz="2550" b="0">
                <a:solidFill>
                  <a:srgbClr val="1F2A36"/>
                </a:solidFill>
                <a:latin typeface="Arial"/>
                <a:ea typeface="Arial"/>
                <a:cs typeface="Arial"/>
              </a:defRPr>
            </a:lvl9pPr>
          </a:lstStyle>
          <a:p>
            <a:pPr>
              <a:defRPr sz="2550" b="0">
                <a:solidFill>
                  <a:srgbClr val="1F2A36"/>
                </a:solidFill>
                <a:latin typeface="Arial"/>
                <a:ea typeface="Arial"/>
                <a:cs typeface="Arial"/>
              </a:defRPr>
            </a:pPr>
            <a:r>
              <a:rPr sz="2550" b="0">
                <a:solidFill>
                  <a:srgbClr val="1F2A36"/>
                </a:solidFill>
                <a:latin typeface="Arial"/>
                <a:ea typeface="Arial"/>
                <a:cs typeface="Arial"/>
              </a:rPr>
              <a:t>New Jersey began at 20.44.</a:t>
            </a:r>
          </a:p>
        </p:txBody>
      </p:sp>
      <p:sp>
        <p:nvSpPr>
          <p:cNvPr id="5" name="text-4">
            <a:extLst>
              <a:ext uri="{FF2B5EF4-FFF2-40B4-BE49-F238E27FC236}">
                <a16:creationId xmlns:a16="http://schemas.microsoft.com/office/drawing/2014/main" id="{DF535CA0-A04D-4978-AD0C-BA60AD68FA34}"/>
              </a:ext>
            </a:extLst>
          </p:cNvPr>
          <p:cNvSpPr>
            <a:spLocks noGrp="1"/>
          </p:cNvSpPr>
          <p:nvPr/>
        </p:nvSpPr>
        <p:spPr>
          <a:xfrm>
            <a:off x="552450" y="3286125"/>
            <a:ext cx="10763250" cy="476250"/>
          </a:xfrm>
          <a:prstGeom prst="rect">
            <a:avLst/>
          </a:prstGeom>
          <a:noFill/>
          <a:ln w="0">
            <a:noFill/>
            <a:prstDash val="solid"/>
          </a:ln>
        </p:spPr>
        <p:txBody>
          <a:bodyPr lIns="0" tIns="0" rIns="0" bIns="0" anchor="t"/>
          <a:lstStyle>
            <a:defPPr>
              <a:defRPr sz="2400" b="1">
                <a:solidFill>
                  <a:srgbClr val="2E6F73"/>
                </a:solidFill>
                <a:latin typeface="Arial"/>
                <a:ea typeface="Arial"/>
                <a:cs typeface="Arial"/>
              </a:defRPr>
            </a:defPPr>
            <a:lvl1pPr>
              <a:defRPr sz="2400" b="1">
                <a:solidFill>
                  <a:srgbClr val="2E6F73"/>
                </a:solidFill>
                <a:latin typeface="Arial"/>
                <a:ea typeface="Arial"/>
                <a:cs typeface="Arial"/>
              </a:defRPr>
            </a:lvl1pPr>
            <a:lvl2pPr>
              <a:defRPr sz="2400" b="1">
                <a:solidFill>
                  <a:srgbClr val="2E6F73"/>
                </a:solidFill>
                <a:latin typeface="Arial"/>
                <a:ea typeface="Arial"/>
                <a:cs typeface="Arial"/>
              </a:defRPr>
            </a:lvl2pPr>
            <a:lvl3pPr>
              <a:defRPr sz="2400" b="1">
                <a:solidFill>
                  <a:srgbClr val="2E6F73"/>
                </a:solidFill>
                <a:latin typeface="Arial"/>
                <a:ea typeface="Arial"/>
                <a:cs typeface="Arial"/>
              </a:defRPr>
            </a:lvl3pPr>
            <a:lvl4pPr>
              <a:defRPr sz="2400" b="1">
                <a:solidFill>
                  <a:srgbClr val="2E6F73"/>
                </a:solidFill>
                <a:latin typeface="Arial"/>
                <a:ea typeface="Arial"/>
                <a:cs typeface="Arial"/>
              </a:defRPr>
            </a:lvl4pPr>
            <a:lvl5pPr>
              <a:defRPr sz="2400" b="1">
                <a:solidFill>
                  <a:srgbClr val="2E6F73"/>
                </a:solidFill>
                <a:latin typeface="Arial"/>
                <a:ea typeface="Arial"/>
                <a:cs typeface="Arial"/>
              </a:defRPr>
            </a:lvl5pPr>
            <a:lvl6pPr>
              <a:defRPr sz="2400" b="1">
                <a:solidFill>
                  <a:srgbClr val="2E6F73"/>
                </a:solidFill>
                <a:latin typeface="Arial"/>
                <a:ea typeface="Arial"/>
                <a:cs typeface="Arial"/>
              </a:defRPr>
            </a:lvl6pPr>
            <a:lvl7pPr>
              <a:defRPr sz="2400" b="1">
                <a:solidFill>
                  <a:srgbClr val="2E6F73"/>
                </a:solidFill>
                <a:latin typeface="Arial"/>
                <a:ea typeface="Arial"/>
                <a:cs typeface="Arial"/>
              </a:defRPr>
            </a:lvl7pPr>
            <a:lvl8pPr>
              <a:defRPr sz="2400" b="1">
                <a:solidFill>
                  <a:srgbClr val="2E6F73"/>
                </a:solidFill>
                <a:latin typeface="Arial"/>
                <a:ea typeface="Arial"/>
                <a:cs typeface="Arial"/>
              </a:defRPr>
            </a:lvl8pPr>
            <a:lvl9pPr>
              <a:defRPr sz="2400" b="1">
                <a:solidFill>
                  <a:srgbClr val="2E6F73"/>
                </a:solidFill>
                <a:latin typeface="Arial"/>
                <a:ea typeface="Arial"/>
                <a:cs typeface="Arial"/>
              </a:defRPr>
            </a:lvl9pPr>
          </a:lstStyle>
          <a:p>
            <a:pPr>
              <a:defRPr sz="2400" b="1">
                <a:solidFill>
                  <a:srgbClr val="2E6F73"/>
                </a:solidFill>
                <a:latin typeface="Arial"/>
                <a:ea typeface="Arial"/>
                <a:cs typeface="Arial"/>
              </a:defRPr>
            </a:pPr>
            <a:r>
              <a:rPr sz="2400" b="1">
                <a:solidFill>
                  <a:srgbClr val="2E6F73"/>
                </a:solidFill>
                <a:latin typeface="Arial"/>
                <a:ea typeface="Arial"/>
                <a:cs typeface="Arial"/>
              </a:rPr>
              <a:t>Without the policy, New Jersey would end at:</a:t>
            </a:r>
          </a:p>
        </p:txBody>
      </p:sp>
      <p:sp>
        <p:nvSpPr>
          <p:cNvPr id="6" name="text-5">
            <a:extLst>
              <a:ext uri="{FF2B5EF4-FFF2-40B4-BE49-F238E27FC236}">
                <a16:creationId xmlns:a16="http://schemas.microsoft.com/office/drawing/2014/main" id="{D64F9CD0-01A9-45AA-9B09-93E9F1D48581}"/>
              </a:ext>
            </a:extLst>
          </p:cNvPr>
          <p:cNvSpPr>
            <a:spLocks noGrp="1"/>
          </p:cNvSpPr>
          <p:nvPr/>
        </p:nvSpPr>
        <p:spPr>
          <a:xfrm>
            <a:off x="552450" y="3943350"/>
            <a:ext cx="10763250" cy="619125"/>
          </a:xfrm>
          <a:prstGeom prst="rect">
            <a:avLst/>
          </a:prstGeom>
          <a:noFill/>
          <a:ln w="0">
            <a:noFill/>
            <a:prstDash val="solid"/>
          </a:ln>
        </p:spPr>
        <p:txBody>
          <a:bodyPr lIns="0" tIns="0" rIns="0" bIns="0" anchor="t"/>
          <a:lstStyle>
            <a:defPPr>
              <a:defRPr sz="3150" b="1">
                <a:solidFill>
                  <a:srgbClr val="2E6F73"/>
                </a:solidFill>
                <a:latin typeface="Arial"/>
                <a:ea typeface="Arial"/>
                <a:cs typeface="Arial"/>
              </a:defRPr>
            </a:defPPr>
            <a:lvl1pPr>
              <a:defRPr sz="3150" b="1">
                <a:solidFill>
                  <a:srgbClr val="2E6F73"/>
                </a:solidFill>
                <a:latin typeface="Arial"/>
                <a:ea typeface="Arial"/>
                <a:cs typeface="Arial"/>
              </a:defRPr>
            </a:lvl1pPr>
            <a:lvl2pPr>
              <a:defRPr sz="3150" b="1">
                <a:solidFill>
                  <a:srgbClr val="2E6F73"/>
                </a:solidFill>
                <a:latin typeface="Arial"/>
                <a:ea typeface="Arial"/>
                <a:cs typeface="Arial"/>
              </a:defRPr>
            </a:lvl2pPr>
            <a:lvl3pPr>
              <a:defRPr sz="3150" b="1">
                <a:solidFill>
                  <a:srgbClr val="2E6F73"/>
                </a:solidFill>
                <a:latin typeface="Arial"/>
                <a:ea typeface="Arial"/>
                <a:cs typeface="Arial"/>
              </a:defRPr>
            </a:lvl3pPr>
            <a:lvl4pPr>
              <a:defRPr sz="3150" b="1">
                <a:solidFill>
                  <a:srgbClr val="2E6F73"/>
                </a:solidFill>
                <a:latin typeface="Arial"/>
                <a:ea typeface="Arial"/>
                <a:cs typeface="Arial"/>
              </a:defRPr>
            </a:lvl4pPr>
            <a:lvl5pPr>
              <a:defRPr sz="3150" b="1">
                <a:solidFill>
                  <a:srgbClr val="2E6F73"/>
                </a:solidFill>
                <a:latin typeface="Arial"/>
                <a:ea typeface="Arial"/>
                <a:cs typeface="Arial"/>
              </a:defRPr>
            </a:lvl5pPr>
            <a:lvl6pPr>
              <a:defRPr sz="3150" b="1">
                <a:solidFill>
                  <a:srgbClr val="2E6F73"/>
                </a:solidFill>
                <a:latin typeface="Arial"/>
                <a:ea typeface="Arial"/>
                <a:cs typeface="Arial"/>
              </a:defRPr>
            </a:lvl6pPr>
            <a:lvl7pPr>
              <a:defRPr sz="3150" b="1">
                <a:solidFill>
                  <a:srgbClr val="2E6F73"/>
                </a:solidFill>
                <a:latin typeface="Arial"/>
                <a:ea typeface="Arial"/>
                <a:cs typeface="Arial"/>
              </a:defRPr>
            </a:lvl7pPr>
            <a:lvl8pPr>
              <a:defRPr sz="3150" b="1">
                <a:solidFill>
                  <a:srgbClr val="2E6F73"/>
                </a:solidFill>
                <a:latin typeface="Arial"/>
                <a:ea typeface="Arial"/>
                <a:cs typeface="Arial"/>
              </a:defRPr>
            </a:lvl8pPr>
            <a:lvl9pPr>
              <a:defRPr sz="3150" b="1">
                <a:solidFill>
                  <a:srgbClr val="2E6F73"/>
                </a:solidFill>
                <a:latin typeface="Arial"/>
                <a:ea typeface="Arial"/>
                <a:cs typeface="Arial"/>
              </a:defRPr>
            </a:lvl9pPr>
          </a:lstStyle>
          <a:p>
            <a:pPr>
              <a:defRPr sz="3150" b="1">
                <a:solidFill>
                  <a:srgbClr val="2E6F73"/>
                </a:solidFill>
                <a:latin typeface="Arial"/>
                <a:ea typeface="Arial"/>
                <a:cs typeface="Arial"/>
              </a:defRPr>
            </a:pPr>
            <a:r>
              <a:rPr sz="3150" b="1">
                <a:solidFill>
                  <a:srgbClr val="2E6F73"/>
                </a:solidFill>
                <a:latin typeface="Arial"/>
                <a:ea typeface="Arial"/>
                <a:cs typeface="Arial"/>
              </a:rPr>
              <a:t>20.44 + (−2.16) = ______</a:t>
            </a:r>
          </a:p>
        </p:txBody>
      </p:sp>
      <p:sp>
        <p:nvSpPr>
          <p:cNvPr id="7" name="text-6">
            <a:extLst>
              <a:ext uri="{FF2B5EF4-FFF2-40B4-BE49-F238E27FC236}">
                <a16:creationId xmlns:a16="http://schemas.microsoft.com/office/drawing/2014/main" id="{6D55337C-5B02-4DA6-905B-5366EBC8D59C}"/>
              </a:ext>
            </a:extLst>
          </p:cNvPr>
          <p:cNvSpPr>
            <a:spLocks noGrp="1"/>
          </p:cNvSpPr>
          <p:nvPr/>
        </p:nvSpPr>
        <p:spPr>
          <a:xfrm>
            <a:off x="552450" y="5048250"/>
            <a:ext cx="10763250" cy="428625"/>
          </a:xfrm>
          <a:prstGeom prst="rect">
            <a:avLst/>
          </a:prstGeom>
          <a:noFill/>
          <a:ln w="0">
            <a:noFill/>
            <a:prstDash val="solid"/>
          </a:ln>
        </p:spPr>
        <p:txBody>
          <a:bodyPr lIns="0" tIns="0" rIns="0" bIns="0" anchor="t"/>
          <a:lstStyle>
            <a:defPPr>
              <a:defRPr sz="2100" b="0">
                <a:solidFill>
                  <a:srgbClr val="1F2A36"/>
                </a:solidFill>
                <a:latin typeface="Arial"/>
                <a:ea typeface="Arial"/>
                <a:cs typeface="Arial"/>
              </a:defRPr>
            </a:defPPr>
            <a:lvl1pPr>
              <a:defRPr sz="2100" b="0">
                <a:solidFill>
                  <a:srgbClr val="1F2A36"/>
                </a:solidFill>
                <a:latin typeface="Arial"/>
                <a:ea typeface="Arial"/>
                <a:cs typeface="Arial"/>
              </a:defRPr>
            </a:lvl1pPr>
            <a:lvl2pPr>
              <a:defRPr sz="2100" b="0">
                <a:solidFill>
                  <a:srgbClr val="1F2A36"/>
                </a:solidFill>
                <a:latin typeface="Arial"/>
                <a:ea typeface="Arial"/>
                <a:cs typeface="Arial"/>
              </a:defRPr>
            </a:lvl2pPr>
            <a:lvl3pPr>
              <a:defRPr sz="2100" b="0">
                <a:solidFill>
                  <a:srgbClr val="1F2A36"/>
                </a:solidFill>
                <a:latin typeface="Arial"/>
                <a:ea typeface="Arial"/>
                <a:cs typeface="Arial"/>
              </a:defRPr>
            </a:lvl3pPr>
            <a:lvl4pPr>
              <a:defRPr sz="2100" b="0">
                <a:solidFill>
                  <a:srgbClr val="1F2A36"/>
                </a:solidFill>
                <a:latin typeface="Arial"/>
                <a:ea typeface="Arial"/>
                <a:cs typeface="Arial"/>
              </a:defRPr>
            </a:lvl4pPr>
            <a:lvl5pPr>
              <a:defRPr sz="2100" b="0">
                <a:solidFill>
                  <a:srgbClr val="1F2A36"/>
                </a:solidFill>
                <a:latin typeface="Arial"/>
                <a:ea typeface="Arial"/>
                <a:cs typeface="Arial"/>
              </a:defRPr>
            </a:lvl5pPr>
            <a:lvl6pPr>
              <a:defRPr sz="2100" b="0">
                <a:solidFill>
                  <a:srgbClr val="1F2A36"/>
                </a:solidFill>
                <a:latin typeface="Arial"/>
                <a:ea typeface="Arial"/>
                <a:cs typeface="Arial"/>
              </a:defRPr>
            </a:lvl6pPr>
            <a:lvl7pPr>
              <a:defRPr sz="2100" b="0">
                <a:solidFill>
                  <a:srgbClr val="1F2A36"/>
                </a:solidFill>
                <a:latin typeface="Arial"/>
                <a:ea typeface="Arial"/>
                <a:cs typeface="Arial"/>
              </a:defRPr>
            </a:lvl7pPr>
            <a:lvl8pPr>
              <a:defRPr sz="2100" b="0">
                <a:solidFill>
                  <a:srgbClr val="1F2A36"/>
                </a:solidFill>
                <a:latin typeface="Arial"/>
                <a:ea typeface="Arial"/>
                <a:cs typeface="Arial"/>
              </a:defRPr>
            </a:lvl8pPr>
            <a:lvl9pPr>
              <a:defRPr sz="2100" b="0">
                <a:solidFill>
                  <a:srgbClr val="1F2A36"/>
                </a:solidFill>
                <a:latin typeface="Arial"/>
                <a:ea typeface="Arial"/>
                <a:cs typeface="Arial"/>
              </a:defRPr>
            </a:lvl9pPr>
          </a:lstStyle>
          <a:p>
            <a:pPr>
              <a:defRPr sz="2100" b="0">
                <a:solidFill>
                  <a:srgbClr val="1F2A36"/>
                </a:solidFill>
                <a:latin typeface="Arial"/>
                <a:ea typeface="Arial"/>
                <a:cs typeface="Arial"/>
              </a:defRPr>
            </a:pPr>
            <a:r>
              <a:rPr sz="2100" b="0">
                <a:solidFill>
                  <a:srgbClr val="1F2A36"/>
                </a:solidFill>
                <a:latin typeface="Arial"/>
                <a:ea typeface="Arial"/>
                <a:cs typeface="Arial"/>
              </a:rPr>
              <a:t>Observed NJ outcome − counterfactual NJ outcome</a:t>
            </a:r>
          </a:p>
        </p:txBody>
      </p:sp>
      <p:sp>
        <p:nvSpPr>
          <p:cNvPr id="8" name="text-7">
            <a:extLst>
              <a:ext uri="{FF2B5EF4-FFF2-40B4-BE49-F238E27FC236}">
                <a16:creationId xmlns:a16="http://schemas.microsoft.com/office/drawing/2014/main" id="{6CC8F965-2F8B-45B7-919F-85DEFE912C10}"/>
              </a:ext>
            </a:extLst>
          </p:cNvPr>
          <p:cNvSpPr>
            <a:spLocks noGrp="1"/>
          </p:cNvSpPr>
          <p:nvPr/>
        </p:nvSpPr>
        <p:spPr>
          <a:xfrm>
            <a:off x="552450" y="5543550"/>
            <a:ext cx="10763250" cy="476250"/>
          </a:xfrm>
          <a:prstGeom prst="rect">
            <a:avLst/>
          </a:prstGeom>
          <a:noFill/>
          <a:ln w="0">
            <a:noFill/>
            <a:prstDash val="solid"/>
          </a:ln>
        </p:spPr>
        <p:txBody>
          <a:bodyPr lIns="0" tIns="0" rIns="0" bIns="0" anchor="t"/>
          <a:lstStyle>
            <a:defPPr>
              <a:defRPr sz="2400" b="0">
                <a:solidFill>
                  <a:srgbClr val="1F2A36"/>
                </a:solidFill>
                <a:latin typeface="Arial"/>
                <a:ea typeface="Arial"/>
                <a:cs typeface="Arial"/>
              </a:defRPr>
            </a:defPPr>
            <a:lvl1pPr>
              <a:defRPr sz="2400" b="0">
                <a:solidFill>
                  <a:srgbClr val="1F2A36"/>
                </a:solidFill>
                <a:latin typeface="Arial"/>
                <a:ea typeface="Arial"/>
                <a:cs typeface="Arial"/>
              </a:defRPr>
            </a:lvl1pPr>
            <a:lvl2pPr>
              <a:defRPr sz="2400" b="0">
                <a:solidFill>
                  <a:srgbClr val="1F2A36"/>
                </a:solidFill>
                <a:latin typeface="Arial"/>
                <a:ea typeface="Arial"/>
                <a:cs typeface="Arial"/>
              </a:defRPr>
            </a:lvl2pPr>
            <a:lvl3pPr>
              <a:defRPr sz="2400" b="0">
                <a:solidFill>
                  <a:srgbClr val="1F2A36"/>
                </a:solidFill>
                <a:latin typeface="Arial"/>
                <a:ea typeface="Arial"/>
                <a:cs typeface="Arial"/>
              </a:defRPr>
            </a:lvl3pPr>
            <a:lvl4pPr>
              <a:defRPr sz="2400" b="0">
                <a:solidFill>
                  <a:srgbClr val="1F2A36"/>
                </a:solidFill>
                <a:latin typeface="Arial"/>
                <a:ea typeface="Arial"/>
                <a:cs typeface="Arial"/>
              </a:defRPr>
            </a:lvl4pPr>
            <a:lvl5pPr>
              <a:defRPr sz="2400" b="0">
                <a:solidFill>
                  <a:srgbClr val="1F2A36"/>
                </a:solidFill>
                <a:latin typeface="Arial"/>
                <a:ea typeface="Arial"/>
                <a:cs typeface="Arial"/>
              </a:defRPr>
            </a:lvl5pPr>
            <a:lvl6pPr>
              <a:defRPr sz="2400" b="0">
                <a:solidFill>
                  <a:srgbClr val="1F2A36"/>
                </a:solidFill>
                <a:latin typeface="Arial"/>
                <a:ea typeface="Arial"/>
                <a:cs typeface="Arial"/>
              </a:defRPr>
            </a:lvl6pPr>
            <a:lvl7pPr>
              <a:defRPr sz="2400" b="0">
                <a:solidFill>
                  <a:srgbClr val="1F2A36"/>
                </a:solidFill>
                <a:latin typeface="Arial"/>
                <a:ea typeface="Arial"/>
                <a:cs typeface="Arial"/>
              </a:defRPr>
            </a:lvl7pPr>
            <a:lvl8pPr>
              <a:defRPr sz="2400" b="0">
                <a:solidFill>
                  <a:srgbClr val="1F2A36"/>
                </a:solidFill>
                <a:latin typeface="Arial"/>
                <a:ea typeface="Arial"/>
                <a:cs typeface="Arial"/>
              </a:defRPr>
            </a:lvl8pPr>
            <a:lvl9pPr>
              <a:defRPr sz="2400" b="0">
                <a:solidFill>
                  <a:srgbClr val="1F2A36"/>
                </a:solidFill>
                <a:latin typeface="Arial"/>
                <a:ea typeface="Arial"/>
                <a:cs typeface="Arial"/>
              </a:defRPr>
            </a:lvl9pPr>
          </a:lstStyle>
          <a:p>
            <a:pPr>
              <a:defRPr sz="2400" b="0">
                <a:solidFill>
                  <a:srgbClr val="1F2A36"/>
                </a:solidFill>
                <a:latin typeface="Arial"/>
                <a:ea typeface="Arial"/>
                <a:cs typeface="Arial"/>
              </a:defRPr>
            </a:pPr>
            <a:r>
              <a:rPr sz="2400" b="0">
                <a:solidFill>
                  <a:srgbClr val="1F2A36"/>
                </a:solidFill>
                <a:latin typeface="Arial"/>
                <a:ea typeface="Arial"/>
                <a:cs typeface="Arial"/>
              </a:rPr>
              <a:t>21.03 − ______ = estimated treatment effect</a:t>
            </a:r>
          </a:p>
        </p:txBody>
      </p:sp>
    </p:spTree>
    <p:extLst>
      <p:ext uri="{BB962C8B-B14F-4D97-AF65-F5344CB8AC3E}">
        <p14:creationId xmlns:p14="http://schemas.microsoft.com/office/powerpoint/2010/main" val="11138276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aphicFrame>
        <p:nvGraphicFramePr>
          <p:cNvPr id="9" name="Chart">
            <a:extLst>
              <a:ext uri="{FF2B5EF4-FFF2-40B4-BE49-F238E27FC236}">
                <a16:creationId xmlns:a16="http://schemas.microsoft.com/office/drawing/2014/main" id="{4BD53BAE-E850-4708-8F2F-8A2A60E5384C}"/>
              </a:ext>
            </a:extLst>
          </p:cNvPr>
          <p:cNvGraphicFramePr/>
          <p:nvPr/>
        </p:nvGraphicFramePr>
        <p:xfrm>
          <a:off x="552450" y="1381125"/>
          <a:ext cx="6762750" cy="4333875"/>
        </p:xfrm>
        <a:graphic>
          <a:graphicData uri="http://schemas.openxmlformats.org/drawingml/2006/chart">
            <c:chart xmlns:c="http://schemas.openxmlformats.org/drawingml/2006/chart" xmlns:r="http://schemas.openxmlformats.org/officeDocument/2006/relationships" r:id="rId3"/>
          </a:graphicData>
        </a:graphic>
      </p:graphicFrame>
      <p:sp>
        <p:nvSpPr>
          <p:cNvPr id="2" name="text-0">
            <a:extLst>
              <a:ext uri="{FF2B5EF4-FFF2-40B4-BE49-F238E27FC236}">
                <a16:creationId xmlns:a16="http://schemas.microsoft.com/office/drawing/2014/main" id="{C90835C9-4950-4450-A0C0-56784F09048C}"/>
              </a:ext>
            </a:extLst>
          </p:cNvPr>
          <p:cNvSpPr>
            <a:spLocks noGrp="1"/>
          </p:cNvSpPr>
          <p:nvPr/>
        </p:nvSpPr>
        <p:spPr>
          <a:xfrm>
            <a:off x="552450" y="361950"/>
            <a:ext cx="11087100" cy="857250"/>
          </a:xfrm>
          <a:prstGeom prst="rect">
            <a:avLst/>
          </a:prstGeom>
          <a:noFill/>
          <a:ln w="0">
            <a:noFill/>
            <a:prstDash val="solid"/>
          </a:ln>
        </p:spPr>
        <p:txBody>
          <a:bodyPr lIns="0" tIns="0" rIns="0" bIns="0" anchor="t"/>
          <a:lstStyle>
            <a:defPPr>
              <a:defRPr sz="3000" b="1">
                <a:solidFill>
                  <a:srgbClr val="1F2A36"/>
                </a:solidFill>
                <a:latin typeface="Arial"/>
                <a:ea typeface="Arial"/>
                <a:cs typeface="Arial"/>
              </a:defRPr>
            </a:defPPr>
            <a:lvl1pPr>
              <a:defRPr sz="3000" b="1">
                <a:solidFill>
                  <a:srgbClr val="1F2A36"/>
                </a:solidFill>
                <a:latin typeface="Arial"/>
                <a:ea typeface="Arial"/>
                <a:cs typeface="Arial"/>
              </a:defRPr>
            </a:lvl1pPr>
            <a:lvl2pPr>
              <a:defRPr sz="3000" b="1">
                <a:solidFill>
                  <a:srgbClr val="1F2A36"/>
                </a:solidFill>
                <a:latin typeface="Arial"/>
                <a:ea typeface="Arial"/>
                <a:cs typeface="Arial"/>
              </a:defRPr>
            </a:lvl2pPr>
            <a:lvl3pPr>
              <a:defRPr sz="3000" b="1">
                <a:solidFill>
                  <a:srgbClr val="1F2A36"/>
                </a:solidFill>
                <a:latin typeface="Arial"/>
                <a:ea typeface="Arial"/>
                <a:cs typeface="Arial"/>
              </a:defRPr>
            </a:lvl3pPr>
            <a:lvl4pPr>
              <a:defRPr sz="3000" b="1">
                <a:solidFill>
                  <a:srgbClr val="1F2A36"/>
                </a:solidFill>
                <a:latin typeface="Arial"/>
                <a:ea typeface="Arial"/>
                <a:cs typeface="Arial"/>
              </a:defRPr>
            </a:lvl4pPr>
            <a:lvl5pPr>
              <a:defRPr sz="3000" b="1">
                <a:solidFill>
                  <a:srgbClr val="1F2A36"/>
                </a:solidFill>
                <a:latin typeface="Arial"/>
                <a:ea typeface="Arial"/>
                <a:cs typeface="Arial"/>
              </a:defRPr>
            </a:lvl5pPr>
            <a:lvl6pPr>
              <a:defRPr sz="3000" b="1">
                <a:solidFill>
                  <a:srgbClr val="1F2A36"/>
                </a:solidFill>
                <a:latin typeface="Arial"/>
                <a:ea typeface="Arial"/>
                <a:cs typeface="Arial"/>
              </a:defRPr>
            </a:lvl6pPr>
            <a:lvl7pPr>
              <a:defRPr sz="3000" b="1">
                <a:solidFill>
                  <a:srgbClr val="1F2A36"/>
                </a:solidFill>
                <a:latin typeface="Arial"/>
                <a:ea typeface="Arial"/>
                <a:cs typeface="Arial"/>
              </a:defRPr>
            </a:lvl7pPr>
            <a:lvl8pPr>
              <a:defRPr sz="3000" b="1">
                <a:solidFill>
                  <a:srgbClr val="1F2A36"/>
                </a:solidFill>
                <a:latin typeface="Arial"/>
                <a:ea typeface="Arial"/>
                <a:cs typeface="Arial"/>
              </a:defRPr>
            </a:lvl8pPr>
            <a:lvl9pPr>
              <a:defRPr sz="3000" b="1">
                <a:solidFill>
                  <a:srgbClr val="1F2A36"/>
                </a:solidFill>
                <a:latin typeface="Arial"/>
                <a:ea typeface="Arial"/>
                <a:cs typeface="Arial"/>
              </a:defRPr>
            </a:lvl9pPr>
          </a:lstStyle>
          <a:p>
            <a:pPr>
              <a:defRPr sz="3000" b="1">
                <a:solidFill>
                  <a:srgbClr val="1F2A36"/>
                </a:solidFill>
                <a:latin typeface="Arial"/>
                <a:ea typeface="Arial"/>
                <a:cs typeface="Arial"/>
              </a:defRPr>
            </a:pPr>
            <a:r>
              <a:rPr sz="3000" b="1">
                <a:solidFill>
                  <a:srgbClr val="1F2A36"/>
                </a:solidFill>
                <a:latin typeface="Arial"/>
                <a:ea typeface="Arial"/>
                <a:cs typeface="Arial"/>
              </a:rPr>
              <a:t>Parallel trends defines the missing outcome</a:t>
            </a:r>
          </a:p>
        </p:txBody>
      </p:sp>
      <p:sp>
        <p:nvSpPr>
          <p:cNvPr id="3" name="text-1">
            <a:extLst>
              <a:ext uri="{FF2B5EF4-FFF2-40B4-BE49-F238E27FC236}">
                <a16:creationId xmlns:a16="http://schemas.microsoft.com/office/drawing/2014/main" id="{4AD9547B-ECB2-42B6-92FA-D375DDE13DAC}"/>
              </a:ext>
            </a:extLst>
          </p:cNvPr>
          <p:cNvSpPr>
            <a:spLocks noGrp="1"/>
          </p:cNvSpPr>
          <p:nvPr/>
        </p:nvSpPr>
        <p:spPr>
          <a:xfrm>
            <a:off x="11239500" y="6400800"/>
            <a:ext cx="476250" cy="266700"/>
          </a:xfrm>
          <a:prstGeom prst="rect">
            <a:avLst/>
          </a:prstGeom>
          <a:noFill/>
          <a:ln w="0">
            <a:noFill/>
            <a:prstDash val="solid"/>
          </a:ln>
        </p:spPr>
        <p:txBody>
          <a:bodyPr lIns="0" tIns="0" rIns="0" bIns="0" anchor="t"/>
          <a:lstStyle>
            <a:defPPr>
              <a:defRPr sz="1350" b="0">
                <a:solidFill>
                  <a:srgbClr val="5B6B78"/>
                </a:solidFill>
                <a:latin typeface="Arial"/>
                <a:ea typeface="Arial"/>
                <a:cs typeface="Arial"/>
              </a:defRPr>
            </a:defPPr>
            <a:lvl1pPr>
              <a:defRPr sz="1350" b="0">
                <a:solidFill>
                  <a:srgbClr val="5B6B78"/>
                </a:solidFill>
                <a:latin typeface="Arial"/>
                <a:ea typeface="Arial"/>
                <a:cs typeface="Arial"/>
              </a:defRPr>
            </a:lvl1pPr>
            <a:lvl2pPr>
              <a:defRPr sz="1350" b="0">
                <a:solidFill>
                  <a:srgbClr val="5B6B78"/>
                </a:solidFill>
                <a:latin typeface="Arial"/>
                <a:ea typeface="Arial"/>
                <a:cs typeface="Arial"/>
              </a:defRPr>
            </a:lvl2pPr>
            <a:lvl3pPr>
              <a:defRPr sz="1350" b="0">
                <a:solidFill>
                  <a:srgbClr val="5B6B78"/>
                </a:solidFill>
                <a:latin typeface="Arial"/>
                <a:ea typeface="Arial"/>
                <a:cs typeface="Arial"/>
              </a:defRPr>
            </a:lvl3pPr>
            <a:lvl4pPr>
              <a:defRPr sz="1350" b="0">
                <a:solidFill>
                  <a:srgbClr val="5B6B78"/>
                </a:solidFill>
                <a:latin typeface="Arial"/>
                <a:ea typeface="Arial"/>
                <a:cs typeface="Arial"/>
              </a:defRPr>
            </a:lvl4pPr>
            <a:lvl5pPr>
              <a:defRPr sz="1350" b="0">
                <a:solidFill>
                  <a:srgbClr val="5B6B78"/>
                </a:solidFill>
                <a:latin typeface="Arial"/>
                <a:ea typeface="Arial"/>
                <a:cs typeface="Arial"/>
              </a:defRPr>
            </a:lvl5pPr>
            <a:lvl6pPr>
              <a:defRPr sz="1350" b="0">
                <a:solidFill>
                  <a:srgbClr val="5B6B78"/>
                </a:solidFill>
                <a:latin typeface="Arial"/>
                <a:ea typeface="Arial"/>
                <a:cs typeface="Arial"/>
              </a:defRPr>
            </a:lvl6pPr>
            <a:lvl7pPr>
              <a:defRPr sz="1350" b="0">
                <a:solidFill>
                  <a:srgbClr val="5B6B78"/>
                </a:solidFill>
                <a:latin typeface="Arial"/>
                <a:ea typeface="Arial"/>
                <a:cs typeface="Arial"/>
              </a:defRPr>
            </a:lvl7pPr>
            <a:lvl8pPr>
              <a:defRPr sz="1350" b="0">
                <a:solidFill>
                  <a:srgbClr val="5B6B78"/>
                </a:solidFill>
                <a:latin typeface="Arial"/>
                <a:ea typeface="Arial"/>
                <a:cs typeface="Arial"/>
              </a:defRPr>
            </a:lvl8pPr>
            <a:lvl9pPr>
              <a:defRPr sz="1350" b="0">
                <a:solidFill>
                  <a:srgbClr val="5B6B78"/>
                </a:solidFill>
                <a:latin typeface="Arial"/>
                <a:ea typeface="Arial"/>
                <a:cs typeface="Arial"/>
              </a:defRPr>
            </a:lvl9pPr>
          </a:lstStyle>
          <a:p>
            <a:pPr>
              <a:defRPr sz="1350" b="0">
                <a:solidFill>
                  <a:srgbClr val="5B6B78"/>
                </a:solidFill>
                <a:latin typeface="Arial"/>
                <a:ea typeface="Arial"/>
                <a:cs typeface="Arial"/>
              </a:defRPr>
            </a:pPr>
            <a:r>
              <a:rPr sz="1350" b="0">
                <a:solidFill>
                  <a:srgbClr val="5B6B78"/>
                </a:solidFill>
                <a:latin typeface="Arial"/>
                <a:ea typeface="Arial"/>
                <a:cs typeface="Arial"/>
              </a:rPr>
              <a:t>5</a:t>
            </a:r>
          </a:p>
        </p:txBody>
      </p:sp>
      <p:sp>
        <p:nvSpPr>
          <p:cNvPr id="4" name="text-2">
            <a:extLst>
              <a:ext uri="{FF2B5EF4-FFF2-40B4-BE49-F238E27FC236}">
                <a16:creationId xmlns:a16="http://schemas.microsoft.com/office/drawing/2014/main" id="{1FCE0F06-E56C-4C4A-873C-A2F3A43D3A04}"/>
              </a:ext>
            </a:extLst>
          </p:cNvPr>
          <p:cNvSpPr>
            <a:spLocks noGrp="1"/>
          </p:cNvSpPr>
          <p:nvPr/>
        </p:nvSpPr>
        <p:spPr>
          <a:xfrm>
            <a:off x="7677150" y="1524000"/>
            <a:ext cx="3905250" cy="428625"/>
          </a:xfrm>
          <a:prstGeom prst="rect">
            <a:avLst/>
          </a:prstGeom>
          <a:noFill/>
          <a:ln w="0">
            <a:noFill/>
            <a:prstDash val="solid"/>
          </a:ln>
        </p:spPr>
        <p:txBody>
          <a:bodyPr lIns="0" tIns="0" rIns="0" bIns="0" anchor="t"/>
          <a:lstStyle>
            <a:defPPr>
              <a:defRPr sz="2100" b="1">
                <a:solidFill>
                  <a:srgbClr val="2E6F73"/>
                </a:solidFill>
                <a:latin typeface="Arial"/>
                <a:ea typeface="Arial"/>
                <a:cs typeface="Arial"/>
              </a:defRPr>
            </a:defPPr>
            <a:lvl1pPr>
              <a:defRPr sz="2100" b="1">
                <a:solidFill>
                  <a:srgbClr val="2E6F73"/>
                </a:solidFill>
                <a:latin typeface="Arial"/>
                <a:ea typeface="Arial"/>
                <a:cs typeface="Arial"/>
              </a:defRPr>
            </a:lvl1pPr>
            <a:lvl2pPr>
              <a:defRPr sz="2100" b="1">
                <a:solidFill>
                  <a:srgbClr val="2E6F73"/>
                </a:solidFill>
                <a:latin typeface="Arial"/>
                <a:ea typeface="Arial"/>
                <a:cs typeface="Arial"/>
              </a:defRPr>
            </a:lvl2pPr>
            <a:lvl3pPr>
              <a:defRPr sz="2100" b="1">
                <a:solidFill>
                  <a:srgbClr val="2E6F73"/>
                </a:solidFill>
                <a:latin typeface="Arial"/>
                <a:ea typeface="Arial"/>
                <a:cs typeface="Arial"/>
              </a:defRPr>
            </a:lvl3pPr>
            <a:lvl4pPr>
              <a:defRPr sz="2100" b="1">
                <a:solidFill>
                  <a:srgbClr val="2E6F73"/>
                </a:solidFill>
                <a:latin typeface="Arial"/>
                <a:ea typeface="Arial"/>
                <a:cs typeface="Arial"/>
              </a:defRPr>
            </a:lvl4pPr>
            <a:lvl5pPr>
              <a:defRPr sz="2100" b="1">
                <a:solidFill>
                  <a:srgbClr val="2E6F73"/>
                </a:solidFill>
                <a:latin typeface="Arial"/>
                <a:ea typeface="Arial"/>
                <a:cs typeface="Arial"/>
              </a:defRPr>
            </a:lvl5pPr>
            <a:lvl6pPr>
              <a:defRPr sz="2100" b="1">
                <a:solidFill>
                  <a:srgbClr val="2E6F73"/>
                </a:solidFill>
                <a:latin typeface="Arial"/>
                <a:ea typeface="Arial"/>
                <a:cs typeface="Arial"/>
              </a:defRPr>
            </a:lvl6pPr>
            <a:lvl7pPr>
              <a:defRPr sz="2100" b="1">
                <a:solidFill>
                  <a:srgbClr val="2E6F73"/>
                </a:solidFill>
                <a:latin typeface="Arial"/>
                <a:ea typeface="Arial"/>
                <a:cs typeface="Arial"/>
              </a:defRPr>
            </a:lvl7pPr>
            <a:lvl8pPr>
              <a:defRPr sz="2100" b="1">
                <a:solidFill>
                  <a:srgbClr val="2E6F73"/>
                </a:solidFill>
                <a:latin typeface="Arial"/>
                <a:ea typeface="Arial"/>
                <a:cs typeface="Arial"/>
              </a:defRPr>
            </a:lvl8pPr>
            <a:lvl9pPr>
              <a:defRPr sz="2100" b="1">
                <a:solidFill>
                  <a:srgbClr val="2E6F73"/>
                </a:solidFill>
                <a:latin typeface="Arial"/>
                <a:ea typeface="Arial"/>
                <a:cs typeface="Arial"/>
              </a:defRPr>
            </a:lvl9pPr>
          </a:lstStyle>
          <a:p>
            <a:pPr>
              <a:defRPr sz="2100" b="1">
                <a:solidFill>
                  <a:srgbClr val="2E6F73"/>
                </a:solidFill>
                <a:latin typeface="Arial"/>
                <a:ea typeface="Arial"/>
                <a:cs typeface="Arial"/>
              </a:defRPr>
            </a:pPr>
            <a:r>
              <a:rPr sz="2100" b="1">
                <a:solidFill>
                  <a:srgbClr val="2E6F73"/>
                </a:solidFill>
                <a:latin typeface="Arial"/>
                <a:ea typeface="Arial"/>
                <a:cs typeface="Arial"/>
              </a:rPr>
              <a:t>Without treatment</a:t>
            </a:r>
          </a:p>
        </p:txBody>
      </p:sp>
      <p:sp>
        <p:nvSpPr>
          <p:cNvPr id="5" name="text-3">
            <a:extLst>
              <a:ext uri="{FF2B5EF4-FFF2-40B4-BE49-F238E27FC236}">
                <a16:creationId xmlns:a16="http://schemas.microsoft.com/office/drawing/2014/main" id="{11858DB2-80F4-48D3-8FD0-C52370FE4AA8}"/>
              </a:ext>
            </a:extLst>
          </p:cNvPr>
          <p:cNvSpPr>
            <a:spLocks noGrp="1"/>
          </p:cNvSpPr>
          <p:nvPr/>
        </p:nvSpPr>
        <p:spPr>
          <a:xfrm>
            <a:off x="7677150" y="2009775"/>
            <a:ext cx="3857625" cy="1000125"/>
          </a:xfrm>
          <a:prstGeom prst="rect">
            <a:avLst/>
          </a:prstGeom>
          <a:noFill/>
          <a:ln w="0">
            <a:noFill/>
            <a:prstDash val="solid"/>
          </a:ln>
        </p:spPr>
        <p:txBody>
          <a:bodyPr lIns="0" tIns="0" rIns="0" bIns="0" anchor="t"/>
          <a:lstStyle>
            <a:defPPr>
              <a:defRPr sz="2175" b="0">
                <a:solidFill>
                  <a:srgbClr val="1F2A36"/>
                </a:solidFill>
                <a:latin typeface="Arial"/>
                <a:ea typeface="Arial"/>
                <a:cs typeface="Arial"/>
              </a:defRPr>
            </a:defPPr>
            <a:lvl1pPr>
              <a:defRPr sz="2175" b="0">
                <a:solidFill>
                  <a:srgbClr val="1F2A36"/>
                </a:solidFill>
                <a:latin typeface="Arial"/>
                <a:ea typeface="Arial"/>
                <a:cs typeface="Arial"/>
              </a:defRPr>
            </a:lvl1pPr>
            <a:lvl2pPr>
              <a:defRPr sz="2175" b="0">
                <a:solidFill>
                  <a:srgbClr val="1F2A36"/>
                </a:solidFill>
                <a:latin typeface="Arial"/>
                <a:ea typeface="Arial"/>
                <a:cs typeface="Arial"/>
              </a:defRPr>
            </a:lvl2pPr>
            <a:lvl3pPr>
              <a:defRPr sz="2175" b="0">
                <a:solidFill>
                  <a:srgbClr val="1F2A36"/>
                </a:solidFill>
                <a:latin typeface="Arial"/>
                <a:ea typeface="Arial"/>
                <a:cs typeface="Arial"/>
              </a:defRPr>
            </a:lvl3pPr>
            <a:lvl4pPr>
              <a:defRPr sz="2175" b="0">
                <a:solidFill>
                  <a:srgbClr val="1F2A36"/>
                </a:solidFill>
                <a:latin typeface="Arial"/>
                <a:ea typeface="Arial"/>
                <a:cs typeface="Arial"/>
              </a:defRPr>
            </a:lvl4pPr>
            <a:lvl5pPr>
              <a:defRPr sz="2175" b="0">
                <a:solidFill>
                  <a:srgbClr val="1F2A36"/>
                </a:solidFill>
                <a:latin typeface="Arial"/>
                <a:ea typeface="Arial"/>
                <a:cs typeface="Arial"/>
              </a:defRPr>
            </a:lvl5pPr>
            <a:lvl6pPr>
              <a:defRPr sz="2175" b="0">
                <a:solidFill>
                  <a:srgbClr val="1F2A36"/>
                </a:solidFill>
                <a:latin typeface="Arial"/>
                <a:ea typeface="Arial"/>
                <a:cs typeface="Arial"/>
              </a:defRPr>
            </a:lvl6pPr>
            <a:lvl7pPr>
              <a:defRPr sz="2175" b="0">
                <a:solidFill>
                  <a:srgbClr val="1F2A36"/>
                </a:solidFill>
                <a:latin typeface="Arial"/>
                <a:ea typeface="Arial"/>
                <a:cs typeface="Arial"/>
              </a:defRPr>
            </a:lvl7pPr>
            <a:lvl8pPr>
              <a:defRPr sz="2175" b="0">
                <a:solidFill>
                  <a:srgbClr val="1F2A36"/>
                </a:solidFill>
                <a:latin typeface="Arial"/>
                <a:ea typeface="Arial"/>
                <a:cs typeface="Arial"/>
              </a:defRPr>
            </a:lvl8pPr>
            <a:lvl9pPr>
              <a:defRPr sz="2175" b="0">
                <a:solidFill>
                  <a:srgbClr val="1F2A36"/>
                </a:solidFill>
                <a:latin typeface="Arial"/>
                <a:ea typeface="Arial"/>
                <a:cs typeface="Arial"/>
              </a:defRPr>
            </a:lvl9pPr>
          </a:lstStyle>
          <a:p>
            <a:pPr>
              <a:defRPr sz="2175" b="0">
                <a:solidFill>
                  <a:srgbClr val="1F2A36"/>
                </a:solidFill>
                <a:latin typeface="Arial"/>
                <a:ea typeface="Arial"/>
                <a:cs typeface="Arial"/>
              </a:defRPr>
            </a:pPr>
            <a:r>
              <a:rPr sz="2175" b="0">
                <a:solidFill>
                  <a:srgbClr val="1F2A36"/>
                </a:solidFill>
                <a:latin typeface="Arial"/>
                <a:ea typeface="Arial"/>
                <a:cs typeface="Arial"/>
              </a:rPr>
              <a:t>Average changes would match the comparison group.</a:t>
            </a:r>
          </a:p>
        </p:txBody>
      </p:sp>
      <p:sp>
        <p:nvSpPr>
          <p:cNvPr id="6" name="text-4">
            <a:extLst>
              <a:ext uri="{FF2B5EF4-FFF2-40B4-BE49-F238E27FC236}">
                <a16:creationId xmlns:a16="http://schemas.microsoft.com/office/drawing/2014/main" id="{07D9AEF2-411B-4686-9F56-D43045204F86}"/>
              </a:ext>
            </a:extLst>
          </p:cNvPr>
          <p:cNvSpPr>
            <a:spLocks noGrp="1"/>
          </p:cNvSpPr>
          <p:nvPr/>
        </p:nvSpPr>
        <p:spPr>
          <a:xfrm>
            <a:off x="7677150" y="3381375"/>
            <a:ext cx="3857625" cy="428625"/>
          </a:xfrm>
          <a:prstGeom prst="rect">
            <a:avLst/>
          </a:prstGeom>
          <a:noFill/>
          <a:ln w="0">
            <a:noFill/>
            <a:prstDash val="solid"/>
          </a:ln>
        </p:spPr>
        <p:txBody>
          <a:bodyPr lIns="0" tIns="0" rIns="0" bIns="0" anchor="t"/>
          <a:lstStyle>
            <a:defPPr>
              <a:defRPr sz="2100" b="1">
                <a:solidFill>
                  <a:srgbClr val="2E6F73"/>
                </a:solidFill>
                <a:latin typeface="Arial"/>
                <a:ea typeface="Arial"/>
                <a:cs typeface="Arial"/>
              </a:defRPr>
            </a:defPPr>
            <a:lvl1pPr>
              <a:defRPr sz="2100" b="1">
                <a:solidFill>
                  <a:srgbClr val="2E6F73"/>
                </a:solidFill>
                <a:latin typeface="Arial"/>
                <a:ea typeface="Arial"/>
                <a:cs typeface="Arial"/>
              </a:defRPr>
            </a:lvl1pPr>
            <a:lvl2pPr>
              <a:defRPr sz="2100" b="1">
                <a:solidFill>
                  <a:srgbClr val="2E6F73"/>
                </a:solidFill>
                <a:latin typeface="Arial"/>
                <a:ea typeface="Arial"/>
                <a:cs typeface="Arial"/>
              </a:defRPr>
            </a:lvl2pPr>
            <a:lvl3pPr>
              <a:defRPr sz="2100" b="1">
                <a:solidFill>
                  <a:srgbClr val="2E6F73"/>
                </a:solidFill>
                <a:latin typeface="Arial"/>
                <a:ea typeface="Arial"/>
                <a:cs typeface="Arial"/>
              </a:defRPr>
            </a:lvl3pPr>
            <a:lvl4pPr>
              <a:defRPr sz="2100" b="1">
                <a:solidFill>
                  <a:srgbClr val="2E6F73"/>
                </a:solidFill>
                <a:latin typeface="Arial"/>
                <a:ea typeface="Arial"/>
                <a:cs typeface="Arial"/>
              </a:defRPr>
            </a:lvl4pPr>
            <a:lvl5pPr>
              <a:defRPr sz="2100" b="1">
                <a:solidFill>
                  <a:srgbClr val="2E6F73"/>
                </a:solidFill>
                <a:latin typeface="Arial"/>
                <a:ea typeface="Arial"/>
                <a:cs typeface="Arial"/>
              </a:defRPr>
            </a:lvl5pPr>
            <a:lvl6pPr>
              <a:defRPr sz="2100" b="1">
                <a:solidFill>
                  <a:srgbClr val="2E6F73"/>
                </a:solidFill>
                <a:latin typeface="Arial"/>
                <a:ea typeface="Arial"/>
                <a:cs typeface="Arial"/>
              </a:defRPr>
            </a:lvl6pPr>
            <a:lvl7pPr>
              <a:defRPr sz="2100" b="1">
                <a:solidFill>
                  <a:srgbClr val="2E6F73"/>
                </a:solidFill>
                <a:latin typeface="Arial"/>
                <a:ea typeface="Arial"/>
                <a:cs typeface="Arial"/>
              </a:defRPr>
            </a:lvl7pPr>
            <a:lvl8pPr>
              <a:defRPr sz="2100" b="1">
                <a:solidFill>
                  <a:srgbClr val="2E6F73"/>
                </a:solidFill>
                <a:latin typeface="Arial"/>
                <a:ea typeface="Arial"/>
                <a:cs typeface="Arial"/>
              </a:defRPr>
            </a:lvl8pPr>
            <a:lvl9pPr>
              <a:defRPr sz="2100" b="1">
                <a:solidFill>
                  <a:srgbClr val="2E6F73"/>
                </a:solidFill>
                <a:latin typeface="Arial"/>
                <a:ea typeface="Arial"/>
                <a:cs typeface="Arial"/>
              </a:defRPr>
            </a:lvl9pPr>
          </a:lstStyle>
          <a:p>
            <a:pPr>
              <a:defRPr sz="2100" b="1">
                <a:solidFill>
                  <a:srgbClr val="2E6F73"/>
                </a:solidFill>
                <a:latin typeface="Arial"/>
                <a:ea typeface="Arial"/>
                <a:cs typeface="Arial"/>
              </a:defRPr>
            </a:pPr>
            <a:r>
              <a:rPr sz="2100" b="1">
                <a:solidFill>
                  <a:srgbClr val="2E6F73"/>
                </a:solidFill>
                <a:latin typeface="Arial"/>
                <a:ea typeface="Arial"/>
                <a:cs typeface="Arial"/>
              </a:rPr>
              <a:t>After treatment</a:t>
            </a:r>
          </a:p>
        </p:txBody>
      </p:sp>
      <p:sp>
        <p:nvSpPr>
          <p:cNvPr id="7" name="text-5">
            <a:extLst>
              <a:ext uri="{FF2B5EF4-FFF2-40B4-BE49-F238E27FC236}">
                <a16:creationId xmlns:a16="http://schemas.microsoft.com/office/drawing/2014/main" id="{A9492F98-BD79-47BB-953F-3F812BCB5CA0}"/>
              </a:ext>
            </a:extLst>
          </p:cNvPr>
          <p:cNvSpPr>
            <a:spLocks noGrp="1"/>
          </p:cNvSpPr>
          <p:nvPr/>
        </p:nvSpPr>
        <p:spPr>
          <a:xfrm>
            <a:off x="7677150" y="3876675"/>
            <a:ext cx="3857625" cy="1238250"/>
          </a:xfrm>
          <a:prstGeom prst="rect">
            <a:avLst/>
          </a:prstGeom>
          <a:noFill/>
          <a:ln w="0">
            <a:noFill/>
            <a:prstDash val="solid"/>
          </a:ln>
        </p:spPr>
        <p:txBody>
          <a:bodyPr lIns="0" tIns="0" rIns="0" bIns="0" anchor="t"/>
          <a:lstStyle>
            <a:defPPr>
              <a:defRPr sz="2175" b="0">
                <a:solidFill>
                  <a:srgbClr val="1F2A36"/>
                </a:solidFill>
                <a:latin typeface="Arial"/>
                <a:ea typeface="Arial"/>
                <a:cs typeface="Arial"/>
              </a:defRPr>
            </a:defPPr>
            <a:lvl1pPr>
              <a:defRPr sz="2175" b="0">
                <a:solidFill>
                  <a:srgbClr val="1F2A36"/>
                </a:solidFill>
                <a:latin typeface="Arial"/>
                <a:ea typeface="Arial"/>
                <a:cs typeface="Arial"/>
              </a:defRPr>
            </a:lvl1pPr>
            <a:lvl2pPr>
              <a:defRPr sz="2175" b="0">
                <a:solidFill>
                  <a:srgbClr val="1F2A36"/>
                </a:solidFill>
                <a:latin typeface="Arial"/>
                <a:ea typeface="Arial"/>
                <a:cs typeface="Arial"/>
              </a:defRPr>
            </a:lvl2pPr>
            <a:lvl3pPr>
              <a:defRPr sz="2175" b="0">
                <a:solidFill>
                  <a:srgbClr val="1F2A36"/>
                </a:solidFill>
                <a:latin typeface="Arial"/>
                <a:ea typeface="Arial"/>
                <a:cs typeface="Arial"/>
              </a:defRPr>
            </a:lvl3pPr>
            <a:lvl4pPr>
              <a:defRPr sz="2175" b="0">
                <a:solidFill>
                  <a:srgbClr val="1F2A36"/>
                </a:solidFill>
                <a:latin typeface="Arial"/>
                <a:ea typeface="Arial"/>
                <a:cs typeface="Arial"/>
              </a:defRPr>
            </a:lvl4pPr>
            <a:lvl5pPr>
              <a:defRPr sz="2175" b="0">
                <a:solidFill>
                  <a:srgbClr val="1F2A36"/>
                </a:solidFill>
                <a:latin typeface="Arial"/>
                <a:ea typeface="Arial"/>
                <a:cs typeface="Arial"/>
              </a:defRPr>
            </a:lvl5pPr>
            <a:lvl6pPr>
              <a:defRPr sz="2175" b="0">
                <a:solidFill>
                  <a:srgbClr val="1F2A36"/>
                </a:solidFill>
                <a:latin typeface="Arial"/>
                <a:ea typeface="Arial"/>
                <a:cs typeface="Arial"/>
              </a:defRPr>
            </a:lvl6pPr>
            <a:lvl7pPr>
              <a:defRPr sz="2175" b="0">
                <a:solidFill>
                  <a:srgbClr val="1F2A36"/>
                </a:solidFill>
                <a:latin typeface="Arial"/>
                <a:ea typeface="Arial"/>
                <a:cs typeface="Arial"/>
              </a:defRPr>
            </a:lvl7pPr>
            <a:lvl8pPr>
              <a:defRPr sz="2175" b="0">
                <a:solidFill>
                  <a:srgbClr val="1F2A36"/>
                </a:solidFill>
                <a:latin typeface="Arial"/>
                <a:ea typeface="Arial"/>
                <a:cs typeface="Arial"/>
              </a:defRPr>
            </a:lvl8pPr>
            <a:lvl9pPr>
              <a:defRPr sz="2175" b="0">
                <a:solidFill>
                  <a:srgbClr val="1F2A36"/>
                </a:solidFill>
                <a:latin typeface="Arial"/>
                <a:ea typeface="Arial"/>
                <a:cs typeface="Arial"/>
              </a:defRPr>
            </a:lvl9pPr>
          </a:lstStyle>
          <a:p>
            <a:pPr>
              <a:defRPr sz="2175" b="0">
                <a:solidFill>
                  <a:srgbClr val="1F2A36"/>
                </a:solidFill>
                <a:latin typeface="Arial"/>
                <a:ea typeface="Arial"/>
                <a:cs typeface="Arial"/>
              </a:defRPr>
            </a:pPr>
            <a:r>
              <a:rPr sz="2175" b="0">
                <a:solidFill>
                  <a:srgbClr val="1F2A36"/>
                </a:solidFill>
                <a:latin typeface="Arial"/>
                <a:ea typeface="Arial"/>
                <a:cs typeface="Arial"/>
              </a:rPr>
              <a:t>Observed trends can diverge because treatment has an effect.</a:t>
            </a:r>
          </a:p>
        </p:txBody>
      </p:sp>
      <p:sp>
        <p:nvSpPr>
          <p:cNvPr id="8" name="text-6">
            <a:extLst>
              <a:ext uri="{FF2B5EF4-FFF2-40B4-BE49-F238E27FC236}">
                <a16:creationId xmlns:a16="http://schemas.microsoft.com/office/drawing/2014/main" id="{1CA14260-8AEA-4B20-AA52-771E101ED20E}"/>
              </a:ext>
            </a:extLst>
          </p:cNvPr>
          <p:cNvSpPr>
            <a:spLocks noGrp="1"/>
          </p:cNvSpPr>
          <p:nvPr/>
        </p:nvSpPr>
        <p:spPr>
          <a:xfrm>
            <a:off x="552450" y="5857875"/>
            <a:ext cx="10858500" cy="342900"/>
          </a:xfrm>
          <a:prstGeom prst="rect">
            <a:avLst/>
          </a:prstGeom>
          <a:noFill/>
          <a:ln w="0">
            <a:noFill/>
            <a:prstDash val="solid"/>
          </a:ln>
        </p:spPr>
        <p:txBody>
          <a:bodyPr lIns="0" tIns="0" rIns="0" bIns="0" anchor="t"/>
          <a:lstStyle>
            <a:defPPr>
              <a:defRPr sz="1500" b="0">
                <a:solidFill>
                  <a:srgbClr val="5B6B78"/>
                </a:solidFill>
                <a:latin typeface="Arial"/>
                <a:ea typeface="Arial"/>
                <a:cs typeface="Arial"/>
              </a:defRPr>
            </a:defPPr>
            <a:lvl1pPr>
              <a:defRPr sz="1500" b="0">
                <a:solidFill>
                  <a:srgbClr val="5B6B78"/>
                </a:solidFill>
                <a:latin typeface="Arial"/>
                <a:ea typeface="Arial"/>
                <a:cs typeface="Arial"/>
              </a:defRPr>
            </a:lvl1pPr>
            <a:lvl2pPr>
              <a:defRPr sz="1500" b="0">
                <a:solidFill>
                  <a:srgbClr val="5B6B78"/>
                </a:solidFill>
                <a:latin typeface="Arial"/>
                <a:ea typeface="Arial"/>
                <a:cs typeface="Arial"/>
              </a:defRPr>
            </a:lvl2pPr>
            <a:lvl3pPr>
              <a:defRPr sz="1500" b="0">
                <a:solidFill>
                  <a:srgbClr val="5B6B78"/>
                </a:solidFill>
                <a:latin typeface="Arial"/>
                <a:ea typeface="Arial"/>
                <a:cs typeface="Arial"/>
              </a:defRPr>
            </a:lvl3pPr>
            <a:lvl4pPr>
              <a:defRPr sz="1500" b="0">
                <a:solidFill>
                  <a:srgbClr val="5B6B78"/>
                </a:solidFill>
                <a:latin typeface="Arial"/>
                <a:ea typeface="Arial"/>
                <a:cs typeface="Arial"/>
              </a:defRPr>
            </a:lvl4pPr>
            <a:lvl5pPr>
              <a:defRPr sz="1500" b="0">
                <a:solidFill>
                  <a:srgbClr val="5B6B78"/>
                </a:solidFill>
                <a:latin typeface="Arial"/>
                <a:ea typeface="Arial"/>
                <a:cs typeface="Arial"/>
              </a:defRPr>
            </a:lvl5pPr>
            <a:lvl6pPr>
              <a:defRPr sz="1500" b="0">
                <a:solidFill>
                  <a:srgbClr val="5B6B78"/>
                </a:solidFill>
                <a:latin typeface="Arial"/>
                <a:ea typeface="Arial"/>
                <a:cs typeface="Arial"/>
              </a:defRPr>
            </a:lvl6pPr>
            <a:lvl7pPr>
              <a:defRPr sz="1500" b="0">
                <a:solidFill>
                  <a:srgbClr val="5B6B78"/>
                </a:solidFill>
                <a:latin typeface="Arial"/>
                <a:ea typeface="Arial"/>
                <a:cs typeface="Arial"/>
              </a:defRPr>
            </a:lvl7pPr>
            <a:lvl8pPr>
              <a:defRPr sz="1500" b="0">
                <a:solidFill>
                  <a:srgbClr val="5B6B78"/>
                </a:solidFill>
                <a:latin typeface="Arial"/>
                <a:ea typeface="Arial"/>
                <a:cs typeface="Arial"/>
              </a:defRPr>
            </a:lvl8pPr>
            <a:lvl9pPr>
              <a:defRPr sz="1500" b="0">
                <a:solidFill>
                  <a:srgbClr val="5B6B78"/>
                </a:solidFill>
                <a:latin typeface="Arial"/>
                <a:ea typeface="Arial"/>
                <a:cs typeface="Arial"/>
              </a:defRPr>
            </a:lvl9pPr>
          </a:lstStyle>
          <a:p>
            <a:pPr>
              <a:defRPr sz="1500" b="0">
                <a:solidFill>
                  <a:srgbClr val="5B6B78"/>
                </a:solidFill>
                <a:latin typeface="Arial"/>
                <a:ea typeface="Arial"/>
                <a:cs typeface="Arial"/>
              </a:defRPr>
            </a:pPr>
            <a:r>
              <a:rPr sz="1500" b="0">
                <a:solidFill>
                  <a:srgbClr val="5B6B78"/>
                </a:solidFill>
                <a:latin typeface="Arial"/>
                <a:ea typeface="Arial"/>
                <a:cs typeface="Arial"/>
              </a:rPr>
              <a:t>Illustrative data. Treatment starts after Year 3. Dashed line = untreated counterfactual.</a:t>
            </a:r>
          </a:p>
        </p:txBody>
      </p:sp>
    </p:spTree>
    <p:extLst>
      <p:ext uri="{BB962C8B-B14F-4D97-AF65-F5344CB8AC3E}">
        <p14:creationId xmlns:p14="http://schemas.microsoft.com/office/powerpoint/2010/main" val="600715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text-0">
            <a:extLst>
              <a:ext uri="{FF2B5EF4-FFF2-40B4-BE49-F238E27FC236}">
                <a16:creationId xmlns:a16="http://schemas.microsoft.com/office/drawing/2014/main" id="{B86340E0-0994-41AF-B393-CCCCD37DBE08}"/>
              </a:ext>
            </a:extLst>
          </p:cNvPr>
          <p:cNvSpPr>
            <a:spLocks noGrp="1"/>
          </p:cNvSpPr>
          <p:nvPr/>
        </p:nvSpPr>
        <p:spPr>
          <a:xfrm>
            <a:off x="552450" y="361950"/>
            <a:ext cx="11087100" cy="857250"/>
          </a:xfrm>
          <a:prstGeom prst="rect">
            <a:avLst/>
          </a:prstGeom>
          <a:noFill/>
          <a:ln w="0">
            <a:noFill/>
            <a:prstDash val="solid"/>
          </a:ln>
        </p:spPr>
        <p:txBody>
          <a:bodyPr lIns="0" tIns="0" rIns="0" bIns="0" anchor="t"/>
          <a:lstStyle>
            <a:defPPr>
              <a:defRPr sz="3000" b="1">
                <a:solidFill>
                  <a:srgbClr val="1F2A36"/>
                </a:solidFill>
                <a:latin typeface="Arial"/>
                <a:ea typeface="Arial"/>
                <a:cs typeface="Arial"/>
              </a:defRPr>
            </a:defPPr>
            <a:lvl1pPr>
              <a:defRPr sz="3000" b="1">
                <a:solidFill>
                  <a:srgbClr val="1F2A36"/>
                </a:solidFill>
                <a:latin typeface="Arial"/>
                <a:ea typeface="Arial"/>
                <a:cs typeface="Arial"/>
              </a:defRPr>
            </a:lvl1pPr>
            <a:lvl2pPr>
              <a:defRPr sz="3000" b="1">
                <a:solidFill>
                  <a:srgbClr val="1F2A36"/>
                </a:solidFill>
                <a:latin typeface="Arial"/>
                <a:ea typeface="Arial"/>
                <a:cs typeface="Arial"/>
              </a:defRPr>
            </a:lvl2pPr>
            <a:lvl3pPr>
              <a:defRPr sz="3000" b="1">
                <a:solidFill>
                  <a:srgbClr val="1F2A36"/>
                </a:solidFill>
                <a:latin typeface="Arial"/>
                <a:ea typeface="Arial"/>
                <a:cs typeface="Arial"/>
              </a:defRPr>
            </a:lvl3pPr>
            <a:lvl4pPr>
              <a:defRPr sz="3000" b="1">
                <a:solidFill>
                  <a:srgbClr val="1F2A36"/>
                </a:solidFill>
                <a:latin typeface="Arial"/>
                <a:ea typeface="Arial"/>
                <a:cs typeface="Arial"/>
              </a:defRPr>
            </a:lvl4pPr>
            <a:lvl5pPr>
              <a:defRPr sz="3000" b="1">
                <a:solidFill>
                  <a:srgbClr val="1F2A36"/>
                </a:solidFill>
                <a:latin typeface="Arial"/>
                <a:ea typeface="Arial"/>
                <a:cs typeface="Arial"/>
              </a:defRPr>
            </a:lvl5pPr>
            <a:lvl6pPr>
              <a:defRPr sz="3000" b="1">
                <a:solidFill>
                  <a:srgbClr val="1F2A36"/>
                </a:solidFill>
                <a:latin typeface="Arial"/>
                <a:ea typeface="Arial"/>
                <a:cs typeface="Arial"/>
              </a:defRPr>
            </a:lvl6pPr>
            <a:lvl7pPr>
              <a:defRPr sz="3000" b="1">
                <a:solidFill>
                  <a:srgbClr val="1F2A36"/>
                </a:solidFill>
                <a:latin typeface="Arial"/>
                <a:ea typeface="Arial"/>
                <a:cs typeface="Arial"/>
              </a:defRPr>
            </a:lvl7pPr>
            <a:lvl8pPr>
              <a:defRPr sz="3000" b="1">
                <a:solidFill>
                  <a:srgbClr val="1F2A36"/>
                </a:solidFill>
                <a:latin typeface="Arial"/>
                <a:ea typeface="Arial"/>
                <a:cs typeface="Arial"/>
              </a:defRPr>
            </a:lvl8pPr>
            <a:lvl9pPr>
              <a:defRPr sz="3000" b="1">
                <a:solidFill>
                  <a:srgbClr val="1F2A36"/>
                </a:solidFill>
                <a:latin typeface="Arial"/>
                <a:ea typeface="Arial"/>
                <a:cs typeface="Arial"/>
              </a:defRPr>
            </a:lvl9pPr>
          </a:lstStyle>
          <a:p>
            <a:pPr>
              <a:defRPr sz="3000" b="1">
                <a:solidFill>
                  <a:srgbClr val="1F2A36"/>
                </a:solidFill>
                <a:latin typeface="Arial"/>
                <a:ea typeface="Arial"/>
                <a:cs typeface="Arial"/>
              </a:defRPr>
            </a:pPr>
            <a:r>
              <a:rPr sz="3000" b="1">
                <a:solidFill>
                  <a:srgbClr val="1F2A36"/>
                </a:solidFill>
                <a:latin typeface="Arial"/>
                <a:ea typeface="Arial"/>
                <a:cs typeface="Arial"/>
              </a:rPr>
              <a:t>Different levels can still support parallel trends</a:t>
            </a:r>
          </a:p>
        </p:txBody>
      </p:sp>
      <p:sp>
        <p:nvSpPr>
          <p:cNvPr id="2" name="text-1">
            <a:extLst>
              <a:ext uri="{FF2B5EF4-FFF2-40B4-BE49-F238E27FC236}">
                <a16:creationId xmlns:a16="http://schemas.microsoft.com/office/drawing/2014/main" id="{713A7C9C-5834-46E3-A699-FA8303CFC52F}"/>
              </a:ext>
            </a:extLst>
          </p:cNvPr>
          <p:cNvSpPr>
            <a:spLocks noGrp="1"/>
          </p:cNvSpPr>
          <p:nvPr/>
        </p:nvSpPr>
        <p:spPr>
          <a:xfrm>
            <a:off x="11239500" y="6400800"/>
            <a:ext cx="476250" cy="266700"/>
          </a:xfrm>
          <a:prstGeom prst="rect">
            <a:avLst/>
          </a:prstGeom>
          <a:noFill/>
          <a:ln w="0">
            <a:noFill/>
            <a:prstDash val="solid"/>
          </a:ln>
        </p:spPr>
        <p:txBody>
          <a:bodyPr lIns="0" tIns="0" rIns="0" bIns="0" anchor="t"/>
          <a:lstStyle>
            <a:defPPr>
              <a:defRPr sz="1350" b="0">
                <a:solidFill>
                  <a:srgbClr val="5B6B78"/>
                </a:solidFill>
                <a:latin typeface="Arial"/>
                <a:ea typeface="Arial"/>
                <a:cs typeface="Arial"/>
              </a:defRPr>
            </a:defPPr>
            <a:lvl1pPr>
              <a:defRPr sz="1350" b="0">
                <a:solidFill>
                  <a:srgbClr val="5B6B78"/>
                </a:solidFill>
                <a:latin typeface="Arial"/>
                <a:ea typeface="Arial"/>
                <a:cs typeface="Arial"/>
              </a:defRPr>
            </a:lvl1pPr>
            <a:lvl2pPr>
              <a:defRPr sz="1350" b="0">
                <a:solidFill>
                  <a:srgbClr val="5B6B78"/>
                </a:solidFill>
                <a:latin typeface="Arial"/>
                <a:ea typeface="Arial"/>
                <a:cs typeface="Arial"/>
              </a:defRPr>
            </a:lvl2pPr>
            <a:lvl3pPr>
              <a:defRPr sz="1350" b="0">
                <a:solidFill>
                  <a:srgbClr val="5B6B78"/>
                </a:solidFill>
                <a:latin typeface="Arial"/>
                <a:ea typeface="Arial"/>
                <a:cs typeface="Arial"/>
              </a:defRPr>
            </a:lvl3pPr>
            <a:lvl4pPr>
              <a:defRPr sz="1350" b="0">
                <a:solidFill>
                  <a:srgbClr val="5B6B78"/>
                </a:solidFill>
                <a:latin typeface="Arial"/>
                <a:ea typeface="Arial"/>
                <a:cs typeface="Arial"/>
              </a:defRPr>
            </a:lvl4pPr>
            <a:lvl5pPr>
              <a:defRPr sz="1350" b="0">
                <a:solidFill>
                  <a:srgbClr val="5B6B78"/>
                </a:solidFill>
                <a:latin typeface="Arial"/>
                <a:ea typeface="Arial"/>
                <a:cs typeface="Arial"/>
              </a:defRPr>
            </a:lvl5pPr>
            <a:lvl6pPr>
              <a:defRPr sz="1350" b="0">
                <a:solidFill>
                  <a:srgbClr val="5B6B78"/>
                </a:solidFill>
                <a:latin typeface="Arial"/>
                <a:ea typeface="Arial"/>
                <a:cs typeface="Arial"/>
              </a:defRPr>
            </a:lvl6pPr>
            <a:lvl7pPr>
              <a:defRPr sz="1350" b="0">
                <a:solidFill>
                  <a:srgbClr val="5B6B78"/>
                </a:solidFill>
                <a:latin typeface="Arial"/>
                <a:ea typeface="Arial"/>
                <a:cs typeface="Arial"/>
              </a:defRPr>
            </a:lvl7pPr>
            <a:lvl8pPr>
              <a:defRPr sz="1350" b="0">
                <a:solidFill>
                  <a:srgbClr val="5B6B78"/>
                </a:solidFill>
                <a:latin typeface="Arial"/>
                <a:ea typeface="Arial"/>
                <a:cs typeface="Arial"/>
              </a:defRPr>
            </a:lvl8pPr>
            <a:lvl9pPr>
              <a:defRPr sz="1350" b="0">
                <a:solidFill>
                  <a:srgbClr val="5B6B78"/>
                </a:solidFill>
                <a:latin typeface="Arial"/>
                <a:ea typeface="Arial"/>
                <a:cs typeface="Arial"/>
              </a:defRPr>
            </a:lvl9pPr>
          </a:lstStyle>
          <a:p>
            <a:pPr>
              <a:defRPr sz="1350" b="0">
                <a:solidFill>
                  <a:srgbClr val="5B6B78"/>
                </a:solidFill>
                <a:latin typeface="Arial"/>
                <a:ea typeface="Arial"/>
                <a:cs typeface="Arial"/>
              </a:defRPr>
            </a:pPr>
            <a:r>
              <a:rPr sz="1350" b="0">
                <a:solidFill>
                  <a:srgbClr val="5B6B78"/>
                </a:solidFill>
                <a:latin typeface="Arial"/>
                <a:ea typeface="Arial"/>
                <a:cs typeface="Arial"/>
              </a:rPr>
              <a:t>6</a:t>
            </a:r>
          </a:p>
        </p:txBody>
      </p:sp>
      <p:sp>
        <p:nvSpPr>
          <p:cNvPr id="3" name="text-2">
            <a:extLst>
              <a:ext uri="{FF2B5EF4-FFF2-40B4-BE49-F238E27FC236}">
                <a16:creationId xmlns:a16="http://schemas.microsoft.com/office/drawing/2014/main" id="{8C42B496-7036-4A2B-BF62-D8D547E139EE}"/>
              </a:ext>
            </a:extLst>
          </p:cNvPr>
          <p:cNvSpPr>
            <a:spLocks noGrp="1"/>
          </p:cNvSpPr>
          <p:nvPr/>
        </p:nvSpPr>
        <p:spPr>
          <a:xfrm>
            <a:off x="552450" y="1476375"/>
            <a:ext cx="5191125" cy="523875"/>
          </a:xfrm>
          <a:prstGeom prst="rect">
            <a:avLst/>
          </a:prstGeom>
          <a:noFill/>
          <a:ln w="0">
            <a:noFill/>
            <a:prstDash val="solid"/>
          </a:ln>
        </p:spPr>
        <p:txBody>
          <a:bodyPr lIns="0" tIns="0" rIns="0" bIns="0" anchor="t"/>
          <a:lstStyle>
            <a:defPPr>
              <a:defRPr sz="2175" b="1">
                <a:solidFill>
                  <a:srgbClr val="2E6F73"/>
                </a:solidFill>
                <a:latin typeface="Arial"/>
                <a:ea typeface="Arial"/>
                <a:cs typeface="Arial"/>
              </a:defRPr>
            </a:defPPr>
            <a:lvl1pPr>
              <a:defRPr sz="2175" b="1">
                <a:solidFill>
                  <a:srgbClr val="2E6F73"/>
                </a:solidFill>
                <a:latin typeface="Arial"/>
                <a:ea typeface="Arial"/>
                <a:cs typeface="Arial"/>
              </a:defRPr>
            </a:lvl1pPr>
            <a:lvl2pPr>
              <a:defRPr sz="2175" b="1">
                <a:solidFill>
                  <a:srgbClr val="2E6F73"/>
                </a:solidFill>
                <a:latin typeface="Arial"/>
                <a:ea typeface="Arial"/>
                <a:cs typeface="Arial"/>
              </a:defRPr>
            </a:lvl2pPr>
            <a:lvl3pPr>
              <a:defRPr sz="2175" b="1">
                <a:solidFill>
                  <a:srgbClr val="2E6F73"/>
                </a:solidFill>
                <a:latin typeface="Arial"/>
                <a:ea typeface="Arial"/>
                <a:cs typeface="Arial"/>
              </a:defRPr>
            </a:lvl3pPr>
            <a:lvl4pPr>
              <a:defRPr sz="2175" b="1">
                <a:solidFill>
                  <a:srgbClr val="2E6F73"/>
                </a:solidFill>
                <a:latin typeface="Arial"/>
                <a:ea typeface="Arial"/>
                <a:cs typeface="Arial"/>
              </a:defRPr>
            </a:lvl4pPr>
            <a:lvl5pPr>
              <a:defRPr sz="2175" b="1">
                <a:solidFill>
                  <a:srgbClr val="2E6F73"/>
                </a:solidFill>
                <a:latin typeface="Arial"/>
                <a:ea typeface="Arial"/>
                <a:cs typeface="Arial"/>
              </a:defRPr>
            </a:lvl5pPr>
            <a:lvl6pPr>
              <a:defRPr sz="2175" b="1">
                <a:solidFill>
                  <a:srgbClr val="2E6F73"/>
                </a:solidFill>
                <a:latin typeface="Arial"/>
                <a:ea typeface="Arial"/>
                <a:cs typeface="Arial"/>
              </a:defRPr>
            </a:lvl6pPr>
            <a:lvl7pPr>
              <a:defRPr sz="2175" b="1">
                <a:solidFill>
                  <a:srgbClr val="2E6F73"/>
                </a:solidFill>
                <a:latin typeface="Arial"/>
                <a:ea typeface="Arial"/>
                <a:cs typeface="Arial"/>
              </a:defRPr>
            </a:lvl7pPr>
            <a:lvl8pPr>
              <a:defRPr sz="2175" b="1">
                <a:solidFill>
                  <a:srgbClr val="2E6F73"/>
                </a:solidFill>
                <a:latin typeface="Arial"/>
                <a:ea typeface="Arial"/>
                <a:cs typeface="Arial"/>
              </a:defRPr>
            </a:lvl8pPr>
            <a:lvl9pPr>
              <a:defRPr sz="2175" b="1">
                <a:solidFill>
                  <a:srgbClr val="2E6F73"/>
                </a:solidFill>
                <a:latin typeface="Arial"/>
                <a:ea typeface="Arial"/>
                <a:cs typeface="Arial"/>
              </a:defRPr>
            </a:lvl9pPr>
          </a:lstStyle>
          <a:p>
            <a:pPr>
              <a:defRPr sz="2175" b="1">
                <a:solidFill>
                  <a:srgbClr val="2E6F73"/>
                </a:solidFill>
                <a:latin typeface="Arial"/>
                <a:ea typeface="Arial"/>
                <a:cs typeface="Arial"/>
              </a:defRPr>
            </a:pPr>
            <a:r>
              <a:rPr sz="2175" b="1">
                <a:solidFill>
                  <a:srgbClr val="2E6F73"/>
                </a:solidFill>
                <a:latin typeface="Arial"/>
                <a:ea typeface="Arial"/>
                <a:cs typeface="Arial"/>
              </a:rPr>
              <a:t>A. Different levels, same changes</a:t>
            </a:r>
          </a:p>
        </p:txBody>
      </p:sp>
      <p:sp>
        <p:nvSpPr>
          <p:cNvPr id="4" name="text-3">
            <a:extLst>
              <a:ext uri="{FF2B5EF4-FFF2-40B4-BE49-F238E27FC236}">
                <a16:creationId xmlns:a16="http://schemas.microsoft.com/office/drawing/2014/main" id="{19F6A1C2-B3F4-4F22-B211-B14CA21D0FE1}"/>
              </a:ext>
            </a:extLst>
          </p:cNvPr>
          <p:cNvSpPr>
            <a:spLocks noGrp="1"/>
          </p:cNvSpPr>
          <p:nvPr/>
        </p:nvSpPr>
        <p:spPr>
          <a:xfrm>
            <a:off x="6381750" y="1476375"/>
            <a:ext cx="5238750" cy="523875"/>
          </a:xfrm>
          <a:prstGeom prst="rect">
            <a:avLst/>
          </a:prstGeom>
          <a:noFill/>
          <a:ln w="0">
            <a:noFill/>
            <a:prstDash val="solid"/>
          </a:ln>
        </p:spPr>
        <p:txBody>
          <a:bodyPr lIns="0" tIns="0" rIns="0" bIns="0" anchor="t"/>
          <a:lstStyle>
            <a:defPPr>
              <a:defRPr sz="2175" b="1">
                <a:solidFill>
                  <a:srgbClr val="C8553D"/>
                </a:solidFill>
                <a:latin typeface="Arial"/>
                <a:ea typeface="Arial"/>
                <a:cs typeface="Arial"/>
              </a:defRPr>
            </a:defPPr>
            <a:lvl1pPr>
              <a:defRPr sz="2175" b="1">
                <a:solidFill>
                  <a:srgbClr val="C8553D"/>
                </a:solidFill>
                <a:latin typeface="Arial"/>
                <a:ea typeface="Arial"/>
                <a:cs typeface="Arial"/>
              </a:defRPr>
            </a:lvl1pPr>
            <a:lvl2pPr>
              <a:defRPr sz="2175" b="1">
                <a:solidFill>
                  <a:srgbClr val="C8553D"/>
                </a:solidFill>
                <a:latin typeface="Arial"/>
                <a:ea typeface="Arial"/>
                <a:cs typeface="Arial"/>
              </a:defRPr>
            </a:lvl2pPr>
            <a:lvl3pPr>
              <a:defRPr sz="2175" b="1">
                <a:solidFill>
                  <a:srgbClr val="C8553D"/>
                </a:solidFill>
                <a:latin typeface="Arial"/>
                <a:ea typeface="Arial"/>
                <a:cs typeface="Arial"/>
              </a:defRPr>
            </a:lvl3pPr>
            <a:lvl4pPr>
              <a:defRPr sz="2175" b="1">
                <a:solidFill>
                  <a:srgbClr val="C8553D"/>
                </a:solidFill>
                <a:latin typeface="Arial"/>
                <a:ea typeface="Arial"/>
                <a:cs typeface="Arial"/>
              </a:defRPr>
            </a:lvl4pPr>
            <a:lvl5pPr>
              <a:defRPr sz="2175" b="1">
                <a:solidFill>
                  <a:srgbClr val="C8553D"/>
                </a:solidFill>
                <a:latin typeface="Arial"/>
                <a:ea typeface="Arial"/>
                <a:cs typeface="Arial"/>
              </a:defRPr>
            </a:lvl5pPr>
            <a:lvl6pPr>
              <a:defRPr sz="2175" b="1">
                <a:solidFill>
                  <a:srgbClr val="C8553D"/>
                </a:solidFill>
                <a:latin typeface="Arial"/>
                <a:ea typeface="Arial"/>
                <a:cs typeface="Arial"/>
              </a:defRPr>
            </a:lvl6pPr>
            <a:lvl7pPr>
              <a:defRPr sz="2175" b="1">
                <a:solidFill>
                  <a:srgbClr val="C8553D"/>
                </a:solidFill>
                <a:latin typeface="Arial"/>
                <a:ea typeface="Arial"/>
                <a:cs typeface="Arial"/>
              </a:defRPr>
            </a:lvl7pPr>
            <a:lvl8pPr>
              <a:defRPr sz="2175" b="1">
                <a:solidFill>
                  <a:srgbClr val="C8553D"/>
                </a:solidFill>
                <a:latin typeface="Arial"/>
                <a:ea typeface="Arial"/>
                <a:cs typeface="Arial"/>
              </a:defRPr>
            </a:lvl8pPr>
            <a:lvl9pPr>
              <a:defRPr sz="2175" b="1">
                <a:solidFill>
                  <a:srgbClr val="C8553D"/>
                </a:solidFill>
                <a:latin typeface="Arial"/>
                <a:ea typeface="Arial"/>
                <a:cs typeface="Arial"/>
              </a:defRPr>
            </a:lvl9pPr>
          </a:lstStyle>
          <a:p>
            <a:pPr>
              <a:defRPr sz="2175" b="1">
                <a:solidFill>
                  <a:srgbClr val="C8553D"/>
                </a:solidFill>
                <a:latin typeface="Arial"/>
                <a:ea typeface="Arial"/>
                <a:cs typeface="Arial"/>
              </a:defRPr>
            </a:pPr>
            <a:r>
              <a:rPr sz="2175" b="1">
                <a:solidFill>
                  <a:srgbClr val="C8553D"/>
                </a:solidFill>
                <a:latin typeface="Arial"/>
                <a:ea typeface="Arial"/>
                <a:cs typeface="Arial"/>
              </a:rPr>
              <a:t>B. Same start, different changes</a:t>
            </a:r>
          </a:p>
        </p:txBody>
      </p:sp>
      <p:graphicFrame>
        <p:nvGraphicFramePr>
          <p:cNvPr id="5" name="Chart">
            <a:extLst>
              <a:ext uri="{FF2B5EF4-FFF2-40B4-BE49-F238E27FC236}">
                <a16:creationId xmlns:a16="http://schemas.microsoft.com/office/drawing/2014/main" id="{52435F6F-DBDF-4750-A529-B56F9FA5318E}"/>
              </a:ext>
            </a:extLst>
          </p:cNvPr>
          <p:cNvGraphicFramePr/>
          <p:nvPr/>
        </p:nvGraphicFramePr>
        <p:xfrm>
          <a:off x="552450" y="2143125"/>
          <a:ext cx="5095875" cy="314325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Chart">
            <a:extLst>
              <a:ext uri="{FF2B5EF4-FFF2-40B4-BE49-F238E27FC236}">
                <a16:creationId xmlns:a16="http://schemas.microsoft.com/office/drawing/2014/main" id="{5295891C-0DBC-4EC9-A42C-01847B02E8BC}"/>
              </a:ext>
            </a:extLst>
          </p:cNvPr>
          <p:cNvGraphicFramePr/>
          <p:nvPr/>
        </p:nvGraphicFramePr>
        <p:xfrm>
          <a:off x="6381750" y="2143125"/>
          <a:ext cx="5095875" cy="3143250"/>
        </p:xfrm>
        <a:graphic>
          <a:graphicData uri="http://schemas.openxmlformats.org/drawingml/2006/chart">
            <c:chart xmlns:c="http://schemas.openxmlformats.org/drawingml/2006/chart" xmlns:r="http://schemas.openxmlformats.org/officeDocument/2006/relationships" r:id="rId4"/>
          </a:graphicData>
        </a:graphic>
      </p:graphicFrame>
      <p:sp>
        <p:nvSpPr>
          <p:cNvPr id="7" name="text-4">
            <a:extLst>
              <a:ext uri="{FF2B5EF4-FFF2-40B4-BE49-F238E27FC236}">
                <a16:creationId xmlns:a16="http://schemas.microsoft.com/office/drawing/2014/main" id="{7D83519A-E1F7-4DB3-A139-3A4CD9D20136}"/>
              </a:ext>
            </a:extLst>
          </p:cNvPr>
          <p:cNvSpPr>
            <a:spLocks noGrp="1"/>
          </p:cNvSpPr>
          <p:nvPr/>
        </p:nvSpPr>
        <p:spPr>
          <a:xfrm>
            <a:off x="552450" y="5572125"/>
            <a:ext cx="10953750" cy="523875"/>
          </a:xfrm>
          <a:prstGeom prst="rect">
            <a:avLst/>
          </a:prstGeom>
          <a:noFill/>
          <a:ln w="0">
            <a:noFill/>
            <a:prstDash val="solid"/>
          </a:ln>
        </p:spPr>
        <p:txBody>
          <a:bodyPr lIns="0" tIns="0" rIns="0" bIns="0" anchor="t"/>
          <a:lstStyle>
            <a:defPPr>
              <a:defRPr sz="2175" b="1">
                <a:solidFill>
                  <a:srgbClr val="1F2A36"/>
                </a:solidFill>
                <a:latin typeface="Arial"/>
                <a:ea typeface="Arial"/>
                <a:cs typeface="Arial"/>
              </a:defRPr>
            </a:defPPr>
            <a:lvl1pPr>
              <a:defRPr sz="2175" b="1">
                <a:solidFill>
                  <a:srgbClr val="1F2A36"/>
                </a:solidFill>
                <a:latin typeface="Arial"/>
                <a:ea typeface="Arial"/>
                <a:cs typeface="Arial"/>
              </a:defRPr>
            </a:lvl1pPr>
            <a:lvl2pPr>
              <a:defRPr sz="2175" b="1">
                <a:solidFill>
                  <a:srgbClr val="1F2A36"/>
                </a:solidFill>
                <a:latin typeface="Arial"/>
                <a:ea typeface="Arial"/>
                <a:cs typeface="Arial"/>
              </a:defRPr>
            </a:lvl2pPr>
            <a:lvl3pPr>
              <a:defRPr sz="2175" b="1">
                <a:solidFill>
                  <a:srgbClr val="1F2A36"/>
                </a:solidFill>
                <a:latin typeface="Arial"/>
                <a:ea typeface="Arial"/>
                <a:cs typeface="Arial"/>
              </a:defRPr>
            </a:lvl3pPr>
            <a:lvl4pPr>
              <a:defRPr sz="2175" b="1">
                <a:solidFill>
                  <a:srgbClr val="1F2A36"/>
                </a:solidFill>
                <a:latin typeface="Arial"/>
                <a:ea typeface="Arial"/>
                <a:cs typeface="Arial"/>
              </a:defRPr>
            </a:lvl4pPr>
            <a:lvl5pPr>
              <a:defRPr sz="2175" b="1">
                <a:solidFill>
                  <a:srgbClr val="1F2A36"/>
                </a:solidFill>
                <a:latin typeface="Arial"/>
                <a:ea typeface="Arial"/>
                <a:cs typeface="Arial"/>
              </a:defRPr>
            </a:lvl5pPr>
            <a:lvl6pPr>
              <a:defRPr sz="2175" b="1">
                <a:solidFill>
                  <a:srgbClr val="1F2A36"/>
                </a:solidFill>
                <a:latin typeface="Arial"/>
                <a:ea typeface="Arial"/>
                <a:cs typeface="Arial"/>
              </a:defRPr>
            </a:lvl6pPr>
            <a:lvl7pPr>
              <a:defRPr sz="2175" b="1">
                <a:solidFill>
                  <a:srgbClr val="1F2A36"/>
                </a:solidFill>
                <a:latin typeface="Arial"/>
                <a:ea typeface="Arial"/>
                <a:cs typeface="Arial"/>
              </a:defRPr>
            </a:lvl7pPr>
            <a:lvl8pPr>
              <a:defRPr sz="2175" b="1">
                <a:solidFill>
                  <a:srgbClr val="1F2A36"/>
                </a:solidFill>
                <a:latin typeface="Arial"/>
                <a:ea typeface="Arial"/>
                <a:cs typeface="Arial"/>
              </a:defRPr>
            </a:lvl8pPr>
            <a:lvl9pPr>
              <a:defRPr sz="2175" b="1">
                <a:solidFill>
                  <a:srgbClr val="1F2A36"/>
                </a:solidFill>
                <a:latin typeface="Arial"/>
                <a:ea typeface="Arial"/>
                <a:cs typeface="Arial"/>
              </a:defRPr>
            </a:lvl9pPr>
          </a:lstStyle>
          <a:p>
            <a:pPr>
              <a:defRPr sz="2175" b="1">
                <a:solidFill>
                  <a:srgbClr val="1F2A36"/>
                </a:solidFill>
                <a:latin typeface="Arial"/>
                <a:ea typeface="Arial"/>
                <a:cs typeface="Arial"/>
              </a:defRPr>
            </a:pPr>
            <a:r>
              <a:rPr sz="2175" b="1">
                <a:solidFill>
                  <a:srgbClr val="1F2A36"/>
                </a:solidFill>
                <a:latin typeface="Arial"/>
                <a:ea typeface="Arial"/>
                <a:cs typeface="Arial"/>
              </a:rPr>
              <a:t>Which comparison is more credible? Explain using changes, not starting levels.</a:t>
            </a:r>
          </a:p>
        </p:txBody>
      </p:sp>
    </p:spTree>
    <p:extLst>
      <p:ext uri="{BB962C8B-B14F-4D97-AF65-F5344CB8AC3E}">
        <p14:creationId xmlns:p14="http://schemas.microsoft.com/office/powerpoint/2010/main" val="12023049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ext-0">
            <a:extLst>
              <a:ext uri="{FF2B5EF4-FFF2-40B4-BE49-F238E27FC236}">
                <a16:creationId xmlns:a16="http://schemas.microsoft.com/office/drawing/2014/main" id="{BCD440EB-0EE0-47A6-B6F0-5E2015B9CA44}"/>
              </a:ext>
            </a:extLst>
          </p:cNvPr>
          <p:cNvSpPr>
            <a:spLocks noGrp="1"/>
          </p:cNvSpPr>
          <p:nvPr/>
        </p:nvSpPr>
        <p:spPr>
          <a:xfrm>
            <a:off x="552450" y="361950"/>
            <a:ext cx="11087100" cy="857250"/>
          </a:xfrm>
          <a:prstGeom prst="rect">
            <a:avLst/>
          </a:prstGeom>
          <a:noFill/>
          <a:ln w="0">
            <a:noFill/>
            <a:prstDash val="solid"/>
          </a:ln>
        </p:spPr>
        <p:txBody>
          <a:bodyPr lIns="0" tIns="0" rIns="0" bIns="0" anchor="t"/>
          <a:lstStyle>
            <a:defPPr>
              <a:defRPr sz="3000" b="1">
                <a:solidFill>
                  <a:srgbClr val="1F2A36"/>
                </a:solidFill>
                <a:latin typeface="Arial"/>
                <a:ea typeface="Arial"/>
                <a:cs typeface="Arial"/>
              </a:defRPr>
            </a:defPPr>
            <a:lvl1pPr>
              <a:defRPr sz="3000" b="1">
                <a:solidFill>
                  <a:srgbClr val="1F2A36"/>
                </a:solidFill>
                <a:latin typeface="Arial"/>
                <a:ea typeface="Arial"/>
                <a:cs typeface="Arial"/>
              </a:defRPr>
            </a:lvl1pPr>
            <a:lvl2pPr>
              <a:defRPr sz="3000" b="1">
                <a:solidFill>
                  <a:srgbClr val="1F2A36"/>
                </a:solidFill>
                <a:latin typeface="Arial"/>
                <a:ea typeface="Arial"/>
                <a:cs typeface="Arial"/>
              </a:defRPr>
            </a:lvl2pPr>
            <a:lvl3pPr>
              <a:defRPr sz="3000" b="1">
                <a:solidFill>
                  <a:srgbClr val="1F2A36"/>
                </a:solidFill>
                <a:latin typeface="Arial"/>
                <a:ea typeface="Arial"/>
                <a:cs typeface="Arial"/>
              </a:defRPr>
            </a:lvl3pPr>
            <a:lvl4pPr>
              <a:defRPr sz="3000" b="1">
                <a:solidFill>
                  <a:srgbClr val="1F2A36"/>
                </a:solidFill>
                <a:latin typeface="Arial"/>
                <a:ea typeface="Arial"/>
                <a:cs typeface="Arial"/>
              </a:defRPr>
            </a:lvl4pPr>
            <a:lvl5pPr>
              <a:defRPr sz="3000" b="1">
                <a:solidFill>
                  <a:srgbClr val="1F2A36"/>
                </a:solidFill>
                <a:latin typeface="Arial"/>
                <a:ea typeface="Arial"/>
                <a:cs typeface="Arial"/>
              </a:defRPr>
            </a:lvl5pPr>
            <a:lvl6pPr>
              <a:defRPr sz="3000" b="1">
                <a:solidFill>
                  <a:srgbClr val="1F2A36"/>
                </a:solidFill>
                <a:latin typeface="Arial"/>
                <a:ea typeface="Arial"/>
                <a:cs typeface="Arial"/>
              </a:defRPr>
            </a:lvl6pPr>
            <a:lvl7pPr>
              <a:defRPr sz="3000" b="1">
                <a:solidFill>
                  <a:srgbClr val="1F2A36"/>
                </a:solidFill>
                <a:latin typeface="Arial"/>
                <a:ea typeface="Arial"/>
                <a:cs typeface="Arial"/>
              </a:defRPr>
            </a:lvl7pPr>
            <a:lvl8pPr>
              <a:defRPr sz="3000" b="1">
                <a:solidFill>
                  <a:srgbClr val="1F2A36"/>
                </a:solidFill>
                <a:latin typeface="Arial"/>
                <a:ea typeface="Arial"/>
                <a:cs typeface="Arial"/>
              </a:defRPr>
            </a:lvl8pPr>
            <a:lvl9pPr>
              <a:defRPr sz="3000" b="1">
                <a:solidFill>
                  <a:srgbClr val="1F2A36"/>
                </a:solidFill>
                <a:latin typeface="Arial"/>
                <a:ea typeface="Arial"/>
                <a:cs typeface="Arial"/>
              </a:defRPr>
            </a:lvl9pPr>
          </a:lstStyle>
          <a:p>
            <a:pPr>
              <a:defRPr sz="3000" b="1">
                <a:solidFill>
                  <a:srgbClr val="1F2A36"/>
                </a:solidFill>
                <a:latin typeface="Arial"/>
                <a:ea typeface="Arial"/>
                <a:cs typeface="Arial"/>
              </a:defRPr>
            </a:pPr>
            <a:r>
              <a:rPr sz="3000" b="1">
                <a:solidFill>
                  <a:srgbClr val="1F2A36"/>
                </a:solidFill>
                <a:latin typeface="Arial"/>
                <a:ea typeface="Arial"/>
                <a:cs typeface="Arial"/>
              </a:rPr>
              <a:t>What can pre-treatment evidence tell us?</a:t>
            </a:r>
          </a:p>
        </p:txBody>
      </p:sp>
      <p:sp>
        <p:nvSpPr>
          <p:cNvPr id="2" name="text-1">
            <a:extLst>
              <a:ext uri="{FF2B5EF4-FFF2-40B4-BE49-F238E27FC236}">
                <a16:creationId xmlns:a16="http://schemas.microsoft.com/office/drawing/2014/main" id="{EA021D8C-E71A-4768-93BE-1CB71A3F7742}"/>
              </a:ext>
            </a:extLst>
          </p:cNvPr>
          <p:cNvSpPr>
            <a:spLocks noGrp="1"/>
          </p:cNvSpPr>
          <p:nvPr/>
        </p:nvSpPr>
        <p:spPr>
          <a:xfrm>
            <a:off x="11239500" y="6400800"/>
            <a:ext cx="476250" cy="266700"/>
          </a:xfrm>
          <a:prstGeom prst="rect">
            <a:avLst/>
          </a:prstGeom>
          <a:noFill/>
          <a:ln w="0">
            <a:noFill/>
            <a:prstDash val="solid"/>
          </a:ln>
        </p:spPr>
        <p:txBody>
          <a:bodyPr lIns="0" tIns="0" rIns="0" bIns="0" anchor="t"/>
          <a:lstStyle>
            <a:defPPr>
              <a:defRPr sz="1350" b="0">
                <a:solidFill>
                  <a:srgbClr val="5B6B78"/>
                </a:solidFill>
                <a:latin typeface="Arial"/>
                <a:ea typeface="Arial"/>
                <a:cs typeface="Arial"/>
              </a:defRPr>
            </a:defPPr>
            <a:lvl1pPr>
              <a:defRPr sz="1350" b="0">
                <a:solidFill>
                  <a:srgbClr val="5B6B78"/>
                </a:solidFill>
                <a:latin typeface="Arial"/>
                <a:ea typeface="Arial"/>
                <a:cs typeface="Arial"/>
              </a:defRPr>
            </a:lvl1pPr>
            <a:lvl2pPr>
              <a:defRPr sz="1350" b="0">
                <a:solidFill>
                  <a:srgbClr val="5B6B78"/>
                </a:solidFill>
                <a:latin typeface="Arial"/>
                <a:ea typeface="Arial"/>
                <a:cs typeface="Arial"/>
              </a:defRPr>
            </a:lvl2pPr>
            <a:lvl3pPr>
              <a:defRPr sz="1350" b="0">
                <a:solidFill>
                  <a:srgbClr val="5B6B78"/>
                </a:solidFill>
                <a:latin typeface="Arial"/>
                <a:ea typeface="Arial"/>
                <a:cs typeface="Arial"/>
              </a:defRPr>
            </a:lvl3pPr>
            <a:lvl4pPr>
              <a:defRPr sz="1350" b="0">
                <a:solidFill>
                  <a:srgbClr val="5B6B78"/>
                </a:solidFill>
                <a:latin typeface="Arial"/>
                <a:ea typeface="Arial"/>
                <a:cs typeface="Arial"/>
              </a:defRPr>
            </a:lvl4pPr>
            <a:lvl5pPr>
              <a:defRPr sz="1350" b="0">
                <a:solidFill>
                  <a:srgbClr val="5B6B78"/>
                </a:solidFill>
                <a:latin typeface="Arial"/>
                <a:ea typeface="Arial"/>
                <a:cs typeface="Arial"/>
              </a:defRPr>
            </a:lvl5pPr>
            <a:lvl6pPr>
              <a:defRPr sz="1350" b="0">
                <a:solidFill>
                  <a:srgbClr val="5B6B78"/>
                </a:solidFill>
                <a:latin typeface="Arial"/>
                <a:ea typeface="Arial"/>
                <a:cs typeface="Arial"/>
              </a:defRPr>
            </a:lvl6pPr>
            <a:lvl7pPr>
              <a:defRPr sz="1350" b="0">
                <a:solidFill>
                  <a:srgbClr val="5B6B78"/>
                </a:solidFill>
                <a:latin typeface="Arial"/>
                <a:ea typeface="Arial"/>
                <a:cs typeface="Arial"/>
              </a:defRPr>
            </a:lvl7pPr>
            <a:lvl8pPr>
              <a:defRPr sz="1350" b="0">
                <a:solidFill>
                  <a:srgbClr val="5B6B78"/>
                </a:solidFill>
                <a:latin typeface="Arial"/>
                <a:ea typeface="Arial"/>
                <a:cs typeface="Arial"/>
              </a:defRPr>
            </a:lvl8pPr>
            <a:lvl9pPr>
              <a:defRPr sz="1350" b="0">
                <a:solidFill>
                  <a:srgbClr val="5B6B78"/>
                </a:solidFill>
                <a:latin typeface="Arial"/>
                <a:ea typeface="Arial"/>
                <a:cs typeface="Arial"/>
              </a:defRPr>
            </a:lvl9pPr>
          </a:lstStyle>
          <a:p>
            <a:pPr>
              <a:defRPr sz="1350" b="0">
                <a:solidFill>
                  <a:srgbClr val="5B6B78"/>
                </a:solidFill>
                <a:latin typeface="Arial"/>
                <a:ea typeface="Arial"/>
                <a:cs typeface="Arial"/>
              </a:defRPr>
            </a:pPr>
            <a:r>
              <a:rPr sz="1350" b="0">
                <a:solidFill>
                  <a:srgbClr val="5B6B78"/>
                </a:solidFill>
                <a:latin typeface="Arial"/>
                <a:ea typeface="Arial"/>
                <a:cs typeface="Arial"/>
              </a:rPr>
              <a:t>7</a:t>
            </a:r>
          </a:p>
        </p:txBody>
      </p:sp>
      <p:sp>
        <p:nvSpPr>
          <p:cNvPr id="3" name="text-2">
            <a:extLst>
              <a:ext uri="{FF2B5EF4-FFF2-40B4-BE49-F238E27FC236}">
                <a16:creationId xmlns:a16="http://schemas.microsoft.com/office/drawing/2014/main" id="{C0E335A9-3778-4CEC-B0B2-DFA08791ED45}"/>
              </a:ext>
            </a:extLst>
          </p:cNvPr>
          <p:cNvSpPr>
            <a:spLocks noGrp="1"/>
          </p:cNvSpPr>
          <p:nvPr/>
        </p:nvSpPr>
        <p:spPr>
          <a:xfrm>
            <a:off x="552450" y="1571625"/>
            <a:ext cx="10668000" cy="381000"/>
          </a:xfrm>
          <a:prstGeom prst="rect">
            <a:avLst/>
          </a:prstGeom>
          <a:noFill/>
          <a:ln w="0">
            <a:noFill/>
            <a:prstDash val="solid"/>
          </a:ln>
        </p:spPr>
        <p:txBody>
          <a:bodyPr lIns="0" tIns="0" rIns="0" bIns="0" anchor="t"/>
          <a:lstStyle>
            <a:defPPr>
              <a:defRPr sz="2100" b="1">
                <a:solidFill>
                  <a:srgbClr val="2E6F73"/>
                </a:solidFill>
                <a:latin typeface="Arial"/>
                <a:ea typeface="Arial"/>
                <a:cs typeface="Arial"/>
              </a:defRPr>
            </a:defPPr>
            <a:lvl1pPr>
              <a:defRPr sz="2100" b="1">
                <a:solidFill>
                  <a:srgbClr val="2E6F73"/>
                </a:solidFill>
                <a:latin typeface="Arial"/>
                <a:ea typeface="Arial"/>
                <a:cs typeface="Arial"/>
              </a:defRPr>
            </a:lvl1pPr>
            <a:lvl2pPr>
              <a:defRPr sz="2100" b="1">
                <a:solidFill>
                  <a:srgbClr val="2E6F73"/>
                </a:solidFill>
                <a:latin typeface="Arial"/>
                <a:ea typeface="Arial"/>
                <a:cs typeface="Arial"/>
              </a:defRPr>
            </a:lvl2pPr>
            <a:lvl3pPr>
              <a:defRPr sz="2100" b="1">
                <a:solidFill>
                  <a:srgbClr val="2E6F73"/>
                </a:solidFill>
                <a:latin typeface="Arial"/>
                <a:ea typeface="Arial"/>
                <a:cs typeface="Arial"/>
              </a:defRPr>
            </a:lvl3pPr>
            <a:lvl4pPr>
              <a:defRPr sz="2100" b="1">
                <a:solidFill>
                  <a:srgbClr val="2E6F73"/>
                </a:solidFill>
                <a:latin typeface="Arial"/>
                <a:ea typeface="Arial"/>
                <a:cs typeface="Arial"/>
              </a:defRPr>
            </a:lvl4pPr>
            <a:lvl5pPr>
              <a:defRPr sz="2100" b="1">
                <a:solidFill>
                  <a:srgbClr val="2E6F73"/>
                </a:solidFill>
                <a:latin typeface="Arial"/>
                <a:ea typeface="Arial"/>
                <a:cs typeface="Arial"/>
              </a:defRPr>
            </a:lvl5pPr>
            <a:lvl6pPr>
              <a:defRPr sz="2100" b="1">
                <a:solidFill>
                  <a:srgbClr val="2E6F73"/>
                </a:solidFill>
                <a:latin typeface="Arial"/>
                <a:ea typeface="Arial"/>
                <a:cs typeface="Arial"/>
              </a:defRPr>
            </a:lvl6pPr>
            <a:lvl7pPr>
              <a:defRPr sz="2100" b="1">
                <a:solidFill>
                  <a:srgbClr val="2E6F73"/>
                </a:solidFill>
                <a:latin typeface="Arial"/>
                <a:ea typeface="Arial"/>
                <a:cs typeface="Arial"/>
              </a:defRPr>
            </a:lvl7pPr>
            <a:lvl8pPr>
              <a:defRPr sz="2100" b="1">
                <a:solidFill>
                  <a:srgbClr val="2E6F73"/>
                </a:solidFill>
                <a:latin typeface="Arial"/>
                <a:ea typeface="Arial"/>
                <a:cs typeface="Arial"/>
              </a:defRPr>
            </a:lvl8pPr>
            <a:lvl9pPr>
              <a:defRPr sz="2100" b="1">
                <a:solidFill>
                  <a:srgbClr val="2E6F73"/>
                </a:solidFill>
                <a:latin typeface="Arial"/>
                <a:ea typeface="Arial"/>
                <a:cs typeface="Arial"/>
              </a:defRPr>
            </a:lvl9pPr>
          </a:lstStyle>
          <a:p>
            <a:pPr>
              <a:defRPr sz="2100" b="1">
                <a:solidFill>
                  <a:srgbClr val="2E6F73"/>
                </a:solidFill>
                <a:latin typeface="Arial"/>
                <a:ea typeface="Arial"/>
                <a:cs typeface="Arial"/>
              </a:defRPr>
            </a:pPr>
            <a:r>
              <a:rPr sz="2100" b="1">
                <a:solidFill>
                  <a:srgbClr val="2E6F73"/>
                </a:solidFill>
                <a:latin typeface="Arial"/>
                <a:ea typeface="Arial"/>
                <a:cs typeface="Arial"/>
              </a:rPr>
              <a:t>Similar pre-trends support the design</a:t>
            </a:r>
          </a:p>
        </p:txBody>
      </p:sp>
      <p:sp>
        <p:nvSpPr>
          <p:cNvPr id="4" name="text-3">
            <a:extLst>
              <a:ext uri="{FF2B5EF4-FFF2-40B4-BE49-F238E27FC236}">
                <a16:creationId xmlns:a16="http://schemas.microsoft.com/office/drawing/2014/main" id="{D079AA53-6E48-434B-8A42-7A6E9FF8AE23}"/>
              </a:ext>
            </a:extLst>
          </p:cNvPr>
          <p:cNvSpPr>
            <a:spLocks noGrp="1"/>
          </p:cNvSpPr>
          <p:nvPr/>
        </p:nvSpPr>
        <p:spPr>
          <a:xfrm>
            <a:off x="552450" y="1981200"/>
            <a:ext cx="10668000" cy="781050"/>
          </a:xfrm>
          <a:prstGeom prst="rect">
            <a:avLst/>
          </a:prstGeom>
          <a:noFill/>
          <a:ln w="0">
            <a:noFill/>
            <a:prstDash val="solid"/>
          </a:ln>
        </p:spPr>
        <p:txBody>
          <a:bodyPr lIns="0" tIns="0" rIns="0" bIns="0" anchor="t"/>
          <a:lstStyle>
            <a:defPPr>
              <a:defRPr sz="2025" b="0">
                <a:solidFill>
                  <a:srgbClr val="1F2A36"/>
                </a:solidFill>
                <a:latin typeface="Arial"/>
                <a:ea typeface="Arial"/>
                <a:cs typeface="Arial"/>
              </a:defRPr>
            </a:defPPr>
            <a:lvl1pPr>
              <a:defRPr sz="2025" b="0">
                <a:solidFill>
                  <a:srgbClr val="1F2A36"/>
                </a:solidFill>
                <a:latin typeface="Arial"/>
                <a:ea typeface="Arial"/>
                <a:cs typeface="Arial"/>
              </a:defRPr>
            </a:lvl1pPr>
            <a:lvl2pPr>
              <a:defRPr sz="2025" b="0">
                <a:solidFill>
                  <a:srgbClr val="1F2A36"/>
                </a:solidFill>
                <a:latin typeface="Arial"/>
                <a:ea typeface="Arial"/>
                <a:cs typeface="Arial"/>
              </a:defRPr>
            </a:lvl2pPr>
            <a:lvl3pPr>
              <a:defRPr sz="2025" b="0">
                <a:solidFill>
                  <a:srgbClr val="1F2A36"/>
                </a:solidFill>
                <a:latin typeface="Arial"/>
                <a:ea typeface="Arial"/>
                <a:cs typeface="Arial"/>
              </a:defRPr>
            </a:lvl3pPr>
            <a:lvl4pPr>
              <a:defRPr sz="2025" b="0">
                <a:solidFill>
                  <a:srgbClr val="1F2A36"/>
                </a:solidFill>
                <a:latin typeface="Arial"/>
                <a:ea typeface="Arial"/>
                <a:cs typeface="Arial"/>
              </a:defRPr>
            </a:lvl4pPr>
            <a:lvl5pPr>
              <a:defRPr sz="2025" b="0">
                <a:solidFill>
                  <a:srgbClr val="1F2A36"/>
                </a:solidFill>
                <a:latin typeface="Arial"/>
                <a:ea typeface="Arial"/>
                <a:cs typeface="Arial"/>
              </a:defRPr>
            </a:lvl5pPr>
            <a:lvl6pPr>
              <a:defRPr sz="2025" b="0">
                <a:solidFill>
                  <a:srgbClr val="1F2A36"/>
                </a:solidFill>
                <a:latin typeface="Arial"/>
                <a:ea typeface="Arial"/>
                <a:cs typeface="Arial"/>
              </a:defRPr>
            </a:lvl6pPr>
            <a:lvl7pPr>
              <a:defRPr sz="2025" b="0">
                <a:solidFill>
                  <a:srgbClr val="1F2A36"/>
                </a:solidFill>
                <a:latin typeface="Arial"/>
                <a:ea typeface="Arial"/>
                <a:cs typeface="Arial"/>
              </a:defRPr>
            </a:lvl7pPr>
            <a:lvl8pPr>
              <a:defRPr sz="2025" b="0">
                <a:solidFill>
                  <a:srgbClr val="1F2A36"/>
                </a:solidFill>
                <a:latin typeface="Arial"/>
                <a:ea typeface="Arial"/>
                <a:cs typeface="Arial"/>
              </a:defRPr>
            </a:lvl8pPr>
            <a:lvl9pPr>
              <a:defRPr sz="2025" b="0">
                <a:solidFill>
                  <a:srgbClr val="1F2A36"/>
                </a:solidFill>
                <a:latin typeface="Arial"/>
                <a:ea typeface="Arial"/>
                <a:cs typeface="Arial"/>
              </a:defRPr>
            </a:lvl9pPr>
          </a:lstStyle>
          <a:p>
            <a:pPr>
              <a:defRPr sz="2025" b="0">
                <a:solidFill>
                  <a:srgbClr val="1F2A36"/>
                </a:solidFill>
                <a:latin typeface="Arial"/>
                <a:ea typeface="Arial"/>
                <a:cs typeface="Arial"/>
              </a:defRPr>
            </a:pPr>
            <a:r>
              <a:rPr sz="2025" b="0">
                <a:solidFill>
                  <a:srgbClr val="1F2A36"/>
                </a:solidFill>
                <a:latin typeface="Arial"/>
                <a:ea typeface="Arial"/>
                <a:cs typeface="Arial"/>
              </a:rPr>
              <a:t>They make the counterfactual more plausible. They cannot establish it.</a:t>
            </a:r>
          </a:p>
        </p:txBody>
      </p:sp>
      <p:sp>
        <p:nvSpPr>
          <p:cNvPr id="5" name="text-4">
            <a:extLst>
              <a:ext uri="{FF2B5EF4-FFF2-40B4-BE49-F238E27FC236}">
                <a16:creationId xmlns:a16="http://schemas.microsoft.com/office/drawing/2014/main" id="{F30D4244-83C7-4F2F-8074-F4A4E3B5875E}"/>
              </a:ext>
            </a:extLst>
          </p:cNvPr>
          <p:cNvSpPr>
            <a:spLocks noGrp="1"/>
          </p:cNvSpPr>
          <p:nvPr/>
        </p:nvSpPr>
        <p:spPr>
          <a:xfrm>
            <a:off x="552450" y="2857500"/>
            <a:ext cx="10668000" cy="381000"/>
          </a:xfrm>
          <a:prstGeom prst="rect">
            <a:avLst/>
          </a:prstGeom>
          <a:noFill/>
          <a:ln w="0">
            <a:noFill/>
            <a:prstDash val="solid"/>
          </a:ln>
        </p:spPr>
        <p:txBody>
          <a:bodyPr lIns="0" tIns="0" rIns="0" bIns="0" anchor="t"/>
          <a:lstStyle>
            <a:defPPr>
              <a:defRPr sz="2100" b="1">
                <a:solidFill>
                  <a:srgbClr val="2E6F73"/>
                </a:solidFill>
                <a:latin typeface="Arial"/>
                <a:ea typeface="Arial"/>
                <a:cs typeface="Arial"/>
              </a:defRPr>
            </a:defPPr>
            <a:lvl1pPr>
              <a:defRPr sz="2100" b="1">
                <a:solidFill>
                  <a:srgbClr val="2E6F73"/>
                </a:solidFill>
                <a:latin typeface="Arial"/>
                <a:ea typeface="Arial"/>
                <a:cs typeface="Arial"/>
              </a:defRPr>
            </a:lvl1pPr>
            <a:lvl2pPr>
              <a:defRPr sz="2100" b="1">
                <a:solidFill>
                  <a:srgbClr val="2E6F73"/>
                </a:solidFill>
                <a:latin typeface="Arial"/>
                <a:ea typeface="Arial"/>
                <a:cs typeface="Arial"/>
              </a:defRPr>
            </a:lvl2pPr>
            <a:lvl3pPr>
              <a:defRPr sz="2100" b="1">
                <a:solidFill>
                  <a:srgbClr val="2E6F73"/>
                </a:solidFill>
                <a:latin typeface="Arial"/>
                <a:ea typeface="Arial"/>
                <a:cs typeface="Arial"/>
              </a:defRPr>
            </a:lvl3pPr>
            <a:lvl4pPr>
              <a:defRPr sz="2100" b="1">
                <a:solidFill>
                  <a:srgbClr val="2E6F73"/>
                </a:solidFill>
                <a:latin typeface="Arial"/>
                <a:ea typeface="Arial"/>
                <a:cs typeface="Arial"/>
              </a:defRPr>
            </a:lvl4pPr>
            <a:lvl5pPr>
              <a:defRPr sz="2100" b="1">
                <a:solidFill>
                  <a:srgbClr val="2E6F73"/>
                </a:solidFill>
                <a:latin typeface="Arial"/>
                <a:ea typeface="Arial"/>
                <a:cs typeface="Arial"/>
              </a:defRPr>
            </a:lvl5pPr>
            <a:lvl6pPr>
              <a:defRPr sz="2100" b="1">
                <a:solidFill>
                  <a:srgbClr val="2E6F73"/>
                </a:solidFill>
                <a:latin typeface="Arial"/>
                <a:ea typeface="Arial"/>
                <a:cs typeface="Arial"/>
              </a:defRPr>
            </a:lvl6pPr>
            <a:lvl7pPr>
              <a:defRPr sz="2100" b="1">
                <a:solidFill>
                  <a:srgbClr val="2E6F73"/>
                </a:solidFill>
                <a:latin typeface="Arial"/>
                <a:ea typeface="Arial"/>
                <a:cs typeface="Arial"/>
              </a:defRPr>
            </a:lvl7pPr>
            <a:lvl8pPr>
              <a:defRPr sz="2100" b="1">
                <a:solidFill>
                  <a:srgbClr val="2E6F73"/>
                </a:solidFill>
                <a:latin typeface="Arial"/>
                <a:ea typeface="Arial"/>
                <a:cs typeface="Arial"/>
              </a:defRPr>
            </a:lvl8pPr>
            <a:lvl9pPr>
              <a:defRPr sz="2100" b="1">
                <a:solidFill>
                  <a:srgbClr val="2E6F73"/>
                </a:solidFill>
                <a:latin typeface="Arial"/>
                <a:ea typeface="Arial"/>
                <a:cs typeface="Arial"/>
              </a:defRPr>
            </a:lvl9pPr>
          </a:lstStyle>
          <a:p>
            <a:pPr>
              <a:defRPr sz="2100" b="1">
                <a:solidFill>
                  <a:srgbClr val="2E6F73"/>
                </a:solidFill>
                <a:latin typeface="Arial"/>
                <a:ea typeface="Arial"/>
                <a:cs typeface="Arial"/>
              </a:defRPr>
            </a:pPr>
            <a:r>
              <a:rPr sz="2100" b="1">
                <a:solidFill>
                  <a:srgbClr val="2E6F73"/>
                </a:solidFill>
                <a:latin typeface="Arial"/>
                <a:ea typeface="Arial"/>
                <a:cs typeface="Arial"/>
              </a:rPr>
              <a:t>A non-significant test is not proof</a:t>
            </a:r>
          </a:p>
        </p:txBody>
      </p:sp>
      <p:sp>
        <p:nvSpPr>
          <p:cNvPr id="6" name="text-5">
            <a:extLst>
              <a:ext uri="{FF2B5EF4-FFF2-40B4-BE49-F238E27FC236}">
                <a16:creationId xmlns:a16="http://schemas.microsoft.com/office/drawing/2014/main" id="{8954CC7B-7154-4C12-966F-7BD969DC7DB0}"/>
              </a:ext>
            </a:extLst>
          </p:cNvPr>
          <p:cNvSpPr>
            <a:spLocks noGrp="1"/>
          </p:cNvSpPr>
          <p:nvPr/>
        </p:nvSpPr>
        <p:spPr>
          <a:xfrm>
            <a:off x="552450" y="3267075"/>
            <a:ext cx="10668000" cy="781050"/>
          </a:xfrm>
          <a:prstGeom prst="rect">
            <a:avLst/>
          </a:prstGeom>
          <a:noFill/>
          <a:ln w="0">
            <a:noFill/>
            <a:prstDash val="solid"/>
          </a:ln>
        </p:spPr>
        <p:txBody>
          <a:bodyPr lIns="0" tIns="0" rIns="0" bIns="0" anchor="t"/>
          <a:lstStyle>
            <a:defPPr>
              <a:defRPr sz="2025" b="0">
                <a:solidFill>
                  <a:srgbClr val="1F2A36"/>
                </a:solidFill>
                <a:latin typeface="Arial"/>
                <a:ea typeface="Arial"/>
                <a:cs typeface="Arial"/>
              </a:defRPr>
            </a:defPPr>
            <a:lvl1pPr>
              <a:defRPr sz="2025" b="0">
                <a:solidFill>
                  <a:srgbClr val="1F2A36"/>
                </a:solidFill>
                <a:latin typeface="Arial"/>
                <a:ea typeface="Arial"/>
                <a:cs typeface="Arial"/>
              </a:defRPr>
            </a:lvl1pPr>
            <a:lvl2pPr>
              <a:defRPr sz="2025" b="0">
                <a:solidFill>
                  <a:srgbClr val="1F2A36"/>
                </a:solidFill>
                <a:latin typeface="Arial"/>
                <a:ea typeface="Arial"/>
                <a:cs typeface="Arial"/>
              </a:defRPr>
            </a:lvl2pPr>
            <a:lvl3pPr>
              <a:defRPr sz="2025" b="0">
                <a:solidFill>
                  <a:srgbClr val="1F2A36"/>
                </a:solidFill>
                <a:latin typeface="Arial"/>
                <a:ea typeface="Arial"/>
                <a:cs typeface="Arial"/>
              </a:defRPr>
            </a:lvl3pPr>
            <a:lvl4pPr>
              <a:defRPr sz="2025" b="0">
                <a:solidFill>
                  <a:srgbClr val="1F2A36"/>
                </a:solidFill>
                <a:latin typeface="Arial"/>
                <a:ea typeface="Arial"/>
                <a:cs typeface="Arial"/>
              </a:defRPr>
            </a:lvl4pPr>
            <a:lvl5pPr>
              <a:defRPr sz="2025" b="0">
                <a:solidFill>
                  <a:srgbClr val="1F2A36"/>
                </a:solidFill>
                <a:latin typeface="Arial"/>
                <a:ea typeface="Arial"/>
                <a:cs typeface="Arial"/>
              </a:defRPr>
            </a:lvl5pPr>
            <a:lvl6pPr>
              <a:defRPr sz="2025" b="0">
                <a:solidFill>
                  <a:srgbClr val="1F2A36"/>
                </a:solidFill>
                <a:latin typeface="Arial"/>
                <a:ea typeface="Arial"/>
                <a:cs typeface="Arial"/>
              </a:defRPr>
            </a:lvl6pPr>
            <a:lvl7pPr>
              <a:defRPr sz="2025" b="0">
                <a:solidFill>
                  <a:srgbClr val="1F2A36"/>
                </a:solidFill>
                <a:latin typeface="Arial"/>
                <a:ea typeface="Arial"/>
                <a:cs typeface="Arial"/>
              </a:defRPr>
            </a:lvl7pPr>
            <a:lvl8pPr>
              <a:defRPr sz="2025" b="0">
                <a:solidFill>
                  <a:srgbClr val="1F2A36"/>
                </a:solidFill>
                <a:latin typeface="Arial"/>
                <a:ea typeface="Arial"/>
                <a:cs typeface="Arial"/>
              </a:defRPr>
            </a:lvl8pPr>
            <a:lvl9pPr>
              <a:defRPr sz="2025" b="0">
                <a:solidFill>
                  <a:srgbClr val="1F2A36"/>
                </a:solidFill>
                <a:latin typeface="Arial"/>
                <a:ea typeface="Arial"/>
                <a:cs typeface="Arial"/>
              </a:defRPr>
            </a:lvl9pPr>
          </a:lstStyle>
          <a:p>
            <a:pPr>
              <a:defRPr sz="2025" b="0">
                <a:solidFill>
                  <a:srgbClr val="1F2A36"/>
                </a:solidFill>
                <a:latin typeface="Arial"/>
                <a:ea typeface="Arial"/>
                <a:cs typeface="Arial"/>
              </a:defRPr>
            </a:pPr>
            <a:r>
              <a:rPr sz="2025" b="0">
                <a:solidFill>
                  <a:srgbClr val="1F2A36"/>
                </a:solidFill>
                <a:latin typeface="Arial"/>
                <a:ea typeface="Arial"/>
                <a:cs typeface="Arial"/>
              </a:rPr>
              <a:t>Look at estimates, confidence intervals, and the size of plausible violations.</a:t>
            </a:r>
          </a:p>
        </p:txBody>
      </p:sp>
      <p:sp>
        <p:nvSpPr>
          <p:cNvPr id="7" name="text-6">
            <a:extLst>
              <a:ext uri="{FF2B5EF4-FFF2-40B4-BE49-F238E27FC236}">
                <a16:creationId xmlns:a16="http://schemas.microsoft.com/office/drawing/2014/main" id="{504BEEA5-37D9-42D4-8281-F8E0F15224D2}"/>
              </a:ext>
            </a:extLst>
          </p:cNvPr>
          <p:cNvSpPr>
            <a:spLocks noGrp="1"/>
          </p:cNvSpPr>
          <p:nvPr/>
        </p:nvSpPr>
        <p:spPr>
          <a:xfrm>
            <a:off x="552450" y="4143375"/>
            <a:ext cx="10668000" cy="381000"/>
          </a:xfrm>
          <a:prstGeom prst="rect">
            <a:avLst/>
          </a:prstGeom>
          <a:noFill/>
          <a:ln w="0">
            <a:noFill/>
            <a:prstDash val="solid"/>
          </a:ln>
        </p:spPr>
        <p:txBody>
          <a:bodyPr lIns="0" tIns="0" rIns="0" bIns="0" anchor="t"/>
          <a:lstStyle>
            <a:defPPr>
              <a:defRPr sz="2100" b="1">
                <a:solidFill>
                  <a:srgbClr val="2E6F73"/>
                </a:solidFill>
                <a:latin typeface="Arial"/>
                <a:ea typeface="Arial"/>
                <a:cs typeface="Arial"/>
              </a:defRPr>
            </a:defPPr>
            <a:lvl1pPr>
              <a:defRPr sz="2100" b="1">
                <a:solidFill>
                  <a:srgbClr val="2E6F73"/>
                </a:solidFill>
                <a:latin typeface="Arial"/>
                <a:ea typeface="Arial"/>
                <a:cs typeface="Arial"/>
              </a:defRPr>
            </a:lvl1pPr>
            <a:lvl2pPr>
              <a:defRPr sz="2100" b="1">
                <a:solidFill>
                  <a:srgbClr val="2E6F73"/>
                </a:solidFill>
                <a:latin typeface="Arial"/>
                <a:ea typeface="Arial"/>
                <a:cs typeface="Arial"/>
              </a:defRPr>
            </a:lvl2pPr>
            <a:lvl3pPr>
              <a:defRPr sz="2100" b="1">
                <a:solidFill>
                  <a:srgbClr val="2E6F73"/>
                </a:solidFill>
                <a:latin typeface="Arial"/>
                <a:ea typeface="Arial"/>
                <a:cs typeface="Arial"/>
              </a:defRPr>
            </a:lvl3pPr>
            <a:lvl4pPr>
              <a:defRPr sz="2100" b="1">
                <a:solidFill>
                  <a:srgbClr val="2E6F73"/>
                </a:solidFill>
                <a:latin typeface="Arial"/>
                <a:ea typeface="Arial"/>
                <a:cs typeface="Arial"/>
              </a:defRPr>
            </a:lvl4pPr>
            <a:lvl5pPr>
              <a:defRPr sz="2100" b="1">
                <a:solidFill>
                  <a:srgbClr val="2E6F73"/>
                </a:solidFill>
                <a:latin typeface="Arial"/>
                <a:ea typeface="Arial"/>
                <a:cs typeface="Arial"/>
              </a:defRPr>
            </a:lvl5pPr>
            <a:lvl6pPr>
              <a:defRPr sz="2100" b="1">
                <a:solidFill>
                  <a:srgbClr val="2E6F73"/>
                </a:solidFill>
                <a:latin typeface="Arial"/>
                <a:ea typeface="Arial"/>
                <a:cs typeface="Arial"/>
              </a:defRPr>
            </a:lvl6pPr>
            <a:lvl7pPr>
              <a:defRPr sz="2100" b="1">
                <a:solidFill>
                  <a:srgbClr val="2E6F73"/>
                </a:solidFill>
                <a:latin typeface="Arial"/>
                <a:ea typeface="Arial"/>
                <a:cs typeface="Arial"/>
              </a:defRPr>
            </a:lvl7pPr>
            <a:lvl8pPr>
              <a:defRPr sz="2100" b="1">
                <a:solidFill>
                  <a:srgbClr val="2E6F73"/>
                </a:solidFill>
                <a:latin typeface="Arial"/>
                <a:ea typeface="Arial"/>
                <a:cs typeface="Arial"/>
              </a:defRPr>
            </a:lvl8pPr>
            <a:lvl9pPr>
              <a:defRPr sz="2100" b="1">
                <a:solidFill>
                  <a:srgbClr val="2E6F73"/>
                </a:solidFill>
                <a:latin typeface="Arial"/>
                <a:ea typeface="Arial"/>
                <a:cs typeface="Arial"/>
              </a:defRPr>
            </a:lvl9pPr>
          </a:lstStyle>
          <a:p>
            <a:pPr>
              <a:defRPr sz="2100" b="1">
                <a:solidFill>
                  <a:srgbClr val="2E6F73"/>
                </a:solidFill>
                <a:latin typeface="Arial"/>
                <a:ea typeface="Arial"/>
                <a:cs typeface="Arial"/>
              </a:defRPr>
            </a:pPr>
            <a:r>
              <a:rPr sz="2100" b="1">
                <a:solidFill>
                  <a:srgbClr val="2E6F73"/>
                </a:solidFill>
                <a:latin typeface="Arial"/>
                <a:ea typeface="Arial"/>
                <a:cs typeface="Arial"/>
              </a:rPr>
              <a:t>A rejection calls for investigation</a:t>
            </a:r>
          </a:p>
        </p:txBody>
      </p:sp>
      <p:sp>
        <p:nvSpPr>
          <p:cNvPr id="8" name="text-7">
            <a:extLst>
              <a:ext uri="{FF2B5EF4-FFF2-40B4-BE49-F238E27FC236}">
                <a16:creationId xmlns:a16="http://schemas.microsoft.com/office/drawing/2014/main" id="{DD6AFADB-5D44-4362-AA34-98C43D8A566F}"/>
              </a:ext>
            </a:extLst>
          </p:cNvPr>
          <p:cNvSpPr>
            <a:spLocks noGrp="1"/>
          </p:cNvSpPr>
          <p:nvPr/>
        </p:nvSpPr>
        <p:spPr>
          <a:xfrm>
            <a:off x="552450" y="4552950"/>
            <a:ext cx="10668000" cy="781050"/>
          </a:xfrm>
          <a:prstGeom prst="rect">
            <a:avLst/>
          </a:prstGeom>
          <a:noFill/>
          <a:ln w="0">
            <a:noFill/>
            <a:prstDash val="solid"/>
          </a:ln>
        </p:spPr>
        <p:txBody>
          <a:bodyPr lIns="0" tIns="0" rIns="0" bIns="0" anchor="t"/>
          <a:lstStyle>
            <a:defPPr>
              <a:defRPr sz="2025" b="0">
                <a:solidFill>
                  <a:srgbClr val="1F2A36"/>
                </a:solidFill>
                <a:latin typeface="Arial"/>
                <a:ea typeface="Arial"/>
                <a:cs typeface="Arial"/>
              </a:defRPr>
            </a:defPPr>
            <a:lvl1pPr>
              <a:defRPr sz="2025" b="0">
                <a:solidFill>
                  <a:srgbClr val="1F2A36"/>
                </a:solidFill>
                <a:latin typeface="Arial"/>
                <a:ea typeface="Arial"/>
                <a:cs typeface="Arial"/>
              </a:defRPr>
            </a:lvl1pPr>
            <a:lvl2pPr>
              <a:defRPr sz="2025" b="0">
                <a:solidFill>
                  <a:srgbClr val="1F2A36"/>
                </a:solidFill>
                <a:latin typeface="Arial"/>
                <a:ea typeface="Arial"/>
                <a:cs typeface="Arial"/>
              </a:defRPr>
            </a:lvl2pPr>
            <a:lvl3pPr>
              <a:defRPr sz="2025" b="0">
                <a:solidFill>
                  <a:srgbClr val="1F2A36"/>
                </a:solidFill>
                <a:latin typeface="Arial"/>
                <a:ea typeface="Arial"/>
                <a:cs typeface="Arial"/>
              </a:defRPr>
            </a:lvl3pPr>
            <a:lvl4pPr>
              <a:defRPr sz="2025" b="0">
                <a:solidFill>
                  <a:srgbClr val="1F2A36"/>
                </a:solidFill>
                <a:latin typeface="Arial"/>
                <a:ea typeface="Arial"/>
                <a:cs typeface="Arial"/>
              </a:defRPr>
            </a:lvl4pPr>
            <a:lvl5pPr>
              <a:defRPr sz="2025" b="0">
                <a:solidFill>
                  <a:srgbClr val="1F2A36"/>
                </a:solidFill>
                <a:latin typeface="Arial"/>
                <a:ea typeface="Arial"/>
                <a:cs typeface="Arial"/>
              </a:defRPr>
            </a:lvl5pPr>
            <a:lvl6pPr>
              <a:defRPr sz="2025" b="0">
                <a:solidFill>
                  <a:srgbClr val="1F2A36"/>
                </a:solidFill>
                <a:latin typeface="Arial"/>
                <a:ea typeface="Arial"/>
                <a:cs typeface="Arial"/>
              </a:defRPr>
            </a:lvl6pPr>
            <a:lvl7pPr>
              <a:defRPr sz="2025" b="0">
                <a:solidFill>
                  <a:srgbClr val="1F2A36"/>
                </a:solidFill>
                <a:latin typeface="Arial"/>
                <a:ea typeface="Arial"/>
                <a:cs typeface="Arial"/>
              </a:defRPr>
            </a:lvl7pPr>
            <a:lvl8pPr>
              <a:defRPr sz="2025" b="0">
                <a:solidFill>
                  <a:srgbClr val="1F2A36"/>
                </a:solidFill>
                <a:latin typeface="Arial"/>
                <a:ea typeface="Arial"/>
                <a:cs typeface="Arial"/>
              </a:defRPr>
            </a:lvl8pPr>
            <a:lvl9pPr>
              <a:defRPr sz="2025" b="0">
                <a:solidFill>
                  <a:srgbClr val="1F2A36"/>
                </a:solidFill>
                <a:latin typeface="Arial"/>
                <a:ea typeface="Arial"/>
                <a:cs typeface="Arial"/>
              </a:defRPr>
            </a:lvl9pPr>
          </a:lstStyle>
          <a:p>
            <a:pPr>
              <a:defRPr sz="2025" b="0">
                <a:solidFill>
                  <a:srgbClr val="1F2A36"/>
                </a:solidFill>
                <a:latin typeface="Arial"/>
                <a:ea typeface="Arial"/>
                <a:cs typeface="Arial"/>
              </a:defRPr>
            </a:pPr>
            <a:r>
              <a:rPr sz="2025" b="0">
                <a:solidFill>
                  <a:srgbClr val="1F2A36"/>
                </a:solidFill>
                <a:latin typeface="Arial"/>
                <a:ea typeface="Arial"/>
                <a:cs typeface="Arial"/>
              </a:rPr>
              <a:t>Consider differential trends, anticipation, specification, and estimator choice.</a:t>
            </a:r>
          </a:p>
        </p:txBody>
      </p:sp>
    </p:spTree>
    <p:extLst>
      <p:ext uri="{BB962C8B-B14F-4D97-AF65-F5344CB8AC3E}">
        <p14:creationId xmlns:p14="http://schemas.microsoft.com/office/powerpoint/2010/main" val="5931606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text-0">
            <a:extLst>
              <a:ext uri="{FF2B5EF4-FFF2-40B4-BE49-F238E27FC236}">
                <a16:creationId xmlns:a16="http://schemas.microsoft.com/office/drawing/2014/main" id="{D1DEC0C1-19C1-4D2F-B871-3416CDF3B0DC}"/>
              </a:ext>
            </a:extLst>
          </p:cNvPr>
          <p:cNvSpPr>
            <a:spLocks noGrp="1"/>
          </p:cNvSpPr>
          <p:nvPr/>
        </p:nvSpPr>
        <p:spPr>
          <a:xfrm>
            <a:off x="552450" y="361950"/>
            <a:ext cx="11087100" cy="857250"/>
          </a:xfrm>
          <a:prstGeom prst="rect">
            <a:avLst/>
          </a:prstGeom>
          <a:noFill/>
          <a:ln w="0">
            <a:noFill/>
            <a:prstDash val="solid"/>
          </a:ln>
        </p:spPr>
        <p:txBody>
          <a:bodyPr lIns="0" tIns="0" rIns="0" bIns="0" anchor="t"/>
          <a:lstStyle>
            <a:defPPr>
              <a:defRPr sz="3000" b="1">
                <a:solidFill>
                  <a:srgbClr val="1F2A36"/>
                </a:solidFill>
                <a:latin typeface="Arial"/>
                <a:ea typeface="Arial"/>
                <a:cs typeface="Arial"/>
              </a:defRPr>
            </a:defPPr>
            <a:lvl1pPr>
              <a:defRPr sz="3000" b="1">
                <a:solidFill>
                  <a:srgbClr val="1F2A36"/>
                </a:solidFill>
                <a:latin typeface="Arial"/>
                <a:ea typeface="Arial"/>
                <a:cs typeface="Arial"/>
              </a:defRPr>
            </a:lvl1pPr>
            <a:lvl2pPr>
              <a:defRPr sz="3000" b="1">
                <a:solidFill>
                  <a:srgbClr val="1F2A36"/>
                </a:solidFill>
                <a:latin typeface="Arial"/>
                <a:ea typeface="Arial"/>
                <a:cs typeface="Arial"/>
              </a:defRPr>
            </a:lvl2pPr>
            <a:lvl3pPr>
              <a:defRPr sz="3000" b="1">
                <a:solidFill>
                  <a:srgbClr val="1F2A36"/>
                </a:solidFill>
                <a:latin typeface="Arial"/>
                <a:ea typeface="Arial"/>
                <a:cs typeface="Arial"/>
              </a:defRPr>
            </a:lvl3pPr>
            <a:lvl4pPr>
              <a:defRPr sz="3000" b="1">
                <a:solidFill>
                  <a:srgbClr val="1F2A36"/>
                </a:solidFill>
                <a:latin typeface="Arial"/>
                <a:ea typeface="Arial"/>
                <a:cs typeface="Arial"/>
              </a:defRPr>
            </a:lvl4pPr>
            <a:lvl5pPr>
              <a:defRPr sz="3000" b="1">
                <a:solidFill>
                  <a:srgbClr val="1F2A36"/>
                </a:solidFill>
                <a:latin typeface="Arial"/>
                <a:ea typeface="Arial"/>
                <a:cs typeface="Arial"/>
              </a:defRPr>
            </a:lvl5pPr>
            <a:lvl6pPr>
              <a:defRPr sz="3000" b="1">
                <a:solidFill>
                  <a:srgbClr val="1F2A36"/>
                </a:solidFill>
                <a:latin typeface="Arial"/>
                <a:ea typeface="Arial"/>
                <a:cs typeface="Arial"/>
              </a:defRPr>
            </a:lvl6pPr>
            <a:lvl7pPr>
              <a:defRPr sz="3000" b="1">
                <a:solidFill>
                  <a:srgbClr val="1F2A36"/>
                </a:solidFill>
                <a:latin typeface="Arial"/>
                <a:ea typeface="Arial"/>
                <a:cs typeface="Arial"/>
              </a:defRPr>
            </a:lvl7pPr>
            <a:lvl8pPr>
              <a:defRPr sz="3000" b="1">
                <a:solidFill>
                  <a:srgbClr val="1F2A36"/>
                </a:solidFill>
                <a:latin typeface="Arial"/>
                <a:ea typeface="Arial"/>
                <a:cs typeface="Arial"/>
              </a:defRPr>
            </a:lvl8pPr>
            <a:lvl9pPr>
              <a:defRPr sz="3000" b="1">
                <a:solidFill>
                  <a:srgbClr val="1F2A36"/>
                </a:solidFill>
                <a:latin typeface="Arial"/>
                <a:ea typeface="Arial"/>
                <a:cs typeface="Arial"/>
              </a:defRPr>
            </a:lvl9pPr>
          </a:lstStyle>
          <a:p>
            <a:pPr>
              <a:defRPr sz="3000" b="1">
                <a:solidFill>
                  <a:srgbClr val="1F2A36"/>
                </a:solidFill>
                <a:latin typeface="Arial"/>
                <a:ea typeface="Arial"/>
                <a:cs typeface="Arial"/>
              </a:defRPr>
            </a:pPr>
            <a:r>
              <a:rPr sz="3000" b="1">
                <a:solidFill>
                  <a:srgbClr val="1F2A36"/>
                </a:solidFill>
                <a:latin typeface="Arial"/>
                <a:ea typeface="Arial"/>
                <a:cs typeface="Arial"/>
              </a:rPr>
              <a:t>Legewie &amp; Fagan: what is being compared?</a:t>
            </a:r>
          </a:p>
        </p:txBody>
      </p:sp>
      <p:sp>
        <p:nvSpPr>
          <p:cNvPr id="2" name="text-1">
            <a:extLst>
              <a:ext uri="{FF2B5EF4-FFF2-40B4-BE49-F238E27FC236}">
                <a16:creationId xmlns:a16="http://schemas.microsoft.com/office/drawing/2014/main" id="{DBB87527-C7B8-4A78-A720-1AEDAB0E4FF4}"/>
              </a:ext>
            </a:extLst>
          </p:cNvPr>
          <p:cNvSpPr>
            <a:spLocks noGrp="1"/>
          </p:cNvSpPr>
          <p:nvPr/>
        </p:nvSpPr>
        <p:spPr>
          <a:xfrm>
            <a:off x="11239500" y="6400800"/>
            <a:ext cx="476250" cy="266700"/>
          </a:xfrm>
          <a:prstGeom prst="rect">
            <a:avLst/>
          </a:prstGeom>
          <a:noFill/>
          <a:ln w="0">
            <a:noFill/>
            <a:prstDash val="solid"/>
          </a:ln>
        </p:spPr>
        <p:txBody>
          <a:bodyPr lIns="0" tIns="0" rIns="0" bIns="0" anchor="t"/>
          <a:lstStyle>
            <a:defPPr>
              <a:defRPr sz="1350" b="0">
                <a:solidFill>
                  <a:srgbClr val="5B6B78"/>
                </a:solidFill>
                <a:latin typeface="Arial"/>
                <a:ea typeface="Arial"/>
                <a:cs typeface="Arial"/>
              </a:defRPr>
            </a:defPPr>
            <a:lvl1pPr>
              <a:defRPr sz="1350" b="0">
                <a:solidFill>
                  <a:srgbClr val="5B6B78"/>
                </a:solidFill>
                <a:latin typeface="Arial"/>
                <a:ea typeface="Arial"/>
                <a:cs typeface="Arial"/>
              </a:defRPr>
            </a:lvl1pPr>
            <a:lvl2pPr>
              <a:defRPr sz="1350" b="0">
                <a:solidFill>
                  <a:srgbClr val="5B6B78"/>
                </a:solidFill>
                <a:latin typeface="Arial"/>
                <a:ea typeface="Arial"/>
                <a:cs typeface="Arial"/>
              </a:defRPr>
            </a:lvl2pPr>
            <a:lvl3pPr>
              <a:defRPr sz="1350" b="0">
                <a:solidFill>
                  <a:srgbClr val="5B6B78"/>
                </a:solidFill>
                <a:latin typeface="Arial"/>
                <a:ea typeface="Arial"/>
                <a:cs typeface="Arial"/>
              </a:defRPr>
            </a:lvl3pPr>
            <a:lvl4pPr>
              <a:defRPr sz="1350" b="0">
                <a:solidFill>
                  <a:srgbClr val="5B6B78"/>
                </a:solidFill>
                <a:latin typeface="Arial"/>
                <a:ea typeface="Arial"/>
                <a:cs typeface="Arial"/>
              </a:defRPr>
            </a:lvl4pPr>
            <a:lvl5pPr>
              <a:defRPr sz="1350" b="0">
                <a:solidFill>
                  <a:srgbClr val="5B6B78"/>
                </a:solidFill>
                <a:latin typeface="Arial"/>
                <a:ea typeface="Arial"/>
                <a:cs typeface="Arial"/>
              </a:defRPr>
            </a:lvl5pPr>
            <a:lvl6pPr>
              <a:defRPr sz="1350" b="0">
                <a:solidFill>
                  <a:srgbClr val="5B6B78"/>
                </a:solidFill>
                <a:latin typeface="Arial"/>
                <a:ea typeface="Arial"/>
                <a:cs typeface="Arial"/>
              </a:defRPr>
            </a:lvl6pPr>
            <a:lvl7pPr>
              <a:defRPr sz="1350" b="0">
                <a:solidFill>
                  <a:srgbClr val="5B6B78"/>
                </a:solidFill>
                <a:latin typeface="Arial"/>
                <a:ea typeface="Arial"/>
                <a:cs typeface="Arial"/>
              </a:defRPr>
            </a:lvl7pPr>
            <a:lvl8pPr>
              <a:defRPr sz="1350" b="0">
                <a:solidFill>
                  <a:srgbClr val="5B6B78"/>
                </a:solidFill>
                <a:latin typeface="Arial"/>
                <a:ea typeface="Arial"/>
                <a:cs typeface="Arial"/>
              </a:defRPr>
            </a:lvl8pPr>
            <a:lvl9pPr>
              <a:defRPr sz="1350" b="0">
                <a:solidFill>
                  <a:srgbClr val="5B6B78"/>
                </a:solidFill>
                <a:latin typeface="Arial"/>
                <a:ea typeface="Arial"/>
                <a:cs typeface="Arial"/>
              </a:defRPr>
            </a:lvl9pPr>
          </a:lstStyle>
          <a:p>
            <a:pPr>
              <a:defRPr sz="1350" b="0">
                <a:solidFill>
                  <a:srgbClr val="5B6B78"/>
                </a:solidFill>
                <a:latin typeface="Arial"/>
                <a:ea typeface="Arial"/>
                <a:cs typeface="Arial"/>
              </a:defRPr>
            </a:pPr>
            <a:r>
              <a:rPr sz="1350" b="0">
                <a:solidFill>
                  <a:srgbClr val="5B6B78"/>
                </a:solidFill>
                <a:latin typeface="Arial"/>
                <a:ea typeface="Arial"/>
                <a:cs typeface="Arial"/>
              </a:rPr>
              <a:t>8</a:t>
            </a:r>
          </a:p>
        </p:txBody>
      </p:sp>
      <p:sp>
        <p:nvSpPr>
          <p:cNvPr id="3" name="text-2">
            <a:extLst>
              <a:ext uri="{FF2B5EF4-FFF2-40B4-BE49-F238E27FC236}">
                <a16:creationId xmlns:a16="http://schemas.microsoft.com/office/drawing/2014/main" id="{A21531E7-6195-4C23-B323-87284D4FF6F5}"/>
              </a:ext>
            </a:extLst>
          </p:cNvPr>
          <p:cNvSpPr>
            <a:spLocks noGrp="1"/>
          </p:cNvSpPr>
          <p:nvPr/>
        </p:nvSpPr>
        <p:spPr>
          <a:xfrm>
            <a:off x="552450" y="6200775"/>
            <a:ext cx="10382250" cy="333375"/>
          </a:xfrm>
          <a:prstGeom prst="rect">
            <a:avLst/>
          </a:prstGeom>
          <a:noFill/>
          <a:ln w="0">
            <a:noFill/>
            <a:prstDash val="solid"/>
          </a:ln>
        </p:spPr>
        <p:txBody>
          <a:bodyPr lIns="0" tIns="0" rIns="0" bIns="0" anchor="t"/>
          <a:lstStyle>
            <a:defPPr>
              <a:defRPr sz="1125" b="0">
                <a:solidFill>
                  <a:srgbClr val="5B6B78"/>
                </a:solidFill>
                <a:latin typeface="Arial"/>
                <a:ea typeface="Arial"/>
                <a:cs typeface="Arial"/>
              </a:defRPr>
            </a:defPPr>
            <a:lvl1pPr>
              <a:defRPr sz="1125" b="0">
                <a:solidFill>
                  <a:srgbClr val="5B6B78"/>
                </a:solidFill>
                <a:latin typeface="Arial"/>
                <a:ea typeface="Arial"/>
                <a:cs typeface="Arial"/>
              </a:defRPr>
            </a:lvl1pPr>
            <a:lvl2pPr>
              <a:defRPr sz="1125" b="0">
                <a:solidFill>
                  <a:srgbClr val="5B6B78"/>
                </a:solidFill>
                <a:latin typeface="Arial"/>
                <a:ea typeface="Arial"/>
                <a:cs typeface="Arial"/>
              </a:defRPr>
            </a:lvl2pPr>
            <a:lvl3pPr>
              <a:defRPr sz="1125" b="0">
                <a:solidFill>
                  <a:srgbClr val="5B6B78"/>
                </a:solidFill>
                <a:latin typeface="Arial"/>
                <a:ea typeface="Arial"/>
                <a:cs typeface="Arial"/>
              </a:defRPr>
            </a:lvl3pPr>
            <a:lvl4pPr>
              <a:defRPr sz="1125" b="0">
                <a:solidFill>
                  <a:srgbClr val="5B6B78"/>
                </a:solidFill>
                <a:latin typeface="Arial"/>
                <a:ea typeface="Arial"/>
                <a:cs typeface="Arial"/>
              </a:defRPr>
            </a:lvl4pPr>
            <a:lvl5pPr>
              <a:defRPr sz="1125" b="0">
                <a:solidFill>
                  <a:srgbClr val="5B6B78"/>
                </a:solidFill>
                <a:latin typeface="Arial"/>
                <a:ea typeface="Arial"/>
                <a:cs typeface="Arial"/>
              </a:defRPr>
            </a:lvl5pPr>
            <a:lvl6pPr>
              <a:defRPr sz="1125" b="0">
                <a:solidFill>
                  <a:srgbClr val="5B6B78"/>
                </a:solidFill>
                <a:latin typeface="Arial"/>
                <a:ea typeface="Arial"/>
                <a:cs typeface="Arial"/>
              </a:defRPr>
            </a:lvl6pPr>
            <a:lvl7pPr>
              <a:defRPr sz="1125" b="0">
                <a:solidFill>
                  <a:srgbClr val="5B6B78"/>
                </a:solidFill>
                <a:latin typeface="Arial"/>
                <a:ea typeface="Arial"/>
                <a:cs typeface="Arial"/>
              </a:defRPr>
            </a:lvl7pPr>
            <a:lvl8pPr>
              <a:defRPr sz="1125" b="0">
                <a:solidFill>
                  <a:srgbClr val="5B6B78"/>
                </a:solidFill>
                <a:latin typeface="Arial"/>
                <a:ea typeface="Arial"/>
                <a:cs typeface="Arial"/>
              </a:defRPr>
            </a:lvl8pPr>
            <a:lvl9pPr>
              <a:defRPr sz="1125" b="0">
                <a:solidFill>
                  <a:srgbClr val="5B6B78"/>
                </a:solidFill>
                <a:latin typeface="Arial"/>
                <a:ea typeface="Arial"/>
                <a:cs typeface="Arial"/>
              </a:defRPr>
            </a:lvl9pPr>
          </a:lstStyle>
          <a:p>
            <a:pPr>
              <a:defRPr sz="1125" b="0">
                <a:solidFill>
                  <a:srgbClr val="5B6B78"/>
                </a:solidFill>
                <a:latin typeface="Arial"/>
                <a:ea typeface="Arial"/>
                <a:cs typeface="Arial"/>
              </a:defRPr>
            </a:pPr>
            <a:r>
              <a:rPr sz="1125" b="0">
                <a:solidFill>
                  <a:srgbClr val="5B6B78"/>
                </a:solidFill>
                <a:latin typeface="Arial"/>
                <a:ea typeface="Arial"/>
                <a:cs typeface="Arial"/>
              </a:rPr>
              <a:t>Legewie &amp; Fagan (2019), Data and Methods / Estimation Strategy</a:t>
            </a:r>
          </a:p>
        </p:txBody>
      </p:sp>
      <p:graphicFrame>
        <p:nvGraphicFramePr>
          <p:cNvPr id="4" name="Table 3">
            <a:extLst>
              <a:ext uri="{FF2B5EF4-FFF2-40B4-BE49-F238E27FC236}">
                <a16:creationId xmlns:a16="http://schemas.microsoft.com/office/drawing/2014/main" id="{6076CCAF-3A77-4A5E-9F3E-4207C24E148E}"/>
              </a:ext>
            </a:extLst>
          </p:cNvPr>
          <p:cNvGraphicFramePr/>
          <p:nvPr/>
        </p:nvGraphicFramePr>
        <p:xfrm>
          <a:off x="552450" y="1524000"/>
          <a:ext cx="11049000" cy="4000500"/>
        </p:xfrm>
        <a:graphic>
          <a:graphicData uri="http://schemas.openxmlformats.org/drawingml/2006/table">
            <a:tbl>
              <a:tblPr/>
              <a:tblGrid>
                <a:gridCol w="2762250">
                  <a:extLst>
                    <a:ext uri="{9D8B030D-6E8A-4147-A177-3AD203B41FA5}">
                      <a16:colId xmlns:a16="http://schemas.microsoft.com/office/drawing/2014/main" val="20000"/>
                    </a:ext>
                  </a:extLst>
                </a:gridCol>
                <a:gridCol w="8286750">
                  <a:extLst>
                    <a:ext uri="{9D8B030D-6E8A-4147-A177-3AD203B41FA5}">
                      <a16:colId xmlns:a16="http://schemas.microsoft.com/office/drawing/2014/main" val="20001"/>
                    </a:ext>
                  </a:extLst>
                </a:gridCol>
              </a:tblGrid>
              <a:tr h="666750">
                <a:tc>
                  <a:txBody>
                    <a:bodyPr/>
                    <a:lstStyle/>
                    <a:p>
                      <a:r>
                        <a:rPr sz="1800" b="1">
                          <a:solidFill>
                            <a:srgbClr val="FFFFFF"/>
                          </a:solidFill>
                          <a:latin typeface="Arial"/>
                          <a:ea typeface="Arial"/>
                          <a:cs typeface="Arial"/>
                        </a:rPr>
                        <a:t>Design element</a:t>
                      </a:r>
                    </a:p>
                  </a:txBody>
                  <a:tcPr>
                    <a:solidFill>
                      <a:srgbClr val="2E6F73"/>
                    </a:solidFill>
                  </a:tcPr>
                </a:tc>
                <a:tc>
                  <a:txBody>
                    <a:bodyPr/>
                    <a:lstStyle/>
                    <a:p>
                      <a:r>
                        <a:rPr sz="1800" b="1">
                          <a:solidFill>
                            <a:srgbClr val="FFFFFF"/>
                          </a:solidFill>
                          <a:latin typeface="Arial"/>
                          <a:ea typeface="Arial"/>
                          <a:cs typeface="Arial"/>
                        </a:rPr>
                        <a:t>Study specification</a:t>
                      </a:r>
                    </a:p>
                  </a:txBody>
                  <a:tcPr>
                    <a:solidFill>
                      <a:srgbClr val="2E6F73"/>
                    </a:solidFill>
                  </a:tcPr>
                </a:tc>
                <a:extLst>
                  <a:ext uri="{0D108BD9-81ED-4DB2-BD59-A6C34878D82A}">
                    <a16:rowId xmlns:a16="http://schemas.microsoft.com/office/drawing/2014/main" val="10000"/>
                  </a:ext>
                </a:extLst>
              </a:tr>
              <a:tr h="666750">
                <a:tc>
                  <a:txBody>
                    <a:bodyPr/>
                    <a:lstStyle/>
                    <a:p>
                      <a:r>
                        <a:rPr sz="1800" b="0">
                          <a:solidFill>
                            <a:srgbClr val="1F2A36"/>
                          </a:solidFill>
                          <a:latin typeface="Arial"/>
                          <a:ea typeface="Arial"/>
                          <a:cs typeface="Arial"/>
                        </a:rPr>
                        <a:t>Outcome</a:t>
                      </a:r>
                    </a:p>
                  </a:txBody>
                  <a:tcPr>
                    <a:solidFill>
                      <a:srgbClr val="FFFFFF"/>
                    </a:solidFill>
                  </a:tcPr>
                </a:tc>
                <a:tc>
                  <a:txBody>
                    <a:bodyPr/>
                    <a:lstStyle/>
                    <a:p>
                      <a:r>
                        <a:rPr sz="1800" b="0">
                          <a:solidFill>
                            <a:srgbClr val="1F2A36"/>
                          </a:solidFill>
                          <a:latin typeface="Arial"/>
                          <a:ea typeface="Arial"/>
                          <a:cs typeface="Arial"/>
                        </a:rPr>
                        <a:t>ELA and mathematics test scores</a:t>
                      </a:r>
                    </a:p>
                  </a:txBody>
                  <a:tcPr>
                    <a:solidFill>
                      <a:srgbClr val="FFFFFF"/>
                    </a:solidFill>
                  </a:tcPr>
                </a:tc>
                <a:extLst>
                  <a:ext uri="{0D108BD9-81ED-4DB2-BD59-A6C34878D82A}">
                    <a16:rowId xmlns:a16="http://schemas.microsoft.com/office/drawing/2014/main" val="10001"/>
                  </a:ext>
                </a:extLst>
              </a:tr>
              <a:tr h="666750">
                <a:tc>
                  <a:txBody>
                    <a:bodyPr/>
                    <a:lstStyle/>
                    <a:p>
                      <a:r>
                        <a:rPr sz="1800" b="0">
                          <a:solidFill>
                            <a:srgbClr val="1F2A36"/>
                          </a:solidFill>
                          <a:latin typeface="Arial"/>
                          <a:ea typeface="Arial"/>
                          <a:cs typeface="Arial"/>
                        </a:rPr>
                        <a:t>Exposure</a:t>
                      </a:r>
                    </a:p>
                  </a:txBody>
                  <a:tcPr>
                    <a:solidFill>
                      <a:srgbClr val="EEF1F3"/>
                    </a:solidFill>
                  </a:tcPr>
                </a:tc>
                <a:tc>
                  <a:txBody>
                    <a:bodyPr/>
                    <a:lstStyle/>
                    <a:p>
                      <a:r>
                        <a:rPr sz="1800" b="0">
                          <a:solidFill>
                            <a:srgbClr val="1F2A36"/>
                          </a:solidFill>
                          <a:latin typeface="Arial"/>
                          <a:ea typeface="Arial"/>
                          <a:cs typeface="Arial"/>
                        </a:rPr>
                        <a:t>Days living in an impact zone, scaled to one year</a:t>
                      </a:r>
                    </a:p>
                  </a:txBody>
                  <a:tcPr>
                    <a:solidFill>
                      <a:srgbClr val="EEF1F3"/>
                    </a:solidFill>
                  </a:tcPr>
                </a:tc>
                <a:extLst>
                  <a:ext uri="{0D108BD9-81ED-4DB2-BD59-A6C34878D82A}">
                    <a16:rowId xmlns:a16="http://schemas.microsoft.com/office/drawing/2014/main" val="10002"/>
                  </a:ext>
                </a:extLst>
              </a:tr>
              <a:tr h="666750">
                <a:tc>
                  <a:txBody>
                    <a:bodyPr/>
                    <a:lstStyle/>
                    <a:p>
                      <a:r>
                        <a:rPr sz="1800" b="0">
                          <a:solidFill>
                            <a:srgbClr val="1F2A36"/>
                          </a:solidFill>
                          <a:latin typeface="Arial"/>
                          <a:ea typeface="Arial"/>
                          <a:cs typeface="Arial"/>
                        </a:rPr>
                        <a:t>Comparison</a:t>
                      </a:r>
                    </a:p>
                  </a:txBody>
                  <a:tcPr>
                    <a:solidFill>
                      <a:srgbClr val="FFFFFF"/>
                    </a:solidFill>
                  </a:tcPr>
                </a:tc>
                <a:tc>
                  <a:txBody>
                    <a:bodyPr/>
                    <a:lstStyle/>
                    <a:p>
                      <a:r>
                        <a:rPr sz="1800" b="0">
                          <a:solidFill>
                            <a:srgbClr val="1F2A36"/>
                          </a:solidFill>
                          <a:latin typeface="Arial"/>
                          <a:ea typeface="Arial"/>
                          <a:cs typeface="Arial"/>
                        </a:rPr>
                        <a:t>Other areas ever designated, at different times</a:t>
                      </a:r>
                    </a:p>
                  </a:txBody>
                  <a:tcPr>
                    <a:solidFill>
                      <a:srgbClr val="FFFFFF"/>
                    </a:solidFill>
                  </a:tcPr>
                </a:tc>
                <a:extLst>
                  <a:ext uri="{0D108BD9-81ED-4DB2-BD59-A6C34878D82A}">
                    <a16:rowId xmlns:a16="http://schemas.microsoft.com/office/drawing/2014/main" val="10003"/>
                  </a:ext>
                </a:extLst>
              </a:tr>
              <a:tr h="666750">
                <a:tc>
                  <a:txBody>
                    <a:bodyPr/>
                    <a:lstStyle/>
                    <a:p>
                      <a:r>
                        <a:rPr sz="1800" b="0">
                          <a:solidFill>
                            <a:srgbClr val="1F2A36"/>
                          </a:solidFill>
                          <a:latin typeface="Arial"/>
                          <a:ea typeface="Arial"/>
                          <a:cs typeface="Arial"/>
                        </a:rPr>
                        <a:t>Adjustment</a:t>
                      </a:r>
                    </a:p>
                  </a:txBody>
                  <a:tcPr>
                    <a:solidFill>
                      <a:srgbClr val="EEF1F3"/>
                    </a:solidFill>
                  </a:tcPr>
                </a:tc>
                <a:tc>
                  <a:txBody>
                    <a:bodyPr/>
                    <a:lstStyle/>
                    <a:p>
                      <a:r>
                        <a:rPr sz="1800" b="0">
                          <a:solidFill>
                            <a:srgbClr val="1F2A36"/>
                          </a:solidFill>
                          <a:latin typeface="Arial"/>
                          <a:ea typeface="Arial"/>
                          <a:cs typeface="Arial"/>
                        </a:rPr>
                        <a:t>Prior crime; neighborhood and grade-by-year effects</a:t>
                      </a:r>
                    </a:p>
                  </a:txBody>
                  <a:tcPr>
                    <a:solidFill>
                      <a:srgbClr val="EEF1F3"/>
                    </a:solidFill>
                  </a:tcPr>
                </a:tc>
                <a:extLst>
                  <a:ext uri="{0D108BD9-81ED-4DB2-BD59-A6C34878D82A}">
                    <a16:rowId xmlns:a16="http://schemas.microsoft.com/office/drawing/2014/main" val="10004"/>
                  </a:ext>
                </a:extLst>
              </a:tr>
              <a:tr h="666750">
                <a:tc>
                  <a:txBody>
                    <a:bodyPr/>
                    <a:lstStyle/>
                    <a:p>
                      <a:r>
                        <a:rPr sz="1800" b="0">
                          <a:solidFill>
                            <a:srgbClr val="1F2A36"/>
                          </a:solidFill>
                          <a:latin typeface="Arial"/>
                          <a:ea typeface="Arial"/>
                          <a:cs typeface="Arial"/>
                        </a:rPr>
                        <a:t>Preferred model</a:t>
                      </a:r>
                    </a:p>
                  </a:txBody>
                  <a:tcPr>
                    <a:solidFill>
                      <a:srgbClr val="FFFFFF"/>
                    </a:solidFill>
                  </a:tcPr>
                </a:tc>
                <a:tc>
                  <a:txBody>
                    <a:bodyPr/>
                    <a:lstStyle/>
                    <a:p>
                      <a:r>
                        <a:rPr sz="1800" b="0">
                          <a:solidFill>
                            <a:srgbClr val="1F2A36"/>
                          </a:solidFill>
                          <a:latin typeface="Arial"/>
                          <a:ea typeface="Arial"/>
                          <a:cs typeface="Arial"/>
                        </a:rPr>
                        <a:t>Also includes student fixed effects</a:t>
                      </a:r>
                    </a:p>
                  </a:txBody>
                  <a:tcPr>
                    <a:solidFill>
                      <a:srgbClr val="FFFFFF"/>
                    </a:solidFill>
                  </a:tcPr>
                </a:tc>
                <a:extLst>
                  <a:ext uri="{0D108BD9-81ED-4DB2-BD59-A6C34878D82A}">
                    <a16:rowId xmlns:a16="http://schemas.microsoft.com/office/drawing/2014/main" val="10005"/>
                  </a:ext>
                </a:extLst>
              </a:tr>
            </a:tbl>
          </a:graphicData>
        </a:graphic>
      </p:graphicFrame>
      <p:sp>
        <p:nvSpPr>
          <p:cNvPr id="5" name="text-3">
            <a:extLst>
              <a:ext uri="{FF2B5EF4-FFF2-40B4-BE49-F238E27FC236}">
                <a16:creationId xmlns:a16="http://schemas.microsoft.com/office/drawing/2014/main" id="{8108BA5B-3FB8-4AC5-B18E-8311F893314C}"/>
              </a:ext>
            </a:extLst>
          </p:cNvPr>
          <p:cNvSpPr>
            <a:spLocks noGrp="1"/>
          </p:cNvSpPr>
          <p:nvPr/>
        </p:nvSpPr>
        <p:spPr>
          <a:xfrm>
            <a:off x="552450" y="5715000"/>
            <a:ext cx="10858500" cy="428625"/>
          </a:xfrm>
          <a:prstGeom prst="rect">
            <a:avLst/>
          </a:prstGeom>
          <a:noFill/>
          <a:ln w="0">
            <a:noFill/>
            <a:prstDash val="solid"/>
          </a:ln>
        </p:spPr>
        <p:txBody>
          <a:bodyPr lIns="0" tIns="0" rIns="0" bIns="0" anchor="t"/>
          <a:lstStyle>
            <a:defPPr>
              <a:defRPr sz="2100" b="1">
                <a:solidFill>
                  <a:srgbClr val="2E6F73"/>
                </a:solidFill>
                <a:latin typeface="Arial"/>
                <a:ea typeface="Arial"/>
                <a:cs typeface="Arial"/>
              </a:defRPr>
            </a:defPPr>
            <a:lvl1pPr>
              <a:defRPr sz="2100" b="1">
                <a:solidFill>
                  <a:srgbClr val="2E6F73"/>
                </a:solidFill>
                <a:latin typeface="Arial"/>
                <a:ea typeface="Arial"/>
                <a:cs typeface="Arial"/>
              </a:defRPr>
            </a:lvl1pPr>
            <a:lvl2pPr>
              <a:defRPr sz="2100" b="1">
                <a:solidFill>
                  <a:srgbClr val="2E6F73"/>
                </a:solidFill>
                <a:latin typeface="Arial"/>
                <a:ea typeface="Arial"/>
                <a:cs typeface="Arial"/>
              </a:defRPr>
            </a:lvl2pPr>
            <a:lvl3pPr>
              <a:defRPr sz="2100" b="1">
                <a:solidFill>
                  <a:srgbClr val="2E6F73"/>
                </a:solidFill>
                <a:latin typeface="Arial"/>
                <a:ea typeface="Arial"/>
                <a:cs typeface="Arial"/>
              </a:defRPr>
            </a:lvl3pPr>
            <a:lvl4pPr>
              <a:defRPr sz="2100" b="1">
                <a:solidFill>
                  <a:srgbClr val="2E6F73"/>
                </a:solidFill>
                <a:latin typeface="Arial"/>
                <a:ea typeface="Arial"/>
                <a:cs typeface="Arial"/>
              </a:defRPr>
            </a:lvl4pPr>
            <a:lvl5pPr>
              <a:defRPr sz="2100" b="1">
                <a:solidFill>
                  <a:srgbClr val="2E6F73"/>
                </a:solidFill>
                <a:latin typeface="Arial"/>
                <a:ea typeface="Arial"/>
                <a:cs typeface="Arial"/>
              </a:defRPr>
            </a:lvl5pPr>
            <a:lvl6pPr>
              <a:defRPr sz="2100" b="1">
                <a:solidFill>
                  <a:srgbClr val="2E6F73"/>
                </a:solidFill>
                <a:latin typeface="Arial"/>
                <a:ea typeface="Arial"/>
                <a:cs typeface="Arial"/>
              </a:defRPr>
            </a:lvl6pPr>
            <a:lvl7pPr>
              <a:defRPr sz="2100" b="1">
                <a:solidFill>
                  <a:srgbClr val="2E6F73"/>
                </a:solidFill>
                <a:latin typeface="Arial"/>
                <a:ea typeface="Arial"/>
                <a:cs typeface="Arial"/>
              </a:defRPr>
            </a:lvl7pPr>
            <a:lvl8pPr>
              <a:defRPr sz="2100" b="1">
                <a:solidFill>
                  <a:srgbClr val="2E6F73"/>
                </a:solidFill>
                <a:latin typeface="Arial"/>
                <a:ea typeface="Arial"/>
                <a:cs typeface="Arial"/>
              </a:defRPr>
            </a:lvl8pPr>
            <a:lvl9pPr>
              <a:defRPr sz="2100" b="1">
                <a:solidFill>
                  <a:srgbClr val="2E6F73"/>
                </a:solidFill>
                <a:latin typeface="Arial"/>
                <a:ea typeface="Arial"/>
                <a:cs typeface="Arial"/>
              </a:defRPr>
            </a:lvl9pPr>
          </a:lstStyle>
          <a:p>
            <a:pPr>
              <a:defRPr sz="2100" b="1">
                <a:solidFill>
                  <a:srgbClr val="2E6F73"/>
                </a:solidFill>
                <a:latin typeface="Arial"/>
                <a:ea typeface="Arial"/>
                <a:cs typeface="Arial"/>
              </a:defRPr>
            </a:pPr>
            <a:r>
              <a:rPr sz="2100" b="1">
                <a:solidFill>
                  <a:srgbClr val="2E6F73"/>
                </a:solidFill>
                <a:latin typeface="Arial"/>
                <a:ea typeface="Arial"/>
                <a:cs typeface="Arial"/>
              </a:rPr>
              <a:t>Does exposure mean that a student was personally stopped?</a:t>
            </a:r>
          </a:p>
        </p:txBody>
      </p:sp>
    </p:spTree>
    <p:extLst>
      <p:ext uri="{BB962C8B-B14F-4D97-AF65-F5344CB8AC3E}">
        <p14:creationId xmlns:p14="http://schemas.microsoft.com/office/powerpoint/2010/main" val="9679862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text-0">
            <a:extLst>
              <a:ext uri="{FF2B5EF4-FFF2-40B4-BE49-F238E27FC236}">
                <a16:creationId xmlns:a16="http://schemas.microsoft.com/office/drawing/2014/main" id="{24DCA81A-6646-454F-8B5D-0097C0C50DF5}"/>
              </a:ext>
            </a:extLst>
          </p:cNvPr>
          <p:cNvSpPr>
            <a:spLocks noGrp="1"/>
          </p:cNvSpPr>
          <p:nvPr/>
        </p:nvSpPr>
        <p:spPr>
          <a:xfrm>
            <a:off x="552450" y="361950"/>
            <a:ext cx="11087100" cy="857250"/>
          </a:xfrm>
          <a:prstGeom prst="rect">
            <a:avLst/>
          </a:prstGeom>
          <a:noFill/>
          <a:ln w="0">
            <a:noFill/>
            <a:prstDash val="solid"/>
          </a:ln>
        </p:spPr>
        <p:txBody>
          <a:bodyPr lIns="0" tIns="0" rIns="0" bIns="0" anchor="t"/>
          <a:lstStyle>
            <a:defPPr>
              <a:defRPr sz="3000" b="1">
                <a:solidFill>
                  <a:srgbClr val="1F2A36"/>
                </a:solidFill>
                <a:latin typeface="Arial"/>
                <a:ea typeface="Arial"/>
                <a:cs typeface="Arial"/>
              </a:defRPr>
            </a:defPPr>
            <a:lvl1pPr>
              <a:defRPr sz="3000" b="1">
                <a:solidFill>
                  <a:srgbClr val="1F2A36"/>
                </a:solidFill>
                <a:latin typeface="Arial"/>
                <a:ea typeface="Arial"/>
                <a:cs typeface="Arial"/>
              </a:defRPr>
            </a:lvl1pPr>
            <a:lvl2pPr>
              <a:defRPr sz="3000" b="1">
                <a:solidFill>
                  <a:srgbClr val="1F2A36"/>
                </a:solidFill>
                <a:latin typeface="Arial"/>
                <a:ea typeface="Arial"/>
                <a:cs typeface="Arial"/>
              </a:defRPr>
            </a:lvl2pPr>
            <a:lvl3pPr>
              <a:defRPr sz="3000" b="1">
                <a:solidFill>
                  <a:srgbClr val="1F2A36"/>
                </a:solidFill>
                <a:latin typeface="Arial"/>
                <a:ea typeface="Arial"/>
                <a:cs typeface="Arial"/>
              </a:defRPr>
            </a:lvl3pPr>
            <a:lvl4pPr>
              <a:defRPr sz="3000" b="1">
                <a:solidFill>
                  <a:srgbClr val="1F2A36"/>
                </a:solidFill>
                <a:latin typeface="Arial"/>
                <a:ea typeface="Arial"/>
                <a:cs typeface="Arial"/>
              </a:defRPr>
            </a:lvl4pPr>
            <a:lvl5pPr>
              <a:defRPr sz="3000" b="1">
                <a:solidFill>
                  <a:srgbClr val="1F2A36"/>
                </a:solidFill>
                <a:latin typeface="Arial"/>
                <a:ea typeface="Arial"/>
                <a:cs typeface="Arial"/>
              </a:defRPr>
            </a:lvl5pPr>
            <a:lvl6pPr>
              <a:defRPr sz="3000" b="1">
                <a:solidFill>
                  <a:srgbClr val="1F2A36"/>
                </a:solidFill>
                <a:latin typeface="Arial"/>
                <a:ea typeface="Arial"/>
                <a:cs typeface="Arial"/>
              </a:defRPr>
            </a:lvl6pPr>
            <a:lvl7pPr>
              <a:defRPr sz="3000" b="1">
                <a:solidFill>
                  <a:srgbClr val="1F2A36"/>
                </a:solidFill>
                <a:latin typeface="Arial"/>
                <a:ea typeface="Arial"/>
                <a:cs typeface="Arial"/>
              </a:defRPr>
            </a:lvl7pPr>
            <a:lvl8pPr>
              <a:defRPr sz="3000" b="1">
                <a:solidFill>
                  <a:srgbClr val="1F2A36"/>
                </a:solidFill>
                <a:latin typeface="Arial"/>
                <a:ea typeface="Arial"/>
                <a:cs typeface="Arial"/>
              </a:defRPr>
            </a:lvl8pPr>
            <a:lvl9pPr>
              <a:defRPr sz="3000" b="1">
                <a:solidFill>
                  <a:srgbClr val="1F2A36"/>
                </a:solidFill>
                <a:latin typeface="Arial"/>
                <a:ea typeface="Arial"/>
                <a:cs typeface="Arial"/>
              </a:defRPr>
            </a:lvl9pPr>
          </a:lstStyle>
          <a:p>
            <a:pPr>
              <a:defRPr sz="3000" b="1">
                <a:solidFill>
                  <a:srgbClr val="1F2A36"/>
                </a:solidFill>
                <a:latin typeface="Arial"/>
                <a:ea typeface="Arial"/>
                <a:cs typeface="Arial"/>
              </a:defRPr>
            </a:pPr>
            <a:r>
              <a:rPr sz="3000" b="1">
                <a:solidFill>
                  <a:srgbClr val="1F2A36"/>
                </a:solidFill>
                <a:latin typeface="Arial"/>
                <a:ea typeface="Arial"/>
                <a:cs typeface="Arial"/>
              </a:rPr>
              <a:t>Parallel trends in this study</a:t>
            </a:r>
          </a:p>
        </p:txBody>
      </p:sp>
      <p:sp>
        <p:nvSpPr>
          <p:cNvPr id="2" name="text-1">
            <a:extLst>
              <a:ext uri="{FF2B5EF4-FFF2-40B4-BE49-F238E27FC236}">
                <a16:creationId xmlns:a16="http://schemas.microsoft.com/office/drawing/2014/main" id="{14C3459C-6749-4526-8706-B6D200BF5D05}"/>
              </a:ext>
            </a:extLst>
          </p:cNvPr>
          <p:cNvSpPr>
            <a:spLocks noGrp="1"/>
          </p:cNvSpPr>
          <p:nvPr/>
        </p:nvSpPr>
        <p:spPr>
          <a:xfrm>
            <a:off x="11239500" y="6400800"/>
            <a:ext cx="476250" cy="266700"/>
          </a:xfrm>
          <a:prstGeom prst="rect">
            <a:avLst/>
          </a:prstGeom>
          <a:noFill/>
          <a:ln w="0">
            <a:noFill/>
            <a:prstDash val="solid"/>
          </a:ln>
        </p:spPr>
        <p:txBody>
          <a:bodyPr lIns="0" tIns="0" rIns="0" bIns="0" anchor="t"/>
          <a:lstStyle>
            <a:defPPr>
              <a:defRPr sz="1350" b="0">
                <a:solidFill>
                  <a:srgbClr val="5B6B78"/>
                </a:solidFill>
                <a:latin typeface="Arial"/>
                <a:ea typeface="Arial"/>
                <a:cs typeface="Arial"/>
              </a:defRPr>
            </a:defPPr>
            <a:lvl1pPr>
              <a:defRPr sz="1350" b="0">
                <a:solidFill>
                  <a:srgbClr val="5B6B78"/>
                </a:solidFill>
                <a:latin typeface="Arial"/>
                <a:ea typeface="Arial"/>
                <a:cs typeface="Arial"/>
              </a:defRPr>
            </a:lvl1pPr>
            <a:lvl2pPr>
              <a:defRPr sz="1350" b="0">
                <a:solidFill>
                  <a:srgbClr val="5B6B78"/>
                </a:solidFill>
                <a:latin typeface="Arial"/>
                <a:ea typeface="Arial"/>
                <a:cs typeface="Arial"/>
              </a:defRPr>
            </a:lvl2pPr>
            <a:lvl3pPr>
              <a:defRPr sz="1350" b="0">
                <a:solidFill>
                  <a:srgbClr val="5B6B78"/>
                </a:solidFill>
                <a:latin typeface="Arial"/>
                <a:ea typeface="Arial"/>
                <a:cs typeface="Arial"/>
              </a:defRPr>
            </a:lvl3pPr>
            <a:lvl4pPr>
              <a:defRPr sz="1350" b="0">
                <a:solidFill>
                  <a:srgbClr val="5B6B78"/>
                </a:solidFill>
                <a:latin typeface="Arial"/>
                <a:ea typeface="Arial"/>
                <a:cs typeface="Arial"/>
              </a:defRPr>
            </a:lvl4pPr>
            <a:lvl5pPr>
              <a:defRPr sz="1350" b="0">
                <a:solidFill>
                  <a:srgbClr val="5B6B78"/>
                </a:solidFill>
                <a:latin typeface="Arial"/>
                <a:ea typeface="Arial"/>
                <a:cs typeface="Arial"/>
              </a:defRPr>
            </a:lvl5pPr>
            <a:lvl6pPr>
              <a:defRPr sz="1350" b="0">
                <a:solidFill>
                  <a:srgbClr val="5B6B78"/>
                </a:solidFill>
                <a:latin typeface="Arial"/>
                <a:ea typeface="Arial"/>
                <a:cs typeface="Arial"/>
              </a:defRPr>
            </a:lvl6pPr>
            <a:lvl7pPr>
              <a:defRPr sz="1350" b="0">
                <a:solidFill>
                  <a:srgbClr val="5B6B78"/>
                </a:solidFill>
                <a:latin typeface="Arial"/>
                <a:ea typeface="Arial"/>
                <a:cs typeface="Arial"/>
              </a:defRPr>
            </a:lvl7pPr>
            <a:lvl8pPr>
              <a:defRPr sz="1350" b="0">
                <a:solidFill>
                  <a:srgbClr val="5B6B78"/>
                </a:solidFill>
                <a:latin typeface="Arial"/>
                <a:ea typeface="Arial"/>
                <a:cs typeface="Arial"/>
              </a:defRPr>
            </a:lvl8pPr>
            <a:lvl9pPr>
              <a:defRPr sz="1350" b="0">
                <a:solidFill>
                  <a:srgbClr val="5B6B78"/>
                </a:solidFill>
                <a:latin typeface="Arial"/>
                <a:ea typeface="Arial"/>
                <a:cs typeface="Arial"/>
              </a:defRPr>
            </a:lvl9pPr>
          </a:lstStyle>
          <a:p>
            <a:pPr>
              <a:defRPr sz="1350" b="0">
                <a:solidFill>
                  <a:srgbClr val="5B6B78"/>
                </a:solidFill>
                <a:latin typeface="Arial"/>
                <a:ea typeface="Arial"/>
                <a:cs typeface="Arial"/>
              </a:defRPr>
            </a:pPr>
            <a:r>
              <a:rPr sz="1350" b="0">
                <a:solidFill>
                  <a:srgbClr val="5B6B78"/>
                </a:solidFill>
                <a:latin typeface="Arial"/>
                <a:ea typeface="Arial"/>
                <a:cs typeface="Arial"/>
              </a:rPr>
              <a:t>9</a:t>
            </a:r>
          </a:p>
        </p:txBody>
      </p:sp>
      <p:sp>
        <p:nvSpPr>
          <p:cNvPr id="3" name="text-2">
            <a:extLst>
              <a:ext uri="{FF2B5EF4-FFF2-40B4-BE49-F238E27FC236}">
                <a16:creationId xmlns:a16="http://schemas.microsoft.com/office/drawing/2014/main" id="{E2CE01F7-9A3C-4286-9CC8-2FC1ED754E86}"/>
              </a:ext>
            </a:extLst>
          </p:cNvPr>
          <p:cNvSpPr>
            <a:spLocks noGrp="1"/>
          </p:cNvSpPr>
          <p:nvPr/>
        </p:nvSpPr>
        <p:spPr>
          <a:xfrm>
            <a:off x="552450" y="1571625"/>
            <a:ext cx="10953750" cy="1476375"/>
          </a:xfrm>
          <a:prstGeom prst="rect">
            <a:avLst/>
          </a:prstGeom>
          <a:noFill/>
          <a:ln w="0">
            <a:noFill/>
            <a:prstDash val="solid"/>
          </a:ln>
        </p:spPr>
        <p:txBody>
          <a:bodyPr lIns="0" tIns="0" rIns="0" bIns="0" anchor="t"/>
          <a:lstStyle>
            <a:defPPr>
              <a:defRPr sz="2775" b="1">
                <a:solidFill>
                  <a:srgbClr val="2E6F73"/>
                </a:solidFill>
                <a:latin typeface="Arial"/>
                <a:ea typeface="Arial"/>
                <a:cs typeface="Arial"/>
              </a:defRPr>
            </a:defPPr>
            <a:lvl1pPr>
              <a:defRPr sz="2775" b="1">
                <a:solidFill>
                  <a:srgbClr val="2E6F73"/>
                </a:solidFill>
                <a:latin typeface="Arial"/>
                <a:ea typeface="Arial"/>
                <a:cs typeface="Arial"/>
              </a:defRPr>
            </a:lvl1pPr>
            <a:lvl2pPr>
              <a:defRPr sz="2775" b="1">
                <a:solidFill>
                  <a:srgbClr val="2E6F73"/>
                </a:solidFill>
                <a:latin typeface="Arial"/>
                <a:ea typeface="Arial"/>
                <a:cs typeface="Arial"/>
              </a:defRPr>
            </a:lvl2pPr>
            <a:lvl3pPr>
              <a:defRPr sz="2775" b="1">
                <a:solidFill>
                  <a:srgbClr val="2E6F73"/>
                </a:solidFill>
                <a:latin typeface="Arial"/>
                <a:ea typeface="Arial"/>
                <a:cs typeface="Arial"/>
              </a:defRPr>
            </a:lvl3pPr>
            <a:lvl4pPr>
              <a:defRPr sz="2775" b="1">
                <a:solidFill>
                  <a:srgbClr val="2E6F73"/>
                </a:solidFill>
                <a:latin typeface="Arial"/>
                <a:ea typeface="Arial"/>
                <a:cs typeface="Arial"/>
              </a:defRPr>
            </a:lvl4pPr>
            <a:lvl5pPr>
              <a:defRPr sz="2775" b="1">
                <a:solidFill>
                  <a:srgbClr val="2E6F73"/>
                </a:solidFill>
                <a:latin typeface="Arial"/>
                <a:ea typeface="Arial"/>
                <a:cs typeface="Arial"/>
              </a:defRPr>
            </a:lvl5pPr>
            <a:lvl6pPr>
              <a:defRPr sz="2775" b="1">
                <a:solidFill>
                  <a:srgbClr val="2E6F73"/>
                </a:solidFill>
                <a:latin typeface="Arial"/>
                <a:ea typeface="Arial"/>
                <a:cs typeface="Arial"/>
              </a:defRPr>
            </a:lvl6pPr>
            <a:lvl7pPr>
              <a:defRPr sz="2775" b="1">
                <a:solidFill>
                  <a:srgbClr val="2E6F73"/>
                </a:solidFill>
                <a:latin typeface="Arial"/>
                <a:ea typeface="Arial"/>
                <a:cs typeface="Arial"/>
              </a:defRPr>
            </a:lvl7pPr>
            <a:lvl8pPr>
              <a:defRPr sz="2775" b="1">
                <a:solidFill>
                  <a:srgbClr val="2E6F73"/>
                </a:solidFill>
                <a:latin typeface="Arial"/>
                <a:ea typeface="Arial"/>
                <a:cs typeface="Arial"/>
              </a:defRPr>
            </a:lvl8pPr>
            <a:lvl9pPr>
              <a:defRPr sz="2775" b="1">
                <a:solidFill>
                  <a:srgbClr val="2E6F73"/>
                </a:solidFill>
                <a:latin typeface="Arial"/>
                <a:ea typeface="Arial"/>
                <a:cs typeface="Arial"/>
              </a:defRPr>
            </a:lvl9pPr>
          </a:lstStyle>
          <a:p>
            <a:pPr>
              <a:defRPr sz="2775" b="1">
                <a:solidFill>
                  <a:srgbClr val="2E6F73"/>
                </a:solidFill>
                <a:latin typeface="Arial"/>
                <a:ea typeface="Arial"/>
                <a:cs typeface="Arial"/>
              </a:defRPr>
            </a:pPr>
            <a:r>
              <a:rPr sz="2775" b="1">
                <a:solidFill>
                  <a:srgbClr val="2E6F73"/>
                </a:solidFill>
                <a:latin typeface="Arial"/>
                <a:ea typeface="Arial"/>
                <a:cs typeface="Arial"/>
              </a:rPr>
              <a:t>Absent the surge, and conditional on prior crime,</a:t>
            </a:r>
          </a:p>
          <a:p>
            <a:pPr>
              <a:defRPr sz="2775" b="1">
                <a:solidFill>
                  <a:srgbClr val="2E6F73"/>
                </a:solidFill>
                <a:latin typeface="Arial"/>
                <a:ea typeface="Arial"/>
                <a:cs typeface="Arial"/>
              </a:defRPr>
            </a:pPr>
            <a:r>
              <a:rPr sz="2775" b="1">
                <a:solidFill>
                  <a:srgbClr val="2E6F73"/>
                </a:solidFill>
                <a:latin typeface="Arial"/>
                <a:ea typeface="Arial"/>
                <a:cs typeface="Arial"/>
              </a:rPr>
              <a:t>test scores would have changed similarly</a:t>
            </a:r>
          </a:p>
          <a:p>
            <a:pPr>
              <a:defRPr sz="2775" b="1">
                <a:solidFill>
                  <a:srgbClr val="2E6F73"/>
                </a:solidFill>
                <a:latin typeface="Arial"/>
                <a:ea typeface="Arial"/>
                <a:cs typeface="Arial"/>
              </a:defRPr>
            </a:pPr>
            <a:r>
              <a:rPr sz="2775" b="1">
                <a:solidFill>
                  <a:srgbClr val="2E6F73"/>
                </a:solidFill>
                <a:latin typeface="Arial"/>
                <a:ea typeface="Arial"/>
                <a:cs typeface="Arial"/>
              </a:rPr>
              <a:t>across the compared neighborhoods.</a:t>
            </a:r>
          </a:p>
        </p:txBody>
      </p:sp>
      <p:sp>
        <p:nvSpPr>
          <p:cNvPr id="4" name="text-3">
            <a:extLst>
              <a:ext uri="{FF2B5EF4-FFF2-40B4-BE49-F238E27FC236}">
                <a16:creationId xmlns:a16="http://schemas.microsoft.com/office/drawing/2014/main" id="{9C7AA2E4-5B85-4F47-B352-2E62F865B0CA}"/>
              </a:ext>
            </a:extLst>
          </p:cNvPr>
          <p:cNvSpPr>
            <a:spLocks noGrp="1"/>
          </p:cNvSpPr>
          <p:nvPr/>
        </p:nvSpPr>
        <p:spPr>
          <a:xfrm>
            <a:off x="552450" y="3476625"/>
            <a:ext cx="10668000" cy="428625"/>
          </a:xfrm>
          <a:prstGeom prst="rect">
            <a:avLst/>
          </a:prstGeom>
          <a:noFill/>
          <a:ln w="0">
            <a:noFill/>
            <a:prstDash val="solid"/>
          </a:ln>
        </p:spPr>
        <p:txBody>
          <a:bodyPr lIns="0" tIns="0" rIns="0" bIns="0" anchor="t"/>
          <a:lstStyle>
            <a:defPPr>
              <a:defRPr sz="2175" b="1">
                <a:solidFill>
                  <a:srgbClr val="1F2A36"/>
                </a:solidFill>
                <a:latin typeface="Arial"/>
                <a:ea typeface="Arial"/>
                <a:cs typeface="Arial"/>
              </a:defRPr>
            </a:defPPr>
            <a:lvl1pPr>
              <a:defRPr sz="2175" b="1">
                <a:solidFill>
                  <a:srgbClr val="1F2A36"/>
                </a:solidFill>
                <a:latin typeface="Arial"/>
                <a:ea typeface="Arial"/>
                <a:cs typeface="Arial"/>
              </a:defRPr>
            </a:lvl1pPr>
            <a:lvl2pPr>
              <a:defRPr sz="2175" b="1">
                <a:solidFill>
                  <a:srgbClr val="1F2A36"/>
                </a:solidFill>
                <a:latin typeface="Arial"/>
                <a:ea typeface="Arial"/>
                <a:cs typeface="Arial"/>
              </a:defRPr>
            </a:lvl2pPr>
            <a:lvl3pPr>
              <a:defRPr sz="2175" b="1">
                <a:solidFill>
                  <a:srgbClr val="1F2A36"/>
                </a:solidFill>
                <a:latin typeface="Arial"/>
                <a:ea typeface="Arial"/>
                <a:cs typeface="Arial"/>
              </a:defRPr>
            </a:lvl3pPr>
            <a:lvl4pPr>
              <a:defRPr sz="2175" b="1">
                <a:solidFill>
                  <a:srgbClr val="1F2A36"/>
                </a:solidFill>
                <a:latin typeface="Arial"/>
                <a:ea typeface="Arial"/>
                <a:cs typeface="Arial"/>
              </a:defRPr>
            </a:lvl4pPr>
            <a:lvl5pPr>
              <a:defRPr sz="2175" b="1">
                <a:solidFill>
                  <a:srgbClr val="1F2A36"/>
                </a:solidFill>
                <a:latin typeface="Arial"/>
                <a:ea typeface="Arial"/>
                <a:cs typeface="Arial"/>
              </a:defRPr>
            </a:lvl5pPr>
            <a:lvl6pPr>
              <a:defRPr sz="2175" b="1">
                <a:solidFill>
                  <a:srgbClr val="1F2A36"/>
                </a:solidFill>
                <a:latin typeface="Arial"/>
                <a:ea typeface="Arial"/>
                <a:cs typeface="Arial"/>
              </a:defRPr>
            </a:lvl6pPr>
            <a:lvl7pPr>
              <a:defRPr sz="2175" b="1">
                <a:solidFill>
                  <a:srgbClr val="1F2A36"/>
                </a:solidFill>
                <a:latin typeface="Arial"/>
                <a:ea typeface="Arial"/>
                <a:cs typeface="Arial"/>
              </a:defRPr>
            </a:lvl7pPr>
            <a:lvl8pPr>
              <a:defRPr sz="2175" b="1">
                <a:solidFill>
                  <a:srgbClr val="1F2A36"/>
                </a:solidFill>
                <a:latin typeface="Arial"/>
                <a:ea typeface="Arial"/>
                <a:cs typeface="Arial"/>
              </a:defRPr>
            </a:lvl8pPr>
            <a:lvl9pPr>
              <a:defRPr sz="2175" b="1">
                <a:solidFill>
                  <a:srgbClr val="1F2A36"/>
                </a:solidFill>
                <a:latin typeface="Arial"/>
                <a:ea typeface="Arial"/>
                <a:cs typeface="Arial"/>
              </a:defRPr>
            </a:lvl9pPr>
          </a:lstStyle>
          <a:p>
            <a:pPr>
              <a:defRPr sz="2175" b="1">
                <a:solidFill>
                  <a:srgbClr val="1F2A36"/>
                </a:solidFill>
                <a:latin typeface="Arial"/>
                <a:ea typeface="Arial"/>
                <a:cs typeface="Arial"/>
              </a:defRPr>
            </a:pPr>
            <a:r>
              <a:rPr sz="2175" b="1">
                <a:solidFill>
                  <a:srgbClr val="1F2A36"/>
                </a:solidFill>
                <a:latin typeface="Arial"/>
                <a:ea typeface="Arial"/>
                <a:cs typeface="Arial"/>
              </a:rPr>
              <a:t>Discuss a hypothetical threat</a:t>
            </a:r>
          </a:p>
        </p:txBody>
      </p:sp>
      <p:sp>
        <p:nvSpPr>
          <p:cNvPr id="5" name="text-4">
            <a:extLst>
              <a:ext uri="{FF2B5EF4-FFF2-40B4-BE49-F238E27FC236}">
                <a16:creationId xmlns:a16="http://schemas.microsoft.com/office/drawing/2014/main" id="{784A49D9-8917-4539-8C8B-D8C4766028C3}"/>
              </a:ext>
            </a:extLst>
          </p:cNvPr>
          <p:cNvSpPr>
            <a:spLocks noGrp="1"/>
          </p:cNvSpPr>
          <p:nvPr/>
        </p:nvSpPr>
        <p:spPr>
          <a:xfrm>
            <a:off x="552450" y="4048125"/>
            <a:ext cx="10668000" cy="1000125"/>
          </a:xfrm>
          <a:prstGeom prst="rect">
            <a:avLst/>
          </a:prstGeom>
          <a:noFill/>
          <a:ln w="0">
            <a:noFill/>
            <a:prstDash val="solid"/>
          </a:ln>
        </p:spPr>
        <p:txBody>
          <a:bodyPr lIns="0" tIns="0" rIns="0" bIns="0" anchor="t"/>
          <a:lstStyle>
            <a:defPPr>
              <a:defRPr sz="2325" b="0">
                <a:solidFill>
                  <a:srgbClr val="1F2A36"/>
                </a:solidFill>
                <a:latin typeface="Arial"/>
                <a:ea typeface="Arial"/>
                <a:cs typeface="Arial"/>
              </a:defRPr>
            </a:defPPr>
            <a:lvl1pPr>
              <a:defRPr sz="2325" b="0">
                <a:solidFill>
                  <a:srgbClr val="1F2A36"/>
                </a:solidFill>
                <a:latin typeface="Arial"/>
                <a:ea typeface="Arial"/>
                <a:cs typeface="Arial"/>
              </a:defRPr>
            </a:lvl1pPr>
            <a:lvl2pPr>
              <a:defRPr sz="2325" b="0">
                <a:solidFill>
                  <a:srgbClr val="1F2A36"/>
                </a:solidFill>
                <a:latin typeface="Arial"/>
                <a:ea typeface="Arial"/>
                <a:cs typeface="Arial"/>
              </a:defRPr>
            </a:lvl2pPr>
            <a:lvl3pPr>
              <a:defRPr sz="2325" b="0">
                <a:solidFill>
                  <a:srgbClr val="1F2A36"/>
                </a:solidFill>
                <a:latin typeface="Arial"/>
                <a:ea typeface="Arial"/>
                <a:cs typeface="Arial"/>
              </a:defRPr>
            </a:lvl3pPr>
            <a:lvl4pPr>
              <a:defRPr sz="2325" b="0">
                <a:solidFill>
                  <a:srgbClr val="1F2A36"/>
                </a:solidFill>
                <a:latin typeface="Arial"/>
                <a:ea typeface="Arial"/>
                <a:cs typeface="Arial"/>
              </a:defRPr>
            </a:lvl4pPr>
            <a:lvl5pPr>
              <a:defRPr sz="2325" b="0">
                <a:solidFill>
                  <a:srgbClr val="1F2A36"/>
                </a:solidFill>
                <a:latin typeface="Arial"/>
                <a:ea typeface="Arial"/>
                <a:cs typeface="Arial"/>
              </a:defRPr>
            </a:lvl5pPr>
            <a:lvl6pPr>
              <a:defRPr sz="2325" b="0">
                <a:solidFill>
                  <a:srgbClr val="1F2A36"/>
                </a:solidFill>
                <a:latin typeface="Arial"/>
                <a:ea typeface="Arial"/>
                <a:cs typeface="Arial"/>
              </a:defRPr>
            </a:lvl6pPr>
            <a:lvl7pPr>
              <a:defRPr sz="2325" b="0">
                <a:solidFill>
                  <a:srgbClr val="1F2A36"/>
                </a:solidFill>
                <a:latin typeface="Arial"/>
                <a:ea typeface="Arial"/>
                <a:cs typeface="Arial"/>
              </a:defRPr>
            </a:lvl7pPr>
            <a:lvl8pPr>
              <a:defRPr sz="2325" b="0">
                <a:solidFill>
                  <a:srgbClr val="1F2A36"/>
                </a:solidFill>
                <a:latin typeface="Arial"/>
                <a:ea typeface="Arial"/>
                <a:cs typeface="Arial"/>
              </a:defRPr>
            </a:lvl8pPr>
            <a:lvl9pPr>
              <a:defRPr sz="2325" b="0">
                <a:solidFill>
                  <a:srgbClr val="1F2A36"/>
                </a:solidFill>
                <a:latin typeface="Arial"/>
                <a:ea typeface="Arial"/>
                <a:cs typeface="Arial"/>
              </a:defRPr>
            </a:lvl9pPr>
          </a:lstStyle>
          <a:p>
            <a:pPr>
              <a:defRPr sz="2325" b="0">
                <a:solidFill>
                  <a:srgbClr val="1F2A36"/>
                </a:solidFill>
                <a:latin typeface="Arial"/>
                <a:ea typeface="Arial"/>
                <a:cs typeface="Arial"/>
              </a:defRPr>
            </a:pPr>
            <a:r>
              <a:rPr sz="2325" b="0">
                <a:solidFill>
                  <a:srgbClr val="1F2A36"/>
                </a:solidFill>
                <a:latin typeface="Arial"/>
                <a:ea typeface="Arial"/>
                <a:cs typeface="Arial"/>
              </a:rPr>
              <a:t>A neighborhood gets a police surge just as a school closes.</a:t>
            </a:r>
          </a:p>
          <a:p>
            <a:pPr>
              <a:defRPr sz="2325" b="0">
                <a:solidFill>
                  <a:srgbClr val="1F2A36"/>
                </a:solidFill>
                <a:latin typeface="Arial"/>
                <a:ea typeface="Arial"/>
                <a:cs typeface="Arial"/>
              </a:defRPr>
            </a:pPr>
            <a:r>
              <a:rPr sz="2325" b="0">
                <a:solidFill>
                  <a:srgbClr val="1F2A36"/>
                </a:solidFill>
                <a:latin typeface="Arial"/>
                <a:ea typeface="Arial"/>
                <a:cs typeface="Arial"/>
              </a:rPr>
              <a:t>How could that affect the DiD estimate?</a:t>
            </a:r>
          </a:p>
        </p:txBody>
      </p:sp>
      <p:sp>
        <p:nvSpPr>
          <p:cNvPr id="6" name="text-5">
            <a:extLst>
              <a:ext uri="{FF2B5EF4-FFF2-40B4-BE49-F238E27FC236}">
                <a16:creationId xmlns:a16="http://schemas.microsoft.com/office/drawing/2014/main" id="{D5EB6C9C-B34F-49D0-83C1-D031BB8C0E1E}"/>
              </a:ext>
            </a:extLst>
          </p:cNvPr>
          <p:cNvSpPr>
            <a:spLocks noGrp="1"/>
          </p:cNvSpPr>
          <p:nvPr/>
        </p:nvSpPr>
        <p:spPr>
          <a:xfrm>
            <a:off x="552450" y="5476875"/>
            <a:ext cx="10668000" cy="571500"/>
          </a:xfrm>
          <a:prstGeom prst="rect">
            <a:avLst/>
          </a:prstGeom>
          <a:noFill/>
          <a:ln w="0">
            <a:noFill/>
            <a:prstDash val="solid"/>
          </a:ln>
        </p:spPr>
        <p:txBody>
          <a:bodyPr lIns="0" tIns="0" rIns="0" bIns="0" anchor="t"/>
          <a:lstStyle>
            <a:defPPr>
              <a:defRPr sz="2175" b="0">
                <a:solidFill>
                  <a:srgbClr val="1F2A36"/>
                </a:solidFill>
                <a:latin typeface="Arial"/>
                <a:ea typeface="Arial"/>
                <a:cs typeface="Arial"/>
              </a:defRPr>
            </a:defPPr>
            <a:lvl1pPr>
              <a:defRPr sz="2175" b="0">
                <a:solidFill>
                  <a:srgbClr val="1F2A36"/>
                </a:solidFill>
                <a:latin typeface="Arial"/>
                <a:ea typeface="Arial"/>
                <a:cs typeface="Arial"/>
              </a:defRPr>
            </a:lvl1pPr>
            <a:lvl2pPr>
              <a:defRPr sz="2175" b="0">
                <a:solidFill>
                  <a:srgbClr val="1F2A36"/>
                </a:solidFill>
                <a:latin typeface="Arial"/>
                <a:ea typeface="Arial"/>
                <a:cs typeface="Arial"/>
              </a:defRPr>
            </a:lvl2pPr>
            <a:lvl3pPr>
              <a:defRPr sz="2175" b="0">
                <a:solidFill>
                  <a:srgbClr val="1F2A36"/>
                </a:solidFill>
                <a:latin typeface="Arial"/>
                <a:ea typeface="Arial"/>
                <a:cs typeface="Arial"/>
              </a:defRPr>
            </a:lvl3pPr>
            <a:lvl4pPr>
              <a:defRPr sz="2175" b="0">
                <a:solidFill>
                  <a:srgbClr val="1F2A36"/>
                </a:solidFill>
                <a:latin typeface="Arial"/>
                <a:ea typeface="Arial"/>
                <a:cs typeface="Arial"/>
              </a:defRPr>
            </a:lvl4pPr>
            <a:lvl5pPr>
              <a:defRPr sz="2175" b="0">
                <a:solidFill>
                  <a:srgbClr val="1F2A36"/>
                </a:solidFill>
                <a:latin typeface="Arial"/>
                <a:ea typeface="Arial"/>
                <a:cs typeface="Arial"/>
              </a:defRPr>
            </a:lvl5pPr>
            <a:lvl6pPr>
              <a:defRPr sz="2175" b="0">
                <a:solidFill>
                  <a:srgbClr val="1F2A36"/>
                </a:solidFill>
                <a:latin typeface="Arial"/>
                <a:ea typeface="Arial"/>
                <a:cs typeface="Arial"/>
              </a:defRPr>
            </a:lvl6pPr>
            <a:lvl7pPr>
              <a:defRPr sz="2175" b="0">
                <a:solidFill>
                  <a:srgbClr val="1F2A36"/>
                </a:solidFill>
                <a:latin typeface="Arial"/>
                <a:ea typeface="Arial"/>
                <a:cs typeface="Arial"/>
              </a:defRPr>
            </a:lvl7pPr>
            <a:lvl8pPr>
              <a:defRPr sz="2175" b="0">
                <a:solidFill>
                  <a:srgbClr val="1F2A36"/>
                </a:solidFill>
                <a:latin typeface="Arial"/>
                <a:ea typeface="Arial"/>
                <a:cs typeface="Arial"/>
              </a:defRPr>
            </a:lvl8pPr>
            <a:lvl9pPr>
              <a:defRPr sz="2175" b="0">
                <a:solidFill>
                  <a:srgbClr val="1F2A36"/>
                </a:solidFill>
                <a:latin typeface="Arial"/>
                <a:ea typeface="Arial"/>
                <a:cs typeface="Arial"/>
              </a:defRPr>
            </a:lvl9pPr>
          </a:lstStyle>
          <a:p>
            <a:pPr>
              <a:defRPr sz="2175" b="0">
                <a:solidFill>
                  <a:srgbClr val="1F2A36"/>
                </a:solidFill>
                <a:latin typeface="Arial"/>
                <a:ea typeface="Arial"/>
                <a:cs typeface="Arial"/>
              </a:defRPr>
            </a:pPr>
            <a:r>
              <a:rPr sz="2175" b="0">
                <a:solidFill>
                  <a:srgbClr val="1F2A36"/>
                </a:solidFill>
                <a:latin typeface="Arial"/>
                <a:ea typeface="Arial"/>
                <a:cs typeface="Arial"/>
              </a:rPr>
              <a:t>Would neighborhood fixed effects remove this problem? Why?</a:t>
            </a:r>
          </a:p>
        </p:txBody>
      </p:sp>
    </p:spTree>
    <p:extLst>
      <p:ext uri="{BB962C8B-B14F-4D97-AF65-F5344CB8AC3E}">
        <p14:creationId xmlns:p14="http://schemas.microsoft.com/office/powerpoint/2010/main" val="5768841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text-0">
            <a:extLst>
              <a:ext uri="{FF2B5EF4-FFF2-40B4-BE49-F238E27FC236}">
                <a16:creationId xmlns:a16="http://schemas.microsoft.com/office/drawing/2014/main" id="{4ED355A3-D268-4FB1-B4AF-18024B59102A}"/>
              </a:ext>
            </a:extLst>
          </p:cNvPr>
          <p:cNvSpPr>
            <a:spLocks noGrp="1"/>
          </p:cNvSpPr>
          <p:nvPr/>
        </p:nvSpPr>
        <p:spPr>
          <a:xfrm>
            <a:off x="552450" y="361950"/>
            <a:ext cx="11087100" cy="857250"/>
          </a:xfrm>
          <a:prstGeom prst="rect">
            <a:avLst/>
          </a:prstGeom>
          <a:noFill/>
          <a:ln w="0">
            <a:noFill/>
            <a:prstDash val="solid"/>
          </a:ln>
        </p:spPr>
        <p:txBody>
          <a:bodyPr lIns="0" tIns="0" rIns="0" bIns="0" anchor="t"/>
          <a:lstStyle>
            <a:defPPr>
              <a:defRPr sz="3000" b="1">
                <a:solidFill>
                  <a:srgbClr val="1F2A36"/>
                </a:solidFill>
                <a:latin typeface="Arial"/>
                <a:ea typeface="Arial"/>
                <a:cs typeface="Arial"/>
              </a:defRPr>
            </a:defPPr>
            <a:lvl1pPr>
              <a:defRPr sz="3000" b="1">
                <a:solidFill>
                  <a:srgbClr val="1F2A36"/>
                </a:solidFill>
                <a:latin typeface="Arial"/>
                <a:ea typeface="Arial"/>
                <a:cs typeface="Arial"/>
              </a:defRPr>
            </a:lvl1pPr>
            <a:lvl2pPr>
              <a:defRPr sz="3000" b="1">
                <a:solidFill>
                  <a:srgbClr val="1F2A36"/>
                </a:solidFill>
                <a:latin typeface="Arial"/>
                <a:ea typeface="Arial"/>
                <a:cs typeface="Arial"/>
              </a:defRPr>
            </a:lvl2pPr>
            <a:lvl3pPr>
              <a:defRPr sz="3000" b="1">
                <a:solidFill>
                  <a:srgbClr val="1F2A36"/>
                </a:solidFill>
                <a:latin typeface="Arial"/>
                <a:ea typeface="Arial"/>
                <a:cs typeface="Arial"/>
              </a:defRPr>
            </a:lvl3pPr>
            <a:lvl4pPr>
              <a:defRPr sz="3000" b="1">
                <a:solidFill>
                  <a:srgbClr val="1F2A36"/>
                </a:solidFill>
                <a:latin typeface="Arial"/>
                <a:ea typeface="Arial"/>
                <a:cs typeface="Arial"/>
              </a:defRPr>
            </a:lvl4pPr>
            <a:lvl5pPr>
              <a:defRPr sz="3000" b="1">
                <a:solidFill>
                  <a:srgbClr val="1F2A36"/>
                </a:solidFill>
                <a:latin typeface="Arial"/>
                <a:ea typeface="Arial"/>
                <a:cs typeface="Arial"/>
              </a:defRPr>
            </a:lvl5pPr>
            <a:lvl6pPr>
              <a:defRPr sz="3000" b="1">
                <a:solidFill>
                  <a:srgbClr val="1F2A36"/>
                </a:solidFill>
                <a:latin typeface="Arial"/>
                <a:ea typeface="Arial"/>
                <a:cs typeface="Arial"/>
              </a:defRPr>
            </a:lvl6pPr>
            <a:lvl7pPr>
              <a:defRPr sz="3000" b="1">
                <a:solidFill>
                  <a:srgbClr val="1F2A36"/>
                </a:solidFill>
                <a:latin typeface="Arial"/>
                <a:ea typeface="Arial"/>
                <a:cs typeface="Arial"/>
              </a:defRPr>
            </a:lvl7pPr>
            <a:lvl8pPr>
              <a:defRPr sz="3000" b="1">
                <a:solidFill>
                  <a:srgbClr val="1F2A36"/>
                </a:solidFill>
                <a:latin typeface="Arial"/>
                <a:ea typeface="Arial"/>
                <a:cs typeface="Arial"/>
              </a:defRPr>
            </a:lvl8pPr>
            <a:lvl9pPr>
              <a:defRPr sz="3000" b="1">
                <a:solidFill>
                  <a:srgbClr val="1F2A36"/>
                </a:solidFill>
                <a:latin typeface="Arial"/>
                <a:ea typeface="Arial"/>
                <a:cs typeface="Arial"/>
              </a:defRPr>
            </a:lvl9pPr>
          </a:lstStyle>
          <a:p>
            <a:pPr>
              <a:defRPr sz="3000" b="1">
                <a:solidFill>
                  <a:srgbClr val="1F2A36"/>
                </a:solidFill>
                <a:latin typeface="Arial"/>
                <a:ea typeface="Arial"/>
                <a:cs typeface="Arial"/>
              </a:defRPr>
            </a:pPr>
            <a:r>
              <a:rPr sz="3000" b="1">
                <a:solidFill>
                  <a:srgbClr val="1F2A36"/>
                </a:solidFill>
                <a:latin typeface="Arial"/>
                <a:ea typeface="Arial"/>
                <a:cs typeface="Arial"/>
              </a:rPr>
              <a:t>Reading the study’s before / during / after evidence</a:t>
            </a:r>
          </a:p>
        </p:txBody>
      </p:sp>
      <p:sp>
        <p:nvSpPr>
          <p:cNvPr id="2" name="text-1">
            <a:extLst>
              <a:ext uri="{FF2B5EF4-FFF2-40B4-BE49-F238E27FC236}">
                <a16:creationId xmlns:a16="http://schemas.microsoft.com/office/drawing/2014/main" id="{9BDACBC7-9E57-4B0C-9391-DBE06F449230}"/>
              </a:ext>
            </a:extLst>
          </p:cNvPr>
          <p:cNvSpPr>
            <a:spLocks noGrp="1"/>
          </p:cNvSpPr>
          <p:nvPr/>
        </p:nvSpPr>
        <p:spPr>
          <a:xfrm>
            <a:off x="11239500" y="6400800"/>
            <a:ext cx="476250" cy="266700"/>
          </a:xfrm>
          <a:prstGeom prst="rect">
            <a:avLst/>
          </a:prstGeom>
          <a:noFill/>
          <a:ln w="0">
            <a:noFill/>
            <a:prstDash val="solid"/>
          </a:ln>
        </p:spPr>
        <p:txBody>
          <a:bodyPr lIns="0" tIns="0" rIns="0" bIns="0" anchor="t"/>
          <a:lstStyle>
            <a:defPPr>
              <a:defRPr sz="1350" b="0">
                <a:solidFill>
                  <a:srgbClr val="5B6B78"/>
                </a:solidFill>
                <a:latin typeface="Arial"/>
                <a:ea typeface="Arial"/>
                <a:cs typeface="Arial"/>
              </a:defRPr>
            </a:defPPr>
            <a:lvl1pPr>
              <a:defRPr sz="1350" b="0">
                <a:solidFill>
                  <a:srgbClr val="5B6B78"/>
                </a:solidFill>
                <a:latin typeface="Arial"/>
                <a:ea typeface="Arial"/>
                <a:cs typeface="Arial"/>
              </a:defRPr>
            </a:lvl1pPr>
            <a:lvl2pPr>
              <a:defRPr sz="1350" b="0">
                <a:solidFill>
                  <a:srgbClr val="5B6B78"/>
                </a:solidFill>
                <a:latin typeface="Arial"/>
                <a:ea typeface="Arial"/>
                <a:cs typeface="Arial"/>
              </a:defRPr>
            </a:lvl2pPr>
            <a:lvl3pPr>
              <a:defRPr sz="1350" b="0">
                <a:solidFill>
                  <a:srgbClr val="5B6B78"/>
                </a:solidFill>
                <a:latin typeface="Arial"/>
                <a:ea typeface="Arial"/>
                <a:cs typeface="Arial"/>
              </a:defRPr>
            </a:lvl3pPr>
            <a:lvl4pPr>
              <a:defRPr sz="1350" b="0">
                <a:solidFill>
                  <a:srgbClr val="5B6B78"/>
                </a:solidFill>
                <a:latin typeface="Arial"/>
                <a:ea typeface="Arial"/>
                <a:cs typeface="Arial"/>
              </a:defRPr>
            </a:lvl4pPr>
            <a:lvl5pPr>
              <a:defRPr sz="1350" b="0">
                <a:solidFill>
                  <a:srgbClr val="5B6B78"/>
                </a:solidFill>
                <a:latin typeface="Arial"/>
                <a:ea typeface="Arial"/>
                <a:cs typeface="Arial"/>
              </a:defRPr>
            </a:lvl5pPr>
            <a:lvl6pPr>
              <a:defRPr sz="1350" b="0">
                <a:solidFill>
                  <a:srgbClr val="5B6B78"/>
                </a:solidFill>
                <a:latin typeface="Arial"/>
                <a:ea typeface="Arial"/>
                <a:cs typeface="Arial"/>
              </a:defRPr>
            </a:lvl6pPr>
            <a:lvl7pPr>
              <a:defRPr sz="1350" b="0">
                <a:solidFill>
                  <a:srgbClr val="5B6B78"/>
                </a:solidFill>
                <a:latin typeface="Arial"/>
                <a:ea typeface="Arial"/>
                <a:cs typeface="Arial"/>
              </a:defRPr>
            </a:lvl7pPr>
            <a:lvl8pPr>
              <a:defRPr sz="1350" b="0">
                <a:solidFill>
                  <a:srgbClr val="5B6B78"/>
                </a:solidFill>
                <a:latin typeface="Arial"/>
                <a:ea typeface="Arial"/>
                <a:cs typeface="Arial"/>
              </a:defRPr>
            </a:lvl8pPr>
            <a:lvl9pPr>
              <a:defRPr sz="1350" b="0">
                <a:solidFill>
                  <a:srgbClr val="5B6B78"/>
                </a:solidFill>
                <a:latin typeface="Arial"/>
                <a:ea typeface="Arial"/>
                <a:cs typeface="Arial"/>
              </a:defRPr>
            </a:lvl9pPr>
          </a:lstStyle>
          <a:p>
            <a:pPr>
              <a:defRPr sz="1350" b="0">
                <a:solidFill>
                  <a:srgbClr val="5B6B78"/>
                </a:solidFill>
                <a:latin typeface="Arial"/>
                <a:ea typeface="Arial"/>
                <a:cs typeface="Arial"/>
              </a:defRPr>
            </a:pPr>
            <a:r>
              <a:rPr sz="1350" b="0">
                <a:solidFill>
                  <a:srgbClr val="5B6B78"/>
                </a:solidFill>
                <a:latin typeface="Arial"/>
                <a:ea typeface="Arial"/>
                <a:cs typeface="Arial"/>
              </a:rPr>
              <a:t>10</a:t>
            </a:r>
          </a:p>
        </p:txBody>
      </p:sp>
      <p:sp>
        <p:nvSpPr>
          <p:cNvPr id="3" name="text-2">
            <a:extLst>
              <a:ext uri="{FF2B5EF4-FFF2-40B4-BE49-F238E27FC236}">
                <a16:creationId xmlns:a16="http://schemas.microsoft.com/office/drawing/2014/main" id="{E1AD55BA-9528-4514-BD4F-1A211DBBD602}"/>
              </a:ext>
            </a:extLst>
          </p:cNvPr>
          <p:cNvSpPr>
            <a:spLocks noGrp="1"/>
          </p:cNvSpPr>
          <p:nvPr/>
        </p:nvSpPr>
        <p:spPr>
          <a:xfrm>
            <a:off x="552450" y="6200775"/>
            <a:ext cx="10382250" cy="333375"/>
          </a:xfrm>
          <a:prstGeom prst="rect">
            <a:avLst/>
          </a:prstGeom>
          <a:noFill/>
          <a:ln w="0">
            <a:noFill/>
            <a:prstDash val="solid"/>
          </a:ln>
        </p:spPr>
        <p:txBody>
          <a:bodyPr lIns="0" tIns="0" rIns="0" bIns="0" anchor="t"/>
          <a:lstStyle>
            <a:defPPr>
              <a:defRPr sz="1125" b="0">
                <a:solidFill>
                  <a:srgbClr val="5B6B78"/>
                </a:solidFill>
                <a:latin typeface="Arial"/>
                <a:ea typeface="Arial"/>
                <a:cs typeface="Arial"/>
              </a:defRPr>
            </a:defPPr>
            <a:lvl1pPr>
              <a:defRPr sz="1125" b="0">
                <a:solidFill>
                  <a:srgbClr val="5B6B78"/>
                </a:solidFill>
                <a:latin typeface="Arial"/>
                <a:ea typeface="Arial"/>
                <a:cs typeface="Arial"/>
              </a:defRPr>
            </a:lvl1pPr>
            <a:lvl2pPr>
              <a:defRPr sz="1125" b="0">
                <a:solidFill>
                  <a:srgbClr val="5B6B78"/>
                </a:solidFill>
                <a:latin typeface="Arial"/>
                <a:ea typeface="Arial"/>
                <a:cs typeface="Arial"/>
              </a:defRPr>
            </a:lvl2pPr>
            <a:lvl3pPr>
              <a:defRPr sz="1125" b="0">
                <a:solidFill>
                  <a:srgbClr val="5B6B78"/>
                </a:solidFill>
                <a:latin typeface="Arial"/>
                <a:ea typeface="Arial"/>
                <a:cs typeface="Arial"/>
              </a:defRPr>
            </a:lvl3pPr>
            <a:lvl4pPr>
              <a:defRPr sz="1125" b="0">
                <a:solidFill>
                  <a:srgbClr val="5B6B78"/>
                </a:solidFill>
                <a:latin typeface="Arial"/>
                <a:ea typeface="Arial"/>
                <a:cs typeface="Arial"/>
              </a:defRPr>
            </a:lvl4pPr>
            <a:lvl5pPr>
              <a:defRPr sz="1125" b="0">
                <a:solidFill>
                  <a:srgbClr val="5B6B78"/>
                </a:solidFill>
                <a:latin typeface="Arial"/>
                <a:ea typeface="Arial"/>
                <a:cs typeface="Arial"/>
              </a:defRPr>
            </a:lvl5pPr>
            <a:lvl6pPr>
              <a:defRPr sz="1125" b="0">
                <a:solidFill>
                  <a:srgbClr val="5B6B78"/>
                </a:solidFill>
                <a:latin typeface="Arial"/>
                <a:ea typeface="Arial"/>
                <a:cs typeface="Arial"/>
              </a:defRPr>
            </a:lvl6pPr>
            <a:lvl7pPr>
              <a:defRPr sz="1125" b="0">
                <a:solidFill>
                  <a:srgbClr val="5B6B78"/>
                </a:solidFill>
                <a:latin typeface="Arial"/>
                <a:ea typeface="Arial"/>
                <a:cs typeface="Arial"/>
              </a:defRPr>
            </a:lvl7pPr>
            <a:lvl8pPr>
              <a:defRPr sz="1125" b="0">
                <a:solidFill>
                  <a:srgbClr val="5B6B78"/>
                </a:solidFill>
                <a:latin typeface="Arial"/>
                <a:ea typeface="Arial"/>
                <a:cs typeface="Arial"/>
              </a:defRPr>
            </a:lvl8pPr>
            <a:lvl9pPr>
              <a:defRPr sz="1125" b="0">
                <a:solidFill>
                  <a:srgbClr val="5B6B78"/>
                </a:solidFill>
                <a:latin typeface="Arial"/>
                <a:ea typeface="Arial"/>
                <a:cs typeface="Arial"/>
              </a:defRPr>
            </a:lvl9pPr>
          </a:lstStyle>
          <a:p>
            <a:pPr>
              <a:defRPr sz="1125" b="0">
                <a:solidFill>
                  <a:srgbClr val="5B6B78"/>
                </a:solidFill>
                <a:latin typeface="Arial"/>
                <a:ea typeface="Arial"/>
                <a:cs typeface="Arial"/>
              </a:defRPr>
            </a:pPr>
            <a:r>
              <a:rPr sz="1125" b="0">
                <a:solidFill>
                  <a:srgbClr val="5B6B78"/>
                </a:solidFill>
                <a:latin typeface="Arial"/>
                <a:ea typeface="Arial"/>
                <a:cs typeface="Arial"/>
              </a:rPr>
              <a:t>Legewie &amp; Fagan (2019), Figure 2. Black boys ages 13–15.</a:t>
            </a:r>
          </a:p>
        </p:txBody>
      </p:sp>
      <p:sp>
        <p:nvSpPr>
          <p:cNvPr id="4" name="text-3">
            <a:extLst>
              <a:ext uri="{FF2B5EF4-FFF2-40B4-BE49-F238E27FC236}">
                <a16:creationId xmlns:a16="http://schemas.microsoft.com/office/drawing/2014/main" id="{59DB6A6C-4081-4ACE-AD4E-917D3DA28FFB}"/>
              </a:ext>
            </a:extLst>
          </p:cNvPr>
          <p:cNvSpPr>
            <a:spLocks noGrp="1"/>
          </p:cNvSpPr>
          <p:nvPr/>
        </p:nvSpPr>
        <p:spPr>
          <a:xfrm>
            <a:off x="552450" y="1524000"/>
            <a:ext cx="10477500" cy="428625"/>
          </a:xfrm>
          <a:prstGeom prst="rect">
            <a:avLst/>
          </a:prstGeom>
          <a:noFill/>
          <a:ln w="0">
            <a:noFill/>
            <a:prstDash val="solid"/>
          </a:ln>
        </p:spPr>
        <p:txBody>
          <a:bodyPr lIns="0" tIns="0" rIns="0" bIns="0" anchor="t"/>
          <a:lstStyle>
            <a:defPPr>
              <a:defRPr sz="2175" b="1">
                <a:solidFill>
                  <a:srgbClr val="2E6F73"/>
                </a:solidFill>
                <a:latin typeface="Arial"/>
                <a:ea typeface="Arial"/>
                <a:cs typeface="Arial"/>
              </a:defRPr>
            </a:defPPr>
            <a:lvl1pPr>
              <a:defRPr sz="2175" b="1">
                <a:solidFill>
                  <a:srgbClr val="2E6F73"/>
                </a:solidFill>
                <a:latin typeface="Arial"/>
                <a:ea typeface="Arial"/>
                <a:cs typeface="Arial"/>
              </a:defRPr>
            </a:lvl1pPr>
            <a:lvl2pPr>
              <a:defRPr sz="2175" b="1">
                <a:solidFill>
                  <a:srgbClr val="2E6F73"/>
                </a:solidFill>
                <a:latin typeface="Arial"/>
                <a:ea typeface="Arial"/>
                <a:cs typeface="Arial"/>
              </a:defRPr>
            </a:lvl2pPr>
            <a:lvl3pPr>
              <a:defRPr sz="2175" b="1">
                <a:solidFill>
                  <a:srgbClr val="2E6F73"/>
                </a:solidFill>
                <a:latin typeface="Arial"/>
                <a:ea typeface="Arial"/>
                <a:cs typeface="Arial"/>
              </a:defRPr>
            </a:lvl3pPr>
            <a:lvl4pPr>
              <a:defRPr sz="2175" b="1">
                <a:solidFill>
                  <a:srgbClr val="2E6F73"/>
                </a:solidFill>
                <a:latin typeface="Arial"/>
                <a:ea typeface="Arial"/>
                <a:cs typeface="Arial"/>
              </a:defRPr>
            </a:lvl4pPr>
            <a:lvl5pPr>
              <a:defRPr sz="2175" b="1">
                <a:solidFill>
                  <a:srgbClr val="2E6F73"/>
                </a:solidFill>
                <a:latin typeface="Arial"/>
                <a:ea typeface="Arial"/>
                <a:cs typeface="Arial"/>
              </a:defRPr>
            </a:lvl5pPr>
            <a:lvl6pPr>
              <a:defRPr sz="2175" b="1">
                <a:solidFill>
                  <a:srgbClr val="2E6F73"/>
                </a:solidFill>
                <a:latin typeface="Arial"/>
                <a:ea typeface="Arial"/>
                <a:cs typeface="Arial"/>
              </a:defRPr>
            </a:lvl6pPr>
            <a:lvl7pPr>
              <a:defRPr sz="2175" b="1">
                <a:solidFill>
                  <a:srgbClr val="2E6F73"/>
                </a:solidFill>
                <a:latin typeface="Arial"/>
                <a:ea typeface="Arial"/>
                <a:cs typeface="Arial"/>
              </a:defRPr>
            </a:lvl7pPr>
            <a:lvl8pPr>
              <a:defRPr sz="2175" b="1">
                <a:solidFill>
                  <a:srgbClr val="2E6F73"/>
                </a:solidFill>
                <a:latin typeface="Arial"/>
                <a:ea typeface="Arial"/>
                <a:cs typeface="Arial"/>
              </a:defRPr>
            </a:lvl8pPr>
            <a:lvl9pPr>
              <a:defRPr sz="2175" b="1">
                <a:solidFill>
                  <a:srgbClr val="2E6F73"/>
                </a:solidFill>
                <a:latin typeface="Arial"/>
                <a:ea typeface="Arial"/>
                <a:cs typeface="Arial"/>
              </a:defRPr>
            </a:lvl9pPr>
          </a:lstStyle>
          <a:p>
            <a:pPr>
              <a:defRPr sz="2175" b="1">
                <a:solidFill>
                  <a:srgbClr val="2E6F73"/>
                </a:solidFill>
                <a:latin typeface="Arial"/>
                <a:ea typeface="Arial"/>
                <a:cs typeface="Arial"/>
              </a:defRPr>
            </a:pPr>
            <a:r>
              <a:rPr sz="2175" b="1">
                <a:solidFill>
                  <a:srgbClr val="2E6F73"/>
                </a:solidFill>
                <a:latin typeface="Arial"/>
                <a:ea typeface="Arial"/>
                <a:cs typeface="Arial"/>
              </a:rPr>
              <a:t>Reported pattern</a:t>
            </a:r>
          </a:p>
        </p:txBody>
      </p:sp>
      <p:sp>
        <p:nvSpPr>
          <p:cNvPr id="5" name="text-4">
            <a:extLst>
              <a:ext uri="{FF2B5EF4-FFF2-40B4-BE49-F238E27FC236}">
                <a16:creationId xmlns:a16="http://schemas.microsoft.com/office/drawing/2014/main" id="{5C04BB2B-564D-4CB3-86A4-1B168245A594}"/>
              </a:ext>
            </a:extLst>
          </p:cNvPr>
          <p:cNvSpPr>
            <a:spLocks noGrp="1"/>
          </p:cNvSpPr>
          <p:nvPr/>
        </p:nvSpPr>
        <p:spPr>
          <a:xfrm>
            <a:off x="552450" y="2095500"/>
            <a:ext cx="10572750" cy="1666875"/>
          </a:xfrm>
          <a:prstGeom prst="rect">
            <a:avLst/>
          </a:prstGeom>
          <a:noFill/>
          <a:ln w="0">
            <a:noFill/>
            <a:prstDash val="solid"/>
          </a:ln>
        </p:spPr>
        <p:txBody>
          <a:bodyPr lIns="0" tIns="0" rIns="0" bIns="0" anchor="t"/>
          <a:lstStyle>
            <a:defPPr>
              <a:defRPr sz="2400" b="0">
                <a:solidFill>
                  <a:srgbClr val="1F2A36"/>
                </a:solidFill>
                <a:latin typeface="Arial"/>
                <a:ea typeface="Arial"/>
                <a:cs typeface="Arial"/>
              </a:defRPr>
            </a:defPPr>
            <a:lvl1pPr>
              <a:defRPr sz="2400" b="0">
                <a:solidFill>
                  <a:srgbClr val="1F2A36"/>
                </a:solidFill>
                <a:latin typeface="Arial"/>
                <a:ea typeface="Arial"/>
                <a:cs typeface="Arial"/>
              </a:defRPr>
            </a:lvl1pPr>
            <a:lvl2pPr>
              <a:defRPr sz="2400" b="0">
                <a:solidFill>
                  <a:srgbClr val="1F2A36"/>
                </a:solidFill>
                <a:latin typeface="Arial"/>
                <a:ea typeface="Arial"/>
                <a:cs typeface="Arial"/>
              </a:defRPr>
            </a:lvl2pPr>
            <a:lvl3pPr>
              <a:defRPr sz="2400" b="0">
                <a:solidFill>
                  <a:srgbClr val="1F2A36"/>
                </a:solidFill>
                <a:latin typeface="Arial"/>
                <a:ea typeface="Arial"/>
                <a:cs typeface="Arial"/>
              </a:defRPr>
            </a:lvl3pPr>
            <a:lvl4pPr>
              <a:defRPr sz="2400" b="0">
                <a:solidFill>
                  <a:srgbClr val="1F2A36"/>
                </a:solidFill>
                <a:latin typeface="Arial"/>
                <a:ea typeface="Arial"/>
                <a:cs typeface="Arial"/>
              </a:defRPr>
            </a:lvl4pPr>
            <a:lvl5pPr>
              <a:defRPr sz="2400" b="0">
                <a:solidFill>
                  <a:srgbClr val="1F2A36"/>
                </a:solidFill>
                <a:latin typeface="Arial"/>
                <a:ea typeface="Arial"/>
                <a:cs typeface="Arial"/>
              </a:defRPr>
            </a:lvl5pPr>
            <a:lvl6pPr>
              <a:defRPr sz="2400" b="0">
                <a:solidFill>
                  <a:srgbClr val="1F2A36"/>
                </a:solidFill>
                <a:latin typeface="Arial"/>
                <a:ea typeface="Arial"/>
                <a:cs typeface="Arial"/>
              </a:defRPr>
            </a:lvl6pPr>
            <a:lvl7pPr>
              <a:defRPr sz="2400" b="0">
                <a:solidFill>
                  <a:srgbClr val="1F2A36"/>
                </a:solidFill>
                <a:latin typeface="Arial"/>
                <a:ea typeface="Arial"/>
                <a:cs typeface="Arial"/>
              </a:defRPr>
            </a:lvl7pPr>
            <a:lvl8pPr>
              <a:defRPr sz="2400" b="0">
                <a:solidFill>
                  <a:srgbClr val="1F2A36"/>
                </a:solidFill>
                <a:latin typeface="Arial"/>
                <a:ea typeface="Arial"/>
                <a:cs typeface="Arial"/>
              </a:defRPr>
            </a:lvl8pPr>
            <a:lvl9pPr>
              <a:defRPr sz="2400" b="0">
                <a:solidFill>
                  <a:srgbClr val="1F2A36"/>
                </a:solidFill>
                <a:latin typeface="Arial"/>
                <a:ea typeface="Arial"/>
                <a:cs typeface="Arial"/>
              </a:defRPr>
            </a:lvl9pPr>
          </a:lstStyle>
          <a:p>
            <a:pPr>
              <a:defRPr sz="2400" b="0">
                <a:solidFill>
                  <a:srgbClr val="1F2A36"/>
                </a:solidFill>
                <a:latin typeface="Arial"/>
                <a:ea typeface="Arial"/>
                <a:cs typeface="Arial"/>
              </a:defRPr>
            </a:pPr>
            <a:r>
              <a:rPr sz="2400" b="0">
                <a:solidFill>
                  <a:srgbClr val="1F2A36"/>
                </a:solidFill>
                <a:latin typeface="Arial"/>
                <a:ea typeface="Arial"/>
                <a:cs typeface="Arial"/>
              </a:rPr>
              <a:t>Small, statistically insignificant pre-period estimates.</a:t>
            </a:r>
          </a:p>
          <a:p>
            <a:pPr>
              <a:defRPr sz="2400" b="0">
                <a:solidFill>
                  <a:srgbClr val="1F2A36"/>
                </a:solidFill>
                <a:latin typeface="Arial"/>
                <a:ea typeface="Arial"/>
                <a:cs typeface="Arial"/>
              </a:defRPr>
            </a:pPr>
            <a:r>
              <a:rPr sz="2400" b="0">
                <a:solidFill>
                  <a:srgbClr val="1F2A36"/>
                </a:solidFill>
                <a:latin typeface="Arial"/>
                <a:ea typeface="Arial"/>
                <a:cs typeface="Arial"/>
              </a:rPr>
              <a:t>Negative effects during exposure.</a:t>
            </a:r>
          </a:p>
          <a:p>
            <a:pPr>
              <a:defRPr sz="2400" b="0">
                <a:solidFill>
                  <a:srgbClr val="1F2A36"/>
                </a:solidFill>
                <a:latin typeface="Arial"/>
                <a:ea typeface="Arial"/>
                <a:cs typeface="Arial"/>
              </a:defRPr>
            </a:pPr>
            <a:r>
              <a:rPr sz="2400" b="0">
                <a:solidFill>
                  <a:srgbClr val="1F2A36"/>
                </a:solidFill>
                <a:latin typeface="Arial"/>
                <a:ea typeface="Arial"/>
                <a:cs typeface="Arial"/>
              </a:rPr>
              <a:t>Effects diminish after the program ends.</a:t>
            </a:r>
          </a:p>
        </p:txBody>
      </p:sp>
      <p:sp>
        <p:nvSpPr>
          <p:cNvPr id="6" name="text-5">
            <a:extLst>
              <a:ext uri="{FF2B5EF4-FFF2-40B4-BE49-F238E27FC236}">
                <a16:creationId xmlns:a16="http://schemas.microsoft.com/office/drawing/2014/main" id="{37B91728-A58E-478C-9B43-5ED07E27935D}"/>
              </a:ext>
            </a:extLst>
          </p:cNvPr>
          <p:cNvSpPr>
            <a:spLocks noGrp="1"/>
          </p:cNvSpPr>
          <p:nvPr/>
        </p:nvSpPr>
        <p:spPr>
          <a:xfrm>
            <a:off x="552450" y="4191000"/>
            <a:ext cx="10763250" cy="857250"/>
          </a:xfrm>
          <a:prstGeom prst="rect">
            <a:avLst/>
          </a:prstGeom>
          <a:noFill/>
          <a:ln w="0">
            <a:noFill/>
            <a:prstDash val="solid"/>
          </a:ln>
        </p:spPr>
        <p:txBody>
          <a:bodyPr lIns="0" tIns="0" rIns="0" bIns="0" anchor="t"/>
          <a:lstStyle>
            <a:defPPr>
              <a:defRPr sz="2400" b="1">
                <a:solidFill>
                  <a:srgbClr val="1F2A36"/>
                </a:solidFill>
                <a:latin typeface="Arial"/>
                <a:ea typeface="Arial"/>
                <a:cs typeface="Arial"/>
              </a:defRPr>
            </a:defPPr>
            <a:lvl1pPr>
              <a:defRPr sz="2400" b="1">
                <a:solidFill>
                  <a:srgbClr val="1F2A36"/>
                </a:solidFill>
                <a:latin typeface="Arial"/>
                <a:ea typeface="Arial"/>
                <a:cs typeface="Arial"/>
              </a:defRPr>
            </a:lvl1pPr>
            <a:lvl2pPr>
              <a:defRPr sz="2400" b="1">
                <a:solidFill>
                  <a:srgbClr val="1F2A36"/>
                </a:solidFill>
                <a:latin typeface="Arial"/>
                <a:ea typeface="Arial"/>
                <a:cs typeface="Arial"/>
              </a:defRPr>
            </a:lvl2pPr>
            <a:lvl3pPr>
              <a:defRPr sz="2400" b="1">
                <a:solidFill>
                  <a:srgbClr val="1F2A36"/>
                </a:solidFill>
                <a:latin typeface="Arial"/>
                <a:ea typeface="Arial"/>
                <a:cs typeface="Arial"/>
              </a:defRPr>
            </a:lvl3pPr>
            <a:lvl4pPr>
              <a:defRPr sz="2400" b="1">
                <a:solidFill>
                  <a:srgbClr val="1F2A36"/>
                </a:solidFill>
                <a:latin typeface="Arial"/>
                <a:ea typeface="Arial"/>
                <a:cs typeface="Arial"/>
              </a:defRPr>
            </a:lvl4pPr>
            <a:lvl5pPr>
              <a:defRPr sz="2400" b="1">
                <a:solidFill>
                  <a:srgbClr val="1F2A36"/>
                </a:solidFill>
                <a:latin typeface="Arial"/>
                <a:ea typeface="Arial"/>
                <a:cs typeface="Arial"/>
              </a:defRPr>
            </a:lvl5pPr>
            <a:lvl6pPr>
              <a:defRPr sz="2400" b="1">
                <a:solidFill>
                  <a:srgbClr val="1F2A36"/>
                </a:solidFill>
                <a:latin typeface="Arial"/>
                <a:ea typeface="Arial"/>
                <a:cs typeface="Arial"/>
              </a:defRPr>
            </a:lvl6pPr>
            <a:lvl7pPr>
              <a:defRPr sz="2400" b="1">
                <a:solidFill>
                  <a:srgbClr val="1F2A36"/>
                </a:solidFill>
                <a:latin typeface="Arial"/>
                <a:ea typeface="Arial"/>
                <a:cs typeface="Arial"/>
              </a:defRPr>
            </a:lvl7pPr>
            <a:lvl8pPr>
              <a:defRPr sz="2400" b="1">
                <a:solidFill>
                  <a:srgbClr val="1F2A36"/>
                </a:solidFill>
                <a:latin typeface="Arial"/>
                <a:ea typeface="Arial"/>
                <a:cs typeface="Arial"/>
              </a:defRPr>
            </a:lvl8pPr>
            <a:lvl9pPr>
              <a:defRPr sz="2400" b="1">
                <a:solidFill>
                  <a:srgbClr val="1F2A36"/>
                </a:solidFill>
                <a:latin typeface="Arial"/>
                <a:ea typeface="Arial"/>
                <a:cs typeface="Arial"/>
              </a:defRPr>
            </a:lvl9pPr>
          </a:lstStyle>
          <a:p>
            <a:pPr>
              <a:defRPr sz="2400" b="1">
                <a:solidFill>
                  <a:srgbClr val="1F2A36"/>
                </a:solidFill>
                <a:latin typeface="Arial"/>
                <a:ea typeface="Arial"/>
                <a:cs typeface="Arial"/>
              </a:defRPr>
            </a:pPr>
            <a:r>
              <a:rPr sz="2400" b="1">
                <a:solidFill>
                  <a:srgbClr val="1F2A36"/>
                </a:solidFill>
                <a:latin typeface="Arial"/>
                <a:ea typeface="Arial"/>
                <a:cs typeface="Arial"/>
              </a:rPr>
              <a:t>What would strengthen your confidence in the counterfactual?</a:t>
            </a:r>
          </a:p>
        </p:txBody>
      </p:sp>
      <p:sp>
        <p:nvSpPr>
          <p:cNvPr id="7" name="text-6">
            <a:extLst>
              <a:ext uri="{FF2B5EF4-FFF2-40B4-BE49-F238E27FC236}">
                <a16:creationId xmlns:a16="http://schemas.microsoft.com/office/drawing/2014/main" id="{41FB7AC0-8379-40D7-9A51-14F19881C2CE}"/>
              </a:ext>
            </a:extLst>
          </p:cNvPr>
          <p:cNvSpPr>
            <a:spLocks noGrp="1"/>
          </p:cNvSpPr>
          <p:nvPr/>
        </p:nvSpPr>
        <p:spPr>
          <a:xfrm>
            <a:off x="552450" y="5457825"/>
            <a:ext cx="10572750" cy="523875"/>
          </a:xfrm>
          <a:prstGeom prst="rect">
            <a:avLst/>
          </a:prstGeom>
          <a:noFill/>
          <a:ln w="0">
            <a:noFill/>
            <a:prstDash val="solid"/>
          </a:ln>
        </p:spPr>
        <p:txBody>
          <a:bodyPr lIns="0" tIns="0" rIns="0" bIns="0" anchor="t"/>
          <a:lstStyle>
            <a:defPPr>
              <a:defRPr sz="2100" b="1">
                <a:solidFill>
                  <a:srgbClr val="2E6F73"/>
                </a:solidFill>
                <a:latin typeface="Arial"/>
                <a:ea typeface="Arial"/>
                <a:cs typeface="Arial"/>
              </a:defRPr>
            </a:defPPr>
            <a:lvl1pPr>
              <a:defRPr sz="2100" b="1">
                <a:solidFill>
                  <a:srgbClr val="2E6F73"/>
                </a:solidFill>
                <a:latin typeface="Arial"/>
                <a:ea typeface="Arial"/>
                <a:cs typeface="Arial"/>
              </a:defRPr>
            </a:lvl1pPr>
            <a:lvl2pPr>
              <a:defRPr sz="2100" b="1">
                <a:solidFill>
                  <a:srgbClr val="2E6F73"/>
                </a:solidFill>
                <a:latin typeface="Arial"/>
                <a:ea typeface="Arial"/>
                <a:cs typeface="Arial"/>
              </a:defRPr>
            </a:lvl2pPr>
            <a:lvl3pPr>
              <a:defRPr sz="2100" b="1">
                <a:solidFill>
                  <a:srgbClr val="2E6F73"/>
                </a:solidFill>
                <a:latin typeface="Arial"/>
                <a:ea typeface="Arial"/>
                <a:cs typeface="Arial"/>
              </a:defRPr>
            </a:lvl3pPr>
            <a:lvl4pPr>
              <a:defRPr sz="2100" b="1">
                <a:solidFill>
                  <a:srgbClr val="2E6F73"/>
                </a:solidFill>
                <a:latin typeface="Arial"/>
                <a:ea typeface="Arial"/>
                <a:cs typeface="Arial"/>
              </a:defRPr>
            </a:lvl4pPr>
            <a:lvl5pPr>
              <a:defRPr sz="2100" b="1">
                <a:solidFill>
                  <a:srgbClr val="2E6F73"/>
                </a:solidFill>
                <a:latin typeface="Arial"/>
                <a:ea typeface="Arial"/>
                <a:cs typeface="Arial"/>
              </a:defRPr>
            </a:lvl5pPr>
            <a:lvl6pPr>
              <a:defRPr sz="2100" b="1">
                <a:solidFill>
                  <a:srgbClr val="2E6F73"/>
                </a:solidFill>
                <a:latin typeface="Arial"/>
                <a:ea typeface="Arial"/>
                <a:cs typeface="Arial"/>
              </a:defRPr>
            </a:lvl6pPr>
            <a:lvl7pPr>
              <a:defRPr sz="2100" b="1">
                <a:solidFill>
                  <a:srgbClr val="2E6F73"/>
                </a:solidFill>
                <a:latin typeface="Arial"/>
                <a:ea typeface="Arial"/>
                <a:cs typeface="Arial"/>
              </a:defRPr>
            </a:lvl7pPr>
            <a:lvl8pPr>
              <a:defRPr sz="2100" b="1">
                <a:solidFill>
                  <a:srgbClr val="2E6F73"/>
                </a:solidFill>
                <a:latin typeface="Arial"/>
                <a:ea typeface="Arial"/>
                <a:cs typeface="Arial"/>
              </a:defRPr>
            </a:lvl8pPr>
            <a:lvl9pPr>
              <a:defRPr sz="2100" b="1">
                <a:solidFill>
                  <a:srgbClr val="2E6F73"/>
                </a:solidFill>
                <a:latin typeface="Arial"/>
                <a:ea typeface="Arial"/>
                <a:cs typeface="Arial"/>
              </a:defRPr>
            </a:lvl9pPr>
          </a:lstStyle>
          <a:p>
            <a:pPr>
              <a:defRPr sz="2100" b="1">
                <a:solidFill>
                  <a:srgbClr val="2E6F73"/>
                </a:solidFill>
                <a:latin typeface="Arial"/>
                <a:ea typeface="Arial"/>
                <a:cs typeface="Arial"/>
              </a:defRPr>
            </a:pPr>
            <a:r>
              <a:rPr u="sng">
                <a:hlinkClick r:id="rId3"/>
              </a:rPr>
              <a:t>Open Figure 2 in the assigned article</a:t>
            </a:r>
          </a:p>
        </p:txBody>
      </p:sp>
    </p:spTree>
    <p:extLst>
      <p:ext uri="{BB962C8B-B14F-4D97-AF65-F5344CB8AC3E}">
        <p14:creationId xmlns:p14="http://schemas.microsoft.com/office/powerpoint/2010/main" val="19413925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text-0">
            <a:extLst>
              <a:ext uri="{FF2B5EF4-FFF2-40B4-BE49-F238E27FC236}">
                <a16:creationId xmlns:a16="http://schemas.microsoft.com/office/drawing/2014/main" id="{F5AE1735-52CA-4A88-BBD5-C4157912EDE3}"/>
              </a:ext>
            </a:extLst>
          </p:cNvPr>
          <p:cNvSpPr>
            <a:spLocks noGrp="1"/>
          </p:cNvSpPr>
          <p:nvPr/>
        </p:nvSpPr>
        <p:spPr>
          <a:xfrm>
            <a:off x="552450" y="361950"/>
            <a:ext cx="11087100" cy="857250"/>
          </a:xfrm>
          <a:prstGeom prst="rect">
            <a:avLst/>
          </a:prstGeom>
          <a:noFill/>
          <a:ln w="0">
            <a:noFill/>
            <a:prstDash val="solid"/>
          </a:ln>
        </p:spPr>
        <p:txBody>
          <a:bodyPr lIns="0" tIns="0" rIns="0" bIns="0" anchor="t"/>
          <a:lstStyle>
            <a:defPPr>
              <a:defRPr sz="3000" b="1">
                <a:solidFill>
                  <a:srgbClr val="1F2A36"/>
                </a:solidFill>
                <a:latin typeface="Arial"/>
                <a:ea typeface="Arial"/>
                <a:cs typeface="Arial"/>
              </a:defRPr>
            </a:defPPr>
            <a:lvl1pPr>
              <a:defRPr sz="3000" b="1">
                <a:solidFill>
                  <a:srgbClr val="1F2A36"/>
                </a:solidFill>
                <a:latin typeface="Arial"/>
                <a:ea typeface="Arial"/>
                <a:cs typeface="Arial"/>
              </a:defRPr>
            </a:lvl1pPr>
            <a:lvl2pPr>
              <a:defRPr sz="3000" b="1">
                <a:solidFill>
                  <a:srgbClr val="1F2A36"/>
                </a:solidFill>
                <a:latin typeface="Arial"/>
                <a:ea typeface="Arial"/>
                <a:cs typeface="Arial"/>
              </a:defRPr>
            </a:lvl2pPr>
            <a:lvl3pPr>
              <a:defRPr sz="3000" b="1">
                <a:solidFill>
                  <a:srgbClr val="1F2A36"/>
                </a:solidFill>
                <a:latin typeface="Arial"/>
                <a:ea typeface="Arial"/>
                <a:cs typeface="Arial"/>
              </a:defRPr>
            </a:lvl3pPr>
            <a:lvl4pPr>
              <a:defRPr sz="3000" b="1">
                <a:solidFill>
                  <a:srgbClr val="1F2A36"/>
                </a:solidFill>
                <a:latin typeface="Arial"/>
                <a:ea typeface="Arial"/>
                <a:cs typeface="Arial"/>
              </a:defRPr>
            </a:lvl4pPr>
            <a:lvl5pPr>
              <a:defRPr sz="3000" b="1">
                <a:solidFill>
                  <a:srgbClr val="1F2A36"/>
                </a:solidFill>
                <a:latin typeface="Arial"/>
                <a:ea typeface="Arial"/>
                <a:cs typeface="Arial"/>
              </a:defRPr>
            </a:lvl5pPr>
            <a:lvl6pPr>
              <a:defRPr sz="3000" b="1">
                <a:solidFill>
                  <a:srgbClr val="1F2A36"/>
                </a:solidFill>
                <a:latin typeface="Arial"/>
                <a:ea typeface="Arial"/>
                <a:cs typeface="Arial"/>
              </a:defRPr>
            </a:lvl6pPr>
            <a:lvl7pPr>
              <a:defRPr sz="3000" b="1">
                <a:solidFill>
                  <a:srgbClr val="1F2A36"/>
                </a:solidFill>
                <a:latin typeface="Arial"/>
                <a:ea typeface="Arial"/>
                <a:cs typeface="Arial"/>
              </a:defRPr>
            </a:lvl7pPr>
            <a:lvl8pPr>
              <a:defRPr sz="3000" b="1">
                <a:solidFill>
                  <a:srgbClr val="1F2A36"/>
                </a:solidFill>
                <a:latin typeface="Arial"/>
                <a:ea typeface="Arial"/>
                <a:cs typeface="Arial"/>
              </a:defRPr>
            </a:lvl8pPr>
            <a:lvl9pPr>
              <a:defRPr sz="3000" b="1">
                <a:solidFill>
                  <a:srgbClr val="1F2A36"/>
                </a:solidFill>
                <a:latin typeface="Arial"/>
                <a:ea typeface="Arial"/>
                <a:cs typeface="Arial"/>
              </a:defRPr>
            </a:lvl9pPr>
          </a:lstStyle>
          <a:p>
            <a:pPr>
              <a:defRPr sz="3000" b="1">
                <a:solidFill>
                  <a:srgbClr val="1F2A36"/>
                </a:solidFill>
                <a:latin typeface="Arial"/>
                <a:ea typeface="Arial"/>
                <a:cs typeface="Arial"/>
              </a:defRPr>
            </a:pPr>
            <a:r>
              <a:rPr sz="3000" b="1">
                <a:solidFill>
                  <a:srgbClr val="1F2A36"/>
                </a:solidFill>
                <a:latin typeface="Arial"/>
                <a:ea typeface="Arial"/>
                <a:cs typeface="Arial"/>
              </a:rPr>
              <a:t>Results: whose educational outcomes changed?</a:t>
            </a:r>
          </a:p>
        </p:txBody>
      </p:sp>
      <p:sp>
        <p:nvSpPr>
          <p:cNvPr id="2" name="text-1">
            <a:extLst>
              <a:ext uri="{FF2B5EF4-FFF2-40B4-BE49-F238E27FC236}">
                <a16:creationId xmlns:a16="http://schemas.microsoft.com/office/drawing/2014/main" id="{E3E24D9F-898F-4074-B18E-0744D347FFDC}"/>
              </a:ext>
            </a:extLst>
          </p:cNvPr>
          <p:cNvSpPr>
            <a:spLocks noGrp="1"/>
          </p:cNvSpPr>
          <p:nvPr/>
        </p:nvSpPr>
        <p:spPr>
          <a:xfrm>
            <a:off x="11239500" y="6400800"/>
            <a:ext cx="476250" cy="266700"/>
          </a:xfrm>
          <a:prstGeom prst="rect">
            <a:avLst/>
          </a:prstGeom>
          <a:noFill/>
          <a:ln w="0">
            <a:noFill/>
            <a:prstDash val="solid"/>
          </a:ln>
        </p:spPr>
        <p:txBody>
          <a:bodyPr lIns="0" tIns="0" rIns="0" bIns="0" anchor="t"/>
          <a:lstStyle>
            <a:defPPr>
              <a:defRPr sz="1350" b="0">
                <a:solidFill>
                  <a:srgbClr val="5B6B78"/>
                </a:solidFill>
                <a:latin typeface="Arial"/>
                <a:ea typeface="Arial"/>
                <a:cs typeface="Arial"/>
              </a:defRPr>
            </a:defPPr>
            <a:lvl1pPr>
              <a:defRPr sz="1350" b="0">
                <a:solidFill>
                  <a:srgbClr val="5B6B78"/>
                </a:solidFill>
                <a:latin typeface="Arial"/>
                <a:ea typeface="Arial"/>
                <a:cs typeface="Arial"/>
              </a:defRPr>
            </a:lvl1pPr>
            <a:lvl2pPr>
              <a:defRPr sz="1350" b="0">
                <a:solidFill>
                  <a:srgbClr val="5B6B78"/>
                </a:solidFill>
                <a:latin typeface="Arial"/>
                <a:ea typeface="Arial"/>
                <a:cs typeface="Arial"/>
              </a:defRPr>
            </a:lvl2pPr>
            <a:lvl3pPr>
              <a:defRPr sz="1350" b="0">
                <a:solidFill>
                  <a:srgbClr val="5B6B78"/>
                </a:solidFill>
                <a:latin typeface="Arial"/>
                <a:ea typeface="Arial"/>
                <a:cs typeface="Arial"/>
              </a:defRPr>
            </a:lvl3pPr>
            <a:lvl4pPr>
              <a:defRPr sz="1350" b="0">
                <a:solidFill>
                  <a:srgbClr val="5B6B78"/>
                </a:solidFill>
                <a:latin typeface="Arial"/>
                <a:ea typeface="Arial"/>
                <a:cs typeface="Arial"/>
              </a:defRPr>
            </a:lvl4pPr>
            <a:lvl5pPr>
              <a:defRPr sz="1350" b="0">
                <a:solidFill>
                  <a:srgbClr val="5B6B78"/>
                </a:solidFill>
                <a:latin typeface="Arial"/>
                <a:ea typeface="Arial"/>
                <a:cs typeface="Arial"/>
              </a:defRPr>
            </a:lvl5pPr>
            <a:lvl6pPr>
              <a:defRPr sz="1350" b="0">
                <a:solidFill>
                  <a:srgbClr val="5B6B78"/>
                </a:solidFill>
                <a:latin typeface="Arial"/>
                <a:ea typeface="Arial"/>
                <a:cs typeface="Arial"/>
              </a:defRPr>
            </a:lvl6pPr>
            <a:lvl7pPr>
              <a:defRPr sz="1350" b="0">
                <a:solidFill>
                  <a:srgbClr val="5B6B78"/>
                </a:solidFill>
                <a:latin typeface="Arial"/>
                <a:ea typeface="Arial"/>
                <a:cs typeface="Arial"/>
              </a:defRPr>
            </a:lvl7pPr>
            <a:lvl8pPr>
              <a:defRPr sz="1350" b="0">
                <a:solidFill>
                  <a:srgbClr val="5B6B78"/>
                </a:solidFill>
                <a:latin typeface="Arial"/>
                <a:ea typeface="Arial"/>
                <a:cs typeface="Arial"/>
              </a:defRPr>
            </a:lvl8pPr>
            <a:lvl9pPr>
              <a:defRPr sz="1350" b="0">
                <a:solidFill>
                  <a:srgbClr val="5B6B78"/>
                </a:solidFill>
                <a:latin typeface="Arial"/>
                <a:ea typeface="Arial"/>
                <a:cs typeface="Arial"/>
              </a:defRPr>
            </a:lvl9pPr>
          </a:lstStyle>
          <a:p>
            <a:pPr>
              <a:defRPr sz="1350" b="0">
                <a:solidFill>
                  <a:srgbClr val="5B6B78"/>
                </a:solidFill>
                <a:latin typeface="Arial"/>
                <a:ea typeface="Arial"/>
                <a:cs typeface="Arial"/>
              </a:defRPr>
            </a:pPr>
            <a:r>
              <a:rPr sz="1350" b="0">
                <a:solidFill>
                  <a:srgbClr val="5B6B78"/>
                </a:solidFill>
                <a:latin typeface="Arial"/>
                <a:ea typeface="Arial"/>
                <a:cs typeface="Arial"/>
              </a:rPr>
              <a:t>11</a:t>
            </a:r>
          </a:p>
        </p:txBody>
      </p:sp>
      <p:sp>
        <p:nvSpPr>
          <p:cNvPr id="3" name="text-2">
            <a:extLst>
              <a:ext uri="{FF2B5EF4-FFF2-40B4-BE49-F238E27FC236}">
                <a16:creationId xmlns:a16="http://schemas.microsoft.com/office/drawing/2014/main" id="{C09B4018-EC4D-4291-BFA7-E5FAB9AE2B73}"/>
              </a:ext>
            </a:extLst>
          </p:cNvPr>
          <p:cNvSpPr>
            <a:spLocks noGrp="1"/>
          </p:cNvSpPr>
          <p:nvPr/>
        </p:nvSpPr>
        <p:spPr>
          <a:xfrm>
            <a:off x="552450" y="6200775"/>
            <a:ext cx="10382250" cy="333375"/>
          </a:xfrm>
          <a:prstGeom prst="rect">
            <a:avLst/>
          </a:prstGeom>
          <a:noFill/>
          <a:ln w="0">
            <a:noFill/>
            <a:prstDash val="solid"/>
          </a:ln>
        </p:spPr>
        <p:txBody>
          <a:bodyPr lIns="0" tIns="0" rIns="0" bIns="0" anchor="t"/>
          <a:lstStyle>
            <a:defPPr>
              <a:defRPr sz="1125" b="0">
                <a:solidFill>
                  <a:srgbClr val="5B6B78"/>
                </a:solidFill>
                <a:latin typeface="Arial"/>
                <a:ea typeface="Arial"/>
                <a:cs typeface="Arial"/>
              </a:defRPr>
            </a:defPPr>
            <a:lvl1pPr>
              <a:defRPr sz="1125" b="0">
                <a:solidFill>
                  <a:srgbClr val="5B6B78"/>
                </a:solidFill>
                <a:latin typeface="Arial"/>
                <a:ea typeface="Arial"/>
                <a:cs typeface="Arial"/>
              </a:defRPr>
            </a:lvl1pPr>
            <a:lvl2pPr>
              <a:defRPr sz="1125" b="0">
                <a:solidFill>
                  <a:srgbClr val="5B6B78"/>
                </a:solidFill>
                <a:latin typeface="Arial"/>
                <a:ea typeface="Arial"/>
                <a:cs typeface="Arial"/>
              </a:defRPr>
            </a:lvl2pPr>
            <a:lvl3pPr>
              <a:defRPr sz="1125" b="0">
                <a:solidFill>
                  <a:srgbClr val="5B6B78"/>
                </a:solidFill>
                <a:latin typeface="Arial"/>
                <a:ea typeface="Arial"/>
                <a:cs typeface="Arial"/>
              </a:defRPr>
            </a:lvl3pPr>
            <a:lvl4pPr>
              <a:defRPr sz="1125" b="0">
                <a:solidFill>
                  <a:srgbClr val="5B6B78"/>
                </a:solidFill>
                <a:latin typeface="Arial"/>
                <a:ea typeface="Arial"/>
                <a:cs typeface="Arial"/>
              </a:defRPr>
            </a:lvl4pPr>
            <a:lvl5pPr>
              <a:defRPr sz="1125" b="0">
                <a:solidFill>
                  <a:srgbClr val="5B6B78"/>
                </a:solidFill>
                <a:latin typeface="Arial"/>
                <a:ea typeface="Arial"/>
                <a:cs typeface="Arial"/>
              </a:defRPr>
            </a:lvl5pPr>
            <a:lvl6pPr>
              <a:defRPr sz="1125" b="0">
                <a:solidFill>
                  <a:srgbClr val="5B6B78"/>
                </a:solidFill>
                <a:latin typeface="Arial"/>
                <a:ea typeface="Arial"/>
                <a:cs typeface="Arial"/>
              </a:defRPr>
            </a:lvl6pPr>
            <a:lvl7pPr>
              <a:defRPr sz="1125" b="0">
                <a:solidFill>
                  <a:srgbClr val="5B6B78"/>
                </a:solidFill>
                <a:latin typeface="Arial"/>
                <a:ea typeface="Arial"/>
                <a:cs typeface="Arial"/>
              </a:defRPr>
            </a:lvl7pPr>
            <a:lvl8pPr>
              <a:defRPr sz="1125" b="0">
                <a:solidFill>
                  <a:srgbClr val="5B6B78"/>
                </a:solidFill>
                <a:latin typeface="Arial"/>
                <a:ea typeface="Arial"/>
                <a:cs typeface="Arial"/>
              </a:defRPr>
            </a:lvl8pPr>
            <a:lvl9pPr>
              <a:defRPr sz="1125" b="0">
                <a:solidFill>
                  <a:srgbClr val="5B6B78"/>
                </a:solidFill>
                <a:latin typeface="Arial"/>
                <a:ea typeface="Arial"/>
                <a:cs typeface="Arial"/>
              </a:defRPr>
            </a:lvl9pPr>
          </a:lstStyle>
          <a:p>
            <a:pPr>
              <a:defRPr sz="1125" b="0">
                <a:solidFill>
                  <a:srgbClr val="5B6B78"/>
                </a:solidFill>
                <a:latin typeface="Arial"/>
                <a:ea typeface="Arial"/>
                <a:cs typeface="Arial"/>
              </a:defRPr>
            </a:pPr>
            <a:r>
              <a:rPr sz="1125" b="0">
                <a:solidFill>
                  <a:srgbClr val="5B6B78"/>
                </a:solidFill>
                <a:latin typeface="Arial"/>
                <a:ea typeface="Arial"/>
                <a:cs typeface="Arial"/>
              </a:rPr>
              <a:t>Legewie &amp; Fagan (2019); NYU Research Alliance policy brief (2019)</a:t>
            </a:r>
          </a:p>
        </p:txBody>
      </p:sp>
      <p:sp>
        <p:nvSpPr>
          <p:cNvPr id="4" name="text-3">
            <a:extLst>
              <a:ext uri="{FF2B5EF4-FFF2-40B4-BE49-F238E27FC236}">
                <a16:creationId xmlns:a16="http://schemas.microsoft.com/office/drawing/2014/main" id="{F86949DD-88CC-43EA-B4CB-E6B8524149D2}"/>
              </a:ext>
            </a:extLst>
          </p:cNvPr>
          <p:cNvSpPr>
            <a:spLocks noGrp="1"/>
          </p:cNvSpPr>
          <p:nvPr/>
        </p:nvSpPr>
        <p:spPr>
          <a:xfrm>
            <a:off x="552450" y="1504950"/>
            <a:ext cx="10763250" cy="952500"/>
          </a:xfrm>
          <a:prstGeom prst="rect">
            <a:avLst/>
          </a:prstGeom>
          <a:noFill/>
          <a:ln w="0">
            <a:noFill/>
            <a:prstDash val="solid"/>
          </a:ln>
        </p:spPr>
        <p:txBody>
          <a:bodyPr lIns="0" tIns="0" rIns="0" bIns="0" anchor="t"/>
          <a:lstStyle>
            <a:defPPr>
              <a:defRPr sz="2700" b="1">
                <a:solidFill>
                  <a:srgbClr val="2E6F73"/>
                </a:solidFill>
                <a:latin typeface="Arial"/>
                <a:ea typeface="Arial"/>
                <a:cs typeface="Arial"/>
              </a:defRPr>
            </a:defPPr>
            <a:lvl1pPr>
              <a:defRPr sz="2700" b="1">
                <a:solidFill>
                  <a:srgbClr val="2E6F73"/>
                </a:solidFill>
                <a:latin typeface="Arial"/>
                <a:ea typeface="Arial"/>
                <a:cs typeface="Arial"/>
              </a:defRPr>
            </a:lvl1pPr>
            <a:lvl2pPr>
              <a:defRPr sz="2700" b="1">
                <a:solidFill>
                  <a:srgbClr val="2E6F73"/>
                </a:solidFill>
                <a:latin typeface="Arial"/>
                <a:ea typeface="Arial"/>
                <a:cs typeface="Arial"/>
              </a:defRPr>
            </a:lvl2pPr>
            <a:lvl3pPr>
              <a:defRPr sz="2700" b="1">
                <a:solidFill>
                  <a:srgbClr val="2E6F73"/>
                </a:solidFill>
                <a:latin typeface="Arial"/>
                <a:ea typeface="Arial"/>
                <a:cs typeface="Arial"/>
              </a:defRPr>
            </a:lvl3pPr>
            <a:lvl4pPr>
              <a:defRPr sz="2700" b="1">
                <a:solidFill>
                  <a:srgbClr val="2E6F73"/>
                </a:solidFill>
                <a:latin typeface="Arial"/>
                <a:ea typeface="Arial"/>
                <a:cs typeface="Arial"/>
              </a:defRPr>
            </a:lvl4pPr>
            <a:lvl5pPr>
              <a:defRPr sz="2700" b="1">
                <a:solidFill>
                  <a:srgbClr val="2E6F73"/>
                </a:solidFill>
                <a:latin typeface="Arial"/>
                <a:ea typeface="Arial"/>
                <a:cs typeface="Arial"/>
              </a:defRPr>
            </a:lvl5pPr>
            <a:lvl6pPr>
              <a:defRPr sz="2700" b="1">
                <a:solidFill>
                  <a:srgbClr val="2E6F73"/>
                </a:solidFill>
                <a:latin typeface="Arial"/>
                <a:ea typeface="Arial"/>
                <a:cs typeface="Arial"/>
              </a:defRPr>
            </a:lvl6pPr>
            <a:lvl7pPr>
              <a:defRPr sz="2700" b="1">
                <a:solidFill>
                  <a:srgbClr val="2E6F73"/>
                </a:solidFill>
                <a:latin typeface="Arial"/>
                <a:ea typeface="Arial"/>
                <a:cs typeface="Arial"/>
              </a:defRPr>
            </a:lvl7pPr>
            <a:lvl8pPr>
              <a:defRPr sz="2700" b="1">
                <a:solidFill>
                  <a:srgbClr val="2E6F73"/>
                </a:solidFill>
                <a:latin typeface="Arial"/>
                <a:ea typeface="Arial"/>
                <a:cs typeface="Arial"/>
              </a:defRPr>
            </a:lvl8pPr>
            <a:lvl9pPr>
              <a:defRPr sz="2700" b="1">
                <a:solidFill>
                  <a:srgbClr val="2E6F73"/>
                </a:solidFill>
                <a:latin typeface="Arial"/>
                <a:ea typeface="Arial"/>
                <a:cs typeface="Arial"/>
              </a:defRPr>
            </a:lvl9pPr>
          </a:lstStyle>
          <a:p>
            <a:pPr>
              <a:defRPr sz="2700" b="1">
                <a:solidFill>
                  <a:srgbClr val="2E6F73"/>
                </a:solidFill>
                <a:latin typeface="Arial"/>
                <a:ea typeface="Arial"/>
                <a:cs typeface="Arial"/>
              </a:defRPr>
            </a:pPr>
            <a:r>
              <a:rPr sz="2700" b="1">
                <a:solidFill>
                  <a:srgbClr val="2E6F73"/>
                </a:solidFill>
                <a:latin typeface="Arial"/>
                <a:ea typeface="Arial"/>
                <a:cs typeface="Arial"/>
              </a:rPr>
              <a:t>Negative effects concentrated among older Black boys.</a:t>
            </a:r>
          </a:p>
        </p:txBody>
      </p:sp>
      <p:graphicFrame>
        <p:nvGraphicFramePr>
          <p:cNvPr id="5" name="Table 4">
            <a:extLst>
              <a:ext uri="{FF2B5EF4-FFF2-40B4-BE49-F238E27FC236}">
                <a16:creationId xmlns:a16="http://schemas.microsoft.com/office/drawing/2014/main" id="{317CD26B-6C4F-498C-AC2A-F6F8B835F6EC}"/>
              </a:ext>
            </a:extLst>
          </p:cNvPr>
          <p:cNvGraphicFramePr/>
          <p:nvPr/>
        </p:nvGraphicFramePr>
        <p:xfrm>
          <a:off x="552450" y="2714625"/>
          <a:ext cx="10953750" cy="2000250"/>
        </p:xfrm>
        <a:graphic>
          <a:graphicData uri="http://schemas.openxmlformats.org/drawingml/2006/table">
            <a:tbl>
              <a:tblPr/>
              <a:tblGrid>
                <a:gridCol w="7524750">
                  <a:extLst>
                    <a:ext uri="{9D8B030D-6E8A-4147-A177-3AD203B41FA5}">
                      <a16:colId xmlns:a16="http://schemas.microsoft.com/office/drawing/2014/main" val="20000"/>
                    </a:ext>
                  </a:extLst>
                </a:gridCol>
                <a:gridCol w="3429000">
                  <a:extLst>
                    <a:ext uri="{9D8B030D-6E8A-4147-A177-3AD203B41FA5}">
                      <a16:colId xmlns:a16="http://schemas.microsoft.com/office/drawing/2014/main" val="20001"/>
                    </a:ext>
                  </a:extLst>
                </a:gridCol>
              </a:tblGrid>
              <a:tr h="666750">
                <a:tc>
                  <a:txBody>
                    <a:bodyPr/>
                    <a:lstStyle/>
                    <a:p>
                      <a:r>
                        <a:rPr sz="1800" b="1">
                          <a:solidFill>
                            <a:srgbClr val="FFFFFF"/>
                          </a:solidFill>
                          <a:latin typeface="Arial"/>
                          <a:ea typeface="Arial"/>
                          <a:cs typeface="Arial"/>
                        </a:rPr>
                        <a:t>Reported example</a:t>
                      </a:r>
                    </a:p>
                  </a:txBody>
                  <a:tcPr>
                    <a:solidFill>
                      <a:srgbClr val="2E6F73"/>
                    </a:solidFill>
                  </a:tcPr>
                </a:tc>
                <a:tc>
                  <a:txBody>
                    <a:bodyPr/>
                    <a:lstStyle/>
                    <a:p>
                      <a:r>
                        <a:rPr sz="1800" b="1">
                          <a:solidFill>
                            <a:srgbClr val="FFFFFF"/>
                          </a:solidFill>
                          <a:latin typeface="Arial"/>
                          <a:ea typeface="Arial"/>
                          <a:cs typeface="Arial"/>
                        </a:rPr>
                        <a:t>ELA test-score effect</a:t>
                      </a:r>
                    </a:p>
                  </a:txBody>
                  <a:tcPr>
                    <a:solidFill>
                      <a:srgbClr val="2E6F73"/>
                    </a:solidFill>
                  </a:tcPr>
                </a:tc>
                <a:extLst>
                  <a:ext uri="{0D108BD9-81ED-4DB2-BD59-A6C34878D82A}">
                    <a16:rowId xmlns:a16="http://schemas.microsoft.com/office/drawing/2014/main" val="10000"/>
                  </a:ext>
                </a:extLst>
              </a:tr>
              <a:tr h="666750">
                <a:tc>
                  <a:txBody>
                    <a:bodyPr/>
                    <a:lstStyle/>
                    <a:p>
                      <a:r>
                        <a:rPr sz="1800" b="0">
                          <a:solidFill>
                            <a:srgbClr val="1F2A36"/>
                          </a:solidFill>
                          <a:latin typeface="Arial"/>
                          <a:ea typeface="Arial"/>
                          <a:cs typeface="Arial"/>
                        </a:rPr>
                        <a:t>Black boys, age 15; one year of exposure</a:t>
                      </a:r>
                    </a:p>
                  </a:txBody>
                  <a:tcPr>
                    <a:solidFill>
                      <a:srgbClr val="FFFFFF"/>
                    </a:solidFill>
                  </a:tcPr>
                </a:tc>
                <a:tc>
                  <a:txBody>
                    <a:bodyPr/>
                    <a:lstStyle/>
                    <a:p>
                      <a:r>
                        <a:rPr sz="1800" b="0">
                          <a:solidFill>
                            <a:srgbClr val="1F2A36"/>
                          </a:solidFill>
                          <a:latin typeface="Arial"/>
                          <a:ea typeface="Arial"/>
                          <a:cs typeface="Arial"/>
                        </a:rPr>
                        <a:t>−0.150 standard deviations</a:t>
                      </a:r>
                    </a:p>
                  </a:txBody>
                  <a:tcPr>
                    <a:solidFill>
                      <a:srgbClr val="FFFFFF"/>
                    </a:solidFill>
                  </a:tcPr>
                </a:tc>
                <a:extLst>
                  <a:ext uri="{0D108BD9-81ED-4DB2-BD59-A6C34878D82A}">
                    <a16:rowId xmlns:a16="http://schemas.microsoft.com/office/drawing/2014/main" val="10001"/>
                  </a:ext>
                </a:extLst>
              </a:tr>
              <a:tr h="666750">
                <a:tc>
                  <a:txBody>
                    <a:bodyPr/>
                    <a:lstStyle/>
                    <a:p>
                      <a:r>
                        <a:rPr sz="1800" b="0">
                          <a:solidFill>
                            <a:srgbClr val="1F2A36"/>
                          </a:solidFill>
                          <a:latin typeface="Arial"/>
                          <a:ea typeface="Arial"/>
                          <a:cs typeface="Arial"/>
                        </a:rPr>
                        <a:t>Specification</a:t>
                      </a:r>
                    </a:p>
                  </a:txBody>
                  <a:tcPr>
                    <a:solidFill>
                      <a:srgbClr val="EEF1F3"/>
                    </a:solidFill>
                  </a:tcPr>
                </a:tc>
                <a:tc>
                  <a:txBody>
                    <a:bodyPr/>
                    <a:lstStyle/>
                    <a:p>
                      <a:r>
                        <a:rPr sz="1800" b="0">
                          <a:solidFill>
                            <a:srgbClr val="1F2A36"/>
                          </a:solidFill>
                          <a:latin typeface="Arial"/>
                          <a:ea typeface="Arial"/>
                          <a:cs typeface="Arial"/>
                        </a:rPr>
                        <a:t>Preferred model with student fixed effects</a:t>
                      </a:r>
                    </a:p>
                  </a:txBody>
                  <a:tcPr>
                    <a:solidFill>
                      <a:srgbClr val="EEF1F3"/>
                    </a:solidFill>
                  </a:tcPr>
                </a:tc>
                <a:extLst>
                  <a:ext uri="{0D108BD9-81ED-4DB2-BD59-A6C34878D82A}">
                    <a16:rowId xmlns:a16="http://schemas.microsoft.com/office/drawing/2014/main" val="10002"/>
                  </a:ext>
                </a:extLst>
              </a:tr>
            </a:tbl>
          </a:graphicData>
        </a:graphic>
      </p:graphicFrame>
      <p:sp>
        <p:nvSpPr>
          <p:cNvPr id="6" name="text-4">
            <a:extLst>
              <a:ext uri="{FF2B5EF4-FFF2-40B4-BE49-F238E27FC236}">
                <a16:creationId xmlns:a16="http://schemas.microsoft.com/office/drawing/2014/main" id="{F36E0A73-19D1-40DE-BBE7-D18FA03435E4}"/>
              </a:ext>
            </a:extLst>
          </p:cNvPr>
          <p:cNvSpPr>
            <a:spLocks noGrp="1"/>
          </p:cNvSpPr>
          <p:nvPr/>
        </p:nvSpPr>
        <p:spPr>
          <a:xfrm>
            <a:off x="552450" y="5095875"/>
            <a:ext cx="10668000" cy="762000"/>
          </a:xfrm>
          <a:prstGeom prst="rect">
            <a:avLst/>
          </a:prstGeom>
          <a:noFill/>
          <a:ln w="0">
            <a:noFill/>
            <a:prstDash val="solid"/>
          </a:ln>
        </p:spPr>
        <p:txBody>
          <a:bodyPr lIns="0" tIns="0" rIns="0" bIns="0" anchor="t"/>
          <a:lstStyle>
            <a:defPPr>
              <a:defRPr sz="2250" b="0">
                <a:solidFill>
                  <a:srgbClr val="1F2A36"/>
                </a:solidFill>
                <a:latin typeface="Arial"/>
                <a:ea typeface="Arial"/>
                <a:cs typeface="Arial"/>
              </a:defRPr>
            </a:defPPr>
            <a:lvl1pPr>
              <a:defRPr sz="2250" b="0">
                <a:solidFill>
                  <a:srgbClr val="1F2A36"/>
                </a:solidFill>
                <a:latin typeface="Arial"/>
                <a:ea typeface="Arial"/>
                <a:cs typeface="Arial"/>
              </a:defRPr>
            </a:lvl1pPr>
            <a:lvl2pPr>
              <a:defRPr sz="2250" b="0">
                <a:solidFill>
                  <a:srgbClr val="1F2A36"/>
                </a:solidFill>
                <a:latin typeface="Arial"/>
                <a:ea typeface="Arial"/>
                <a:cs typeface="Arial"/>
              </a:defRPr>
            </a:lvl2pPr>
            <a:lvl3pPr>
              <a:defRPr sz="2250" b="0">
                <a:solidFill>
                  <a:srgbClr val="1F2A36"/>
                </a:solidFill>
                <a:latin typeface="Arial"/>
                <a:ea typeface="Arial"/>
                <a:cs typeface="Arial"/>
              </a:defRPr>
            </a:lvl3pPr>
            <a:lvl4pPr>
              <a:defRPr sz="2250" b="0">
                <a:solidFill>
                  <a:srgbClr val="1F2A36"/>
                </a:solidFill>
                <a:latin typeface="Arial"/>
                <a:ea typeface="Arial"/>
                <a:cs typeface="Arial"/>
              </a:defRPr>
            </a:lvl4pPr>
            <a:lvl5pPr>
              <a:defRPr sz="2250" b="0">
                <a:solidFill>
                  <a:srgbClr val="1F2A36"/>
                </a:solidFill>
                <a:latin typeface="Arial"/>
                <a:ea typeface="Arial"/>
                <a:cs typeface="Arial"/>
              </a:defRPr>
            </a:lvl5pPr>
            <a:lvl6pPr>
              <a:defRPr sz="2250" b="0">
                <a:solidFill>
                  <a:srgbClr val="1F2A36"/>
                </a:solidFill>
                <a:latin typeface="Arial"/>
                <a:ea typeface="Arial"/>
                <a:cs typeface="Arial"/>
              </a:defRPr>
            </a:lvl6pPr>
            <a:lvl7pPr>
              <a:defRPr sz="2250" b="0">
                <a:solidFill>
                  <a:srgbClr val="1F2A36"/>
                </a:solidFill>
                <a:latin typeface="Arial"/>
                <a:ea typeface="Arial"/>
                <a:cs typeface="Arial"/>
              </a:defRPr>
            </a:lvl7pPr>
            <a:lvl8pPr>
              <a:defRPr sz="2250" b="0">
                <a:solidFill>
                  <a:srgbClr val="1F2A36"/>
                </a:solidFill>
                <a:latin typeface="Arial"/>
                <a:ea typeface="Arial"/>
                <a:cs typeface="Arial"/>
              </a:defRPr>
            </a:lvl8pPr>
            <a:lvl9pPr>
              <a:defRPr sz="2250" b="0">
                <a:solidFill>
                  <a:srgbClr val="1F2A36"/>
                </a:solidFill>
                <a:latin typeface="Arial"/>
                <a:ea typeface="Arial"/>
                <a:cs typeface="Arial"/>
              </a:defRPr>
            </a:lvl9pPr>
          </a:lstStyle>
          <a:p>
            <a:pPr>
              <a:defRPr sz="2250" b="0">
                <a:solidFill>
                  <a:srgbClr val="1F2A36"/>
                </a:solidFill>
                <a:latin typeface="Arial"/>
                <a:ea typeface="Arial"/>
                <a:cs typeface="Arial"/>
              </a:defRPr>
            </a:pPr>
            <a:r>
              <a:rPr sz="2250" b="0">
                <a:solidFill>
                  <a:srgbClr val="1F2A36"/>
                </a:solidFill>
                <a:latin typeface="Arial"/>
                <a:ea typeface="Arial"/>
                <a:cs typeface="Arial"/>
              </a:rPr>
              <a:t>No consistent comparable pattern for Black girls or Latino students.</a:t>
            </a:r>
          </a:p>
        </p:txBody>
      </p:sp>
    </p:spTree>
    <p:extLst>
      <p:ext uri="{BB962C8B-B14F-4D97-AF65-F5344CB8AC3E}">
        <p14:creationId xmlns:p14="http://schemas.microsoft.com/office/powerpoint/2010/main" val="15393705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ext-0">
            <a:extLst>
              <a:ext uri="{FF2B5EF4-FFF2-40B4-BE49-F238E27FC236}">
                <a16:creationId xmlns:a16="http://schemas.microsoft.com/office/drawing/2014/main" id="{0F345BF1-DEF1-40EB-866F-87C37A1AC7FE}"/>
              </a:ext>
            </a:extLst>
          </p:cNvPr>
          <p:cNvSpPr>
            <a:spLocks noGrp="1"/>
          </p:cNvSpPr>
          <p:nvPr/>
        </p:nvSpPr>
        <p:spPr>
          <a:xfrm>
            <a:off x="552450" y="361950"/>
            <a:ext cx="11087100" cy="857250"/>
          </a:xfrm>
          <a:prstGeom prst="rect">
            <a:avLst/>
          </a:prstGeom>
          <a:noFill/>
          <a:ln w="0">
            <a:noFill/>
            <a:prstDash val="solid"/>
          </a:ln>
        </p:spPr>
        <p:txBody>
          <a:bodyPr lIns="0" tIns="0" rIns="0" bIns="0" anchor="t"/>
          <a:lstStyle>
            <a:defPPr>
              <a:defRPr sz="3000" b="1">
                <a:solidFill>
                  <a:srgbClr val="1F2A36"/>
                </a:solidFill>
                <a:latin typeface="Arial"/>
                <a:ea typeface="Arial"/>
                <a:cs typeface="Arial"/>
              </a:defRPr>
            </a:defPPr>
            <a:lvl1pPr>
              <a:defRPr sz="3000" b="1">
                <a:solidFill>
                  <a:srgbClr val="1F2A36"/>
                </a:solidFill>
                <a:latin typeface="Arial"/>
                <a:ea typeface="Arial"/>
                <a:cs typeface="Arial"/>
              </a:defRPr>
            </a:lvl1pPr>
            <a:lvl2pPr>
              <a:defRPr sz="3000" b="1">
                <a:solidFill>
                  <a:srgbClr val="1F2A36"/>
                </a:solidFill>
                <a:latin typeface="Arial"/>
                <a:ea typeface="Arial"/>
                <a:cs typeface="Arial"/>
              </a:defRPr>
            </a:lvl2pPr>
            <a:lvl3pPr>
              <a:defRPr sz="3000" b="1">
                <a:solidFill>
                  <a:srgbClr val="1F2A36"/>
                </a:solidFill>
                <a:latin typeface="Arial"/>
                <a:ea typeface="Arial"/>
                <a:cs typeface="Arial"/>
              </a:defRPr>
            </a:lvl3pPr>
            <a:lvl4pPr>
              <a:defRPr sz="3000" b="1">
                <a:solidFill>
                  <a:srgbClr val="1F2A36"/>
                </a:solidFill>
                <a:latin typeface="Arial"/>
                <a:ea typeface="Arial"/>
                <a:cs typeface="Arial"/>
              </a:defRPr>
            </a:lvl4pPr>
            <a:lvl5pPr>
              <a:defRPr sz="3000" b="1">
                <a:solidFill>
                  <a:srgbClr val="1F2A36"/>
                </a:solidFill>
                <a:latin typeface="Arial"/>
                <a:ea typeface="Arial"/>
                <a:cs typeface="Arial"/>
              </a:defRPr>
            </a:lvl5pPr>
            <a:lvl6pPr>
              <a:defRPr sz="3000" b="1">
                <a:solidFill>
                  <a:srgbClr val="1F2A36"/>
                </a:solidFill>
                <a:latin typeface="Arial"/>
                <a:ea typeface="Arial"/>
                <a:cs typeface="Arial"/>
              </a:defRPr>
            </a:lvl6pPr>
            <a:lvl7pPr>
              <a:defRPr sz="3000" b="1">
                <a:solidFill>
                  <a:srgbClr val="1F2A36"/>
                </a:solidFill>
                <a:latin typeface="Arial"/>
                <a:ea typeface="Arial"/>
                <a:cs typeface="Arial"/>
              </a:defRPr>
            </a:lvl7pPr>
            <a:lvl8pPr>
              <a:defRPr sz="3000" b="1">
                <a:solidFill>
                  <a:srgbClr val="1F2A36"/>
                </a:solidFill>
                <a:latin typeface="Arial"/>
                <a:ea typeface="Arial"/>
                <a:cs typeface="Arial"/>
              </a:defRPr>
            </a:lvl8pPr>
            <a:lvl9pPr>
              <a:defRPr sz="3000" b="1">
                <a:solidFill>
                  <a:srgbClr val="1F2A36"/>
                </a:solidFill>
                <a:latin typeface="Arial"/>
                <a:ea typeface="Arial"/>
                <a:cs typeface="Arial"/>
              </a:defRPr>
            </a:lvl9pPr>
          </a:lstStyle>
          <a:p>
            <a:pPr>
              <a:defRPr sz="3000" b="1">
                <a:solidFill>
                  <a:srgbClr val="1F2A36"/>
                </a:solidFill>
                <a:latin typeface="Arial"/>
                <a:ea typeface="Arial"/>
                <a:cs typeface="Arial"/>
              </a:defRPr>
            </a:pPr>
            <a:r>
              <a:rPr sz="3000" b="1">
                <a:solidFill>
                  <a:srgbClr val="1F2A36"/>
                </a:solidFill>
                <a:latin typeface="Arial"/>
                <a:ea typeface="Arial"/>
                <a:cs typeface="Arial"/>
              </a:rPr>
              <a:t>Interpreting a policy’s effects</a:t>
            </a:r>
          </a:p>
        </p:txBody>
      </p:sp>
      <p:sp>
        <p:nvSpPr>
          <p:cNvPr id="2" name="text-1">
            <a:extLst>
              <a:ext uri="{FF2B5EF4-FFF2-40B4-BE49-F238E27FC236}">
                <a16:creationId xmlns:a16="http://schemas.microsoft.com/office/drawing/2014/main" id="{3224F8B3-8214-4EB9-B674-4A25DB2D7E83}"/>
              </a:ext>
            </a:extLst>
          </p:cNvPr>
          <p:cNvSpPr>
            <a:spLocks noGrp="1"/>
          </p:cNvSpPr>
          <p:nvPr/>
        </p:nvSpPr>
        <p:spPr>
          <a:xfrm>
            <a:off x="11239500" y="6400800"/>
            <a:ext cx="476250" cy="266700"/>
          </a:xfrm>
          <a:prstGeom prst="rect">
            <a:avLst/>
          </a:prstGeom>
          <a:noFill/>
          <a:ln w="0">
            <a:noFill/>
            <a:prstDash val="solid"/>
          </a:ln>
        </p:spPr>
        <p:txBody>
          <a:bodyPr lIns="0" tIns="0" rIns="0" bIns="0" anchor="t"/>
          <a:lstStyle>
            <a:defPPr>
              <a:defRPr sz="1350" b="0">
                <a:solidFill>
                  <a:srgbClr val="5B6B78"/>
                </a:solidFill>
                <a:latin typeface="Arial"/>
                <a:ea typeface="Arial"/>
                <a:cs typeface="Arial"/>
              </a:defRPr>
            </a:defPPr>
            <a:lvl1pPr>
              <a:defRPr sz="1350" b="0">
                <a:solidFill>
                  <a:srgbClr val="5B6B78"/>
                </a:solidFill>
                <a:latin typeface="Arial"/>
                <a:ea typeface="Arial"/>
                <a:cs typeface="Arial"/>
              </a:defRPr>
            </a:lvl1pPr>
            <a:lvl2pPr>
              <a:defRPr sz="1350" b="0">
                <a:solidFill>
                  <a:srgbClr val="5B6B78"/>
                </a:solidFill>
                <a:latin typeface="Arial"/>
                <a:ea typeface="Arial"/>
                <a:cs typeface="Arial"/>
              </a:defRPr>
            </a:lvl2pPr>
            <a:lvl3pPr>
              <a:defRPr sz="1350" b="0">
                <a:solidFill>
                  <a:srgbClr val="5B6B78"/>
                </a:solidFill>
                <a:latin typeface="Arial"/>
                <a:ea typeface="Arial"/>
                <a:cs typeface="Arial"/>
              </a:defRPr>
            </a:lvl3pPr>
            <a:lvl4pPr>
              <a:defRPr sz="1350" b="0">
                <a:solidFill>
                  <a:srgbClr val="5B6B78"/>
                </a:solidFill>
                <a:latin typeface="Arial"/>
                <a:ea typeface="Arial"/>
                <a:cs typeface="Arial"/>
              </a:defRPr>
            </a:lvl4pPr>
            <a:lvl5pPr>
              <a:defRPr sz="1350" b="0">
                <a:solidFill>
                  <a:srgbClr val="5B6B78"/>
                </a:solidFill>
                <a:latin typeface="Arial"/>
                <a:ea typeface="Arial"/>
                <a:cs typeface="Arial"/>
              </a:defRPr>
            </a:lvl5pPr>
            <a:lvl6pPr>
              <a:defRPr sz="1350" b="0">
                <a:solidFill>
                  <a:srgbClr val="5B6B78"/>
                </a:solidFill>
                <a:latin typeface="Arial"/>
                <a:ea typeface="Arial"/>
                <a:cs typeface="Arial"/>
              </a:defRPr>
            </a:lvl6pPr>
            <a:lvl7pPr>
              <a:defRPr sz="1350" b="0">
                <a:solidFill>
                  <a:srgbClr val="5B6B78"/>
                </a:solidFill>
                <a:latin typeface="Arial"/>
                <a:ea typeface="Arial"/>
                <a:cs typeface="Arial"/>
              </a:defRPr>
            </a:lvl7pPr>
            <a:lvl8pPr>
              <a:defRPr sz="1350" b="0">
                <a:solidFill>
                  <a:srgbClr val="5B6B78"/>
                </a:solidFill>
                <a:latin typeface="Arial"/>
                <a:ea typeface="Arial"/>
                <a:cs typeface="Arial"/>
              </a:defRPr>
            </a:lvl8pPr>
            <a:lvl9pPr>
              <a:defRPr sz="1350" b="0">
                <a:solidFill>
                  <a:srgbClr val="5B6B78"/>
                </a:solidFill>
                <a:latin typeface="Arial"/>
                <a:ea typeface="Arial"/>
                <a:cs typeface="Arial"/>
              </a:defRPr>
            </a:lvl9pPr>
          </a:lstStyle>
          <a:p>
            <a:pPr>
              <a:defRPr sz="1350" b="0">
                <a:solidFill>
                  <a:srgbClr val="5B6B78"/>
                </a:solidFill>
                <a:latin typeface="Arial"/>
                <a:ea typeface="Arial"/>
                <a:cs typeface="Arial"/>
              </a:defRPr>
            </a:pPr>
            <a:r>
              <a:rPr sz="1350" b="0">
                <a:solidFill>
                  <a:srgbClr val="5B6B78"/>
                </a:solidFill>
                <a:latin typeface="Arial"/>
                <a:ea typeface="Arial"/>
                <a:cs typeface="Arial"/>
              </a:rPr>
              <a:t>12</a:t>
            </a:r>
          </a:p>
        </p:txBody>
      </p:sp>
      <p:sp>
        <p:nvSpPr>
          <p:cNvPr id="3" name="text-2">
            <a:extLst>
              <a:ext uri="{FF2B5EF4-FFF2-40B4-BE49-F238E27FC236}">
                <a16:creationId xmlns:a16="http://schemas.microsoft.com/office/drawing/2014/main" id="{43748209-8107-4988-AF18-6516D7DA8C5E}"/>
              </a:ext>
            </a:extLst>
          </p:cNvPr>
          <p:cNvSpPr>
            <a:spLocks noGrp="1"/>
          </p:cNvSpPr>
          <p:nvPr/>
        </p:nvSpPr>
        <p:spPr>
          <a:xfrm>
            <a:off x="552450" y="1571625"/>
            <a:ext cx="10668000" cy="381000"/>
          </a:xfrm>
          <a:prstGeom prst="rect">
            <a:avLst/>
          </a:prstGeom>
          <a:noFill/>
          <a:ln w="0">
            <a:noFill/>
            <a:prstDash val="solid"/>
          </a:ln>
        </p:spPr>
        <p:txBody>
          <a:bodyPr lIns="0" tIns="0" rIns="0" bIns="0" anchor="t"/>
          <a:lstStyle>
            <a:defPPr>
              <a:defRPr sz="2100" b="1">
                <a:solidFill>
                  <a:srgbClr val="2E6F73"/>
                </a:solidFill>
                <a:latin typeface="Arial"/>
                <a:ea typeface="Arial"/>
                <a:cs typeface="Arial"/>
              </a:defRPr>
            </a:defPPr>
            <a:lvl1pPr>
              <a:defRPr sz="2100" b="1">
                <a:solidFill>
                  <a:srgbClr val="2E6F73"/>
                </a:solidFill>
                <a:latin typeface="Arial"/>
                <a:ea typeface="Arial"/>
                <a:cs typeface="Arial"/>
              </a:defRPr>
            </a:lvl1pPr>
            <a:lvl2pPr>
              <a:defRPr sz="2100" b="1">
                <a:solidFill>
                  <a:srgbClr val="2E6F73"/>
                </a:solidFill>
                <a:latin typeface="Arial"/>
                <a:ea typeface="Arial"/>
                <a:cs typeface="Arial"/>
              </a:defRPr>
            </a:lvl2pPr>
            <a:lvl3pPr>
              <a:defRPr sz="2100" b="1">
                <a:solidFill>
                  <a:srgbClr val="2E6F73"/>
                </a:solidFill>
                <a:latin typeface="Arial"/>
                <a:ea typeface="Arial"/>
                <a:cs typeface="Arial"/>
              </a:defRPr>
            </a:lvl3pPr>
            <a:lvl4pPr>
              <a:defRPr sz="2100" b="1">
                <a:solidFill>
                  <a:srgbClr val="2E6F73"/>
                </a:solidFill>
                <a:latin typeface="Arial"/>
                <a:ea typeface="Arial"/>
                <a:cs typeface="Arial"/>
              </a:defRPr>
            </a:lvl4pPr>
            <a:lvl5pPr>
              <a:defRPr sz="2100" b="1">
                <a:solidFill>
                  <a:srgbClr val="2E6F73"/>
                </a:solidFill>
                <a:latin typeface="Arial"/>
                <a:ea typeface="Arial"/>
                <a:cs typeface="Arial"/>
              </a:defRPr>
            </a:lvl5pPr>
            <a:lvl6pPr>
              <a:defRPr sz="2100" b="1">
                <a:solidFill>
                  <a:srgbClr val="2E6F73"/>
                </a:solidFill>
                <a:latin typeface="Arial"/>
                <a:ea typeface="Arial"/>
                <a:cs typeface="Arial"/>
              </a:defRPr>
            </a:lvl6pPr>
            <a:lvl7pPr>
              <a:defRPr sz="2100" b="1">
                <a:solidFill>
                  <a:srgbClr val="2E6F73"/>
                </a:solidFill>
                <a:latin typeface="Arial"/>
                <a:ea typeface="Arial"/>
                <a:cs typeface="Arial"/>
              </a:defRPr>
            </a:lvl7pPr>
            <a:lvl8pPr>
              <a:defRPr sz="2100" b="1">
                <a:solidFill>
                  <a:srgbClr val="2E6F73"/>
                </a:solidFill>
                <a:latin typeface="Arial"/>
                <a:ea typeface="Arial"/>
                <a:cs typeface="Arial"/>
              </a:defRPr>
            </a:lvl8pPr>
            <a:lvl9pPr>
              <a:defRPr sz="2100" b="1">
                <a:solidFill>
                  <a:srgbClr val="2E6F73"/>
                </a:solidFill>
                <a:latin typeface="Arial"/>
                <a:ea typeface="Arial"/>
                <a:cs typeface="Arial"/>
              </a:defRPr>
            </a:lvl9pPr>
          </a:lstStyle>
          <a:p>
            <a:pPr>
              <a:defRPr sz="2100" b="1">
                <a:solidFill>
                  <a:srgbClr val="2E6F73"/>
                </a:solidFill>
                <a:latin typeface="Arial"/>
                <a:ea typeface="Arial"/>
                <a:cs typeface="Arial"/>
              </a:defRPr>
            </a:pPr>
            <a:r>
              <a:rPr sz="2100" b="1">
                <a:solidFill>
                  <a:srgbClr val="2E6F73"/>
                </a:solidFill>
                <a:latin typeface="Arial"/>
                <a:ea typeface="Arial"/>
                <a:cs typeface="Arial"/>
              </a:rPr>
              <a:t>Policy tradeoff</a:t>
            </a:r>
          </a:p>
        </p:txBody>
      </p:sp>
      <p:sp>
        <p:nvSpPr>
          <p:cNvPr id="4" name="text-3">
            <a:extLst>
              <a:ext uri="{FF2B5EF4-FFF2-40B4-BE49-F238E27FC236}">
                <a16:creationId xmlns:a16="http://schemas.microsoft.com/office/drawing/2014/main" id="{23F95FF9-90AC-4ACA-9D1F-1C23DA042733}"/>
              </a:ext>
            </a:extLst>
          </p:cNvPr>
          <p:cNvSpPr>
            <a:spLocks noGrp="1"/>
          </p:cNvSpPr>
          <p:nvPr/>
        </p:nvSpPr>
        <p:spPr>
          <a:xfrm>
            <a:off x="552450" y="1981200"/>
            <a:ext cx="10668000" cy="781050"/>
          </a:xfrm>
          <a:prstGeom prst="rect">
            <a:avLst/>
          </a:prstGeom>
          <a:noFill/>
          <a:ln w="0">
            <a:noFill/>
            <a:prstDash val="solid"/>
          </a:ln>
        </p:spPr>
        <p:txBody>
          <a:bodyPr lIns="0" tIns="0" rIns="0" bIns="0" anchor="t"/>
          <a:lstStyle>
            <a:defPPr>
              <a:defRPr sz="2025" b="0">
                <a:solidFill>
                  <a:srgbClr val="1F2A36"/>
                </a:solidFill>
                <a:latin typeface="Arial"/>
                <a:ea typeface="Arial"/>
                <a:cs typeface="Arial"/>
              </a:defRPr>
            </a:defPPr>
            <a:lvl1pPr>
              <a:defRPr sz="2025" b="0">
                <a:solidFill>
                  <a:srgbClr val="1F2A36"/>
                </a:solidFill>
                <a:latin typeface="Arial"/>
                <a:ea typeface="Arial"/>
                <a:cs typeface="Arial"/>
              </a:defRPr>
            </a:lvl1pPr>
            <a:lvl2pPr>
              <a:defRPr sz="2025" b="0">
                <a:solidFill>
                  <a:srgbClr val="1F2A36"/>
                </a:solidFill>
                <a:latin typeface="Arial"/>
                <a:ea typeface="Arial"/>
                <a:cs typeface="Arial"/>
              </a:defRPr>
            </a:lvl2pPr>
            <a:lvl3pPr>
              <a:defRPr sz="2025" b="0">
                <a:solidFill>
                  <a:srgbClr val="1F2A36"/>
                </a:solidFill>
                <a:latin typeface="Arial"/>
                <a:ea typeface="Arial"/>
                <a:cs typeface="Arial"/>
              </a:defRPr>
            </a:lvl3pPr>
            <a:lvl4pPr>
              <a:defRPr sz="2025" b="0">
                <a:solidFill>
                  <a:srgbClr val="1F2A36"/>
                </a:solidFill>
                <a:latin typeface="Arial"/>
                <a:ea typeface="Arial"/>
                <a:cs typeface="Arial"/>
              </a:defRPr>
            </a:lvl4pPr>
            <a:lvl5pPr>
              <a:defRPr sz="2025" b="0">
                <a:solidFill>
                  <a:srgbClr val="1F2A36"/>
                </a:solidFill>
                <a:latin typeface="Arial"/>
                <a:ea typeface="Arial"/>
                <a:cs typeface="Arial"/>
              </a:defRPr>
            </a:lvl5pPr>
            <a:lvl6pPr>
              <a:defRPr sz="2025" b="0">
                <a:solidFill>
                  <a:srgbClr val="1F2A36"/>
                </a:solidFill>
                <a:latin typeface="Arial"/>
                <a:ea typeface="Arial"/>
                <a:cs typeface="Arial"/>
              </a:defRPr>
            </a:lvl6pPr>
            <a:lvl7pPr>
              <a:defRPr sz="2025" b="0">
                <a:solidFill>
                  <a:srgbClr val="1F2A36"/>
                </a:solidFill>
                <a:latin typeface="Arial"/>
                <a:ea typeface="Arial"/>
                <a:cs typeface="Arial"/>
              </a:defRPr>
            </a:lvl7pPr>
            <a:lvl8pPr>
              <a:defRPr sz="2025" b="0">
                <a:solidFill>
                  <a:srgbClr val="1F2A36"/>
                </a:solidFill>
                <a:latin typeface="Arial"/>
                <a:ea typeface="Arial"/>
                <a:cs typeface="Arial"/>
              </a:defRPr>
            </a:lvl8pPr>
            <a:lvl9pPr>
              <a:defRPr sz="2025" b="0">
                <a:solidFill>
                  <a:srgbClr val="1F2A36"/>
                </a:solidFill>
                <a:latin typeface="Arial"/>
                <a:ea typeface="Arial"/>
                <a:cs typeface="Arial"/>
              </a:defRPr>
            </a:lvl9pPr>
          </a:lstStyle>
          <a:p>
            <a:pPr>
              <a:defRPr sz="2025" b="0">
                <a:solidFill>
                  <a:srgbClr val="1F2A36"/>
                </a:solidFill>
                <a:latin typeface="Arial"/>
                <a:ea typeface="Arial"/>
                <a:cs typeface="Arial"/>
              </a:defRPr>
            </a:pPr>
            <a:r>
              <a:rPr sz="2025" b="0">
                <a:solidFill>
                  <a:srgbClr val="1F2A36"/>
                </a:solidFill>
                <a:latin typeface="Arial"/>
                <a:ea typeface="Arial"/>
                <a:cs typeface="Arial"/>
              </a:rPr>
              <a:t>A modest reduction in violent crime can coexist with worse educational outcomes.</a:t>
            </a:r>
          </a:p>
        </p:txBody>
      </p:sp>
      <p:sp>
        <p:nvSpPr>
          <p:cNvPr id="5" name="text-4">
            <a:extLst>
              <a:ext uri="{FF2B5EF4-FFF2-40B4-BE49-F238E27FC236}">
                <a16:creationId xmlns:a16="http://schemas.microsoft.com/office/drawing/2014/main" id="{7C361937-3B4D-4209-A12D-3410A6317853}"/>
              </a:ext>
            </a:extLst>
          </p:cNvPr>
          <p:cNvSpPr>
            <a:spLocks noGrp="1"/>
          </p:cNvSpPr>
          <p:nvPr/>
        </p:nvSpPr>
        <p:spPr>
          <a:xfrm>
            <a:off x="552450" y="2857500"/>
            <a:ext cx="10668000" cy="381000"/>
          </a:xfrm>
          <a:prstGeom prst="rect">
            <a:avLst/>
          </a:prstGeom>
          <a:noFill/>
          <a:ln w="0">
            <a:noFill/>
            <a:prstDash val="solid"/>
          </a:ln>
        </p:spPr>
        <p:txBody>
          <a:bodyPr lIns="0" tIns="0" rIns="0" bIns="0" anchor="t"/>
          <a:lstStyle>
            <a:defPPr>
              <a:defRPr sz="2100" b="1">
                <a:solidFill>
                  <a:srgbClr val="2E6F73"/>
                </a:solidFill>
                <a:latin typeface="Arial"/>
                <a:ea typeface="Arial"/>
                <a:cs typeface="Arial"/>
              </a:defRPr>
            </a:defPPr>
            <a:lvl1pPr>
              <a:defRPr sz="2100" b="1">
                <a:solidFill>
                  <a:srgbClr val="2E6F73"/>
                </a:solidFill>
                <a:latin typeface="Arial"/>
                <a:ea typeface="Arial"/>
                <a:cs typeface="Arial"/>
              </a:defRPr>
            </a:lvl1pPr>
            <a:lvl2pPr>
              <a:defRPr sz="2100" b="1">
                <a:solidFill>
                  <a:srgbClr val="2E6F73"/>
                </a:solidFill>
                <a:latin typeface="Arial"/>
                <a:ea typeface="Arial"/>
                <a:cs typeface="Arial"/>
              </a:defRPr>
            </a:lvl2pPr>
            <a:lvl3pPr>
              <a:defRPr sz="2100" b="1">
                <a:solidFill>
                  <a:srgbClr val="2E6F73"/>
                </a:solidFill>
                <a:latin typeface="Arial"/>
                <a:ea typeface="Arial"/>
                <a:cs typeface="Arial"/>
              </a:defRPr>
            </a:lvl3pPr>
            <a:lvl4pPr>
              <a:defRPr sz="2100" b="1">
                <a:solidFill>
                  <a:srgbClr val="2E6F73"/>
                </a:solidFill>
                <a:latin typeface="Arial"/>
                <a:ea typeface="Arial"/>
                <a:cs typeface="Arial"/>
              </a:defRPr>
            </a:lvl4pPr>
            <a:lvl5pPr>
              <a:defRPr sz="2100" b="1">
                <a:solidFill>
                  <a:srgbClr val="2E6F73"/>
                </a:solidFill>
                <a:latin typeface="Arial"/>
                <a:ea typeface="Arial"/>
                <a:cs typeface="Arial"/>
              </a:defRPr>
            </a:lvl5pPr>
            <a:lvl6pPr>
              <a:defRPr sz="2100" b="1">
                <a:solidFill>
                  <a:srgbClr val="2E6F73"/>
                </a:solidFill>
                <a:latin typeface="Arial"/>
                <a:ea typeface="Arial"/>
                <a:cs typeface="Arial"/>
              </a:defRPr>
            </a:lvl6pPr>
            <a:lvl7pPr>
              <a:defRPr sz="2100" b="1">
                <a:solidFill>
                  <a:srgbClr val="2E6F73"/>
                </a:solidFill>
                <a:latin typeface="Arial"/>
                <a:ea typeface="Arial"/>
                <a:cs typeface="Arial"/>
              </a:defRPr>
            </a:lvl7pPr>
            <a:lvl8pPr>
              <a:defRPr sz="2100" b="1">
                <a:solidFill>
                  <a:srgbClr val="2E6F73"/>
                </a:solidFill>
                <a:latin typeface="Arial"/>
                <a:ea typeface="Arial"/>
                <a:cs typeface="Arial"/>
              </a:defRPr>
            </a:lvl8pPr>
            <a:lvl9pPr>
              <a:defRPr sz="2100" b="1">
                <a:solidFill>
                  <a:srgbClr val="2E6F73"/>
                </a:solidFill>
                <a:latin typeface="Arial"/>
                <a:ea typeface="Arial"/>
                <a:cs typeface="Arial"/>
              </a:defRPr>
            </a:lvl9pPr>
          </a:lstStyle>
          <a:p>
            <a:pPr>
              <a:defRPr sz="2100" b="1">
                <a:solidFill>
                  <a:srgbClr val="2E6F73"/>
                </a:solidFill>
                <a:latin typeface="Arial"/>
                <a:ea typeface="Arial"/>
                <a:cs typeface="Arial"/>
              </a:defRPr>
            </a:pPr>
            <a:r>
              <a:rPr sz="2100" b="1">
                <a:solidFill>
                  <a:srgbClr val="2E6F73"/>
                </a:solidFill>
                <a:latin typeface="Arial"/>
                <a:ea typeface="Arial"/>
                <a:cs typeface="Arial"/>
              </a:rPr>
              <a:t>Mechanism question</a:t>
            </a:r>
          </a:p>
        </p:txBody>
      </p:sp>
      <p:sp>
        <p:nvSpPr>
          <p:cNvPr id="6" name="text-5">
            <a:extLst>
              <a:ext uri="{FF2B5EF4-FFF2-40B4-BE49-F238E27FC236}">
                <a16:creationId xmlns:a16="http://schemas.microsoft.com/office/drawing/2014/main" id="{588D7475-8C38-4572-830F-C9BD91198575}"/>
              </a:ext>
            </a:extLst>
          </p:cNvPr>
          <p:cNvSpPr>
            <a:spLocks noGrp="1"/>
          </p:cNvSpPr>
          <p:nvPr/>
        </p:nvSpPr>
        <p:spPr>
          <a:xfrm>
            <a:off x="552450" y="3267075"/>
            <a:ext cx="10668000" cy="781050"/>
          </a:xfrm>
          <a:prstGeom prst="rect">
            <a:avLst/>
          </a:prstGeom>
          <a:noFill/>
          <a:ln w="0">
            <a:noFill/>
            <a:prstDash val="solid"/>
          </a:ln>
        </p:spPr>
        <p:txBody>
          <a:bodyPr lIns="0" tIns="0" rIns="0" bIns="0" anchor="t"/>
          <a:lstStyle>
            <a:defPPr>
              <a:defRPr sz="2025" b="0">
                <a:solidFill>
                  <a:srgbClr val="1F2A36"/>
                </a:solidFill>
                <a:latin typeface="Arial"/>
                <a:ea typeface="Arial"/>
                <a:cs typeface="Arial"/>
              </a:defRPr>
            </a:defPPr>
            <a:lvl1pPr>
              <a:defRPr sz="2025" b="0">
                <a:solidFill>
                  <a:srgbClr val="1F2A36"/>
                </a:solidFill>
                <a:latin typeface="Arial"/>
                <a:ea typeface="Arial"/>
                <a:cs typeface="Arial"/>
              </a:defRPr>
            </a:lvl1pPr>
            <a:lvl2pPr>
              <a:defRPr sz="2025" b="0">
                <a:solidFill>
                  <a:srgbClr val="1F2A36"/>
                </a:solidFill>
                <a:latin typeface="Arial"/>
                <a:ea typeface="Arial"/>
                <a:cs typeface="Arial"/>
              </a:defRPr>
            </a:lvl2pPr>
            <a:lvl3pPr>
              <a:defRPr sz="2025" b="0">
                <a:solidFill>
                  <a:srgbClr val="1F2A36"/>
                </a:solidFill>
                <a:latin typeface="Arial"/>
                <a:ea typeface="Arial"/>
                <a:cs typeface="Arial"/>
              </a:defRPr>
            </a:lvl3pPr>
            <a:lvl4pPr>
              <a:defRPr sz="2025" b="0">
                <a:solidFill>
                  <a:srgbClr val="1F2A36"/>
                </a:solidFill>
                <a:latin typeface="Arial"/>
                <a:ea typeface="Arial"/>
                <a:cs typeface="Arial"/>
              </a:defRPr>
            </a:lvl4pPr>
            <a:lvl5pPr>
              <a:defRPr sz="2025" b="0">
                <a:solidFill>
                  <a:srgbClr val="1F2A36"/>
                </a:solidFill>
                <a:latin typeface="Arial"/>
                <a:ea typeface="Arial"/>
                <a:cs typeface="Arial"/>
              </a:defRPr>
            </a:lvl5pPr>
            <a:lvl6pPr>
              <a:defRPr sz="2025" b="0">
                <a:solidFill>
                  <a:srgbClr val="1F2A36"/>
                </a:solidFill>
                <a:latin typeface="Arial"/>
                <a:ea typeface="Arial"/>
                <a:cs typeface="Arial"/>
              </a:defRPr>
            </a:lvl6pPr>
            <a:lvl7pPr>
              <a:defRPr sz="2025" b="0">
                <a:solidFill>
                  <a:srgbClr val="1F2A36"/>
                </a:solidFill>
                <a:latin typeface="Arial"/>
                <a:ea typeface="Arial"/>
                <a:cs typeface="Arial"/>
              </a:defRPr>
            </a:lvl7pPr>
            <a:lvl8pPr>
              <a:defRPr sz="2025" b="0">
                <a:solidFill>
                  <a:srgbClr val="1F2A36"/>
                </a:solidFill>
                <a:latin typeface="Arial"/>
                <a:ea typeface="Arial"/>
                <a:cs typeface="Arial"/>
              </a:defRPr>
            </a:lvl8pPr>
            <a:lvl9pPr>
              <a:defRPr sz="2025" b="0">
                <a:solidFill>
                  <a:srgbClr val="1F2A36"/>
                </a:solidFill>
                <a:latin typeface="Arial"/>
                <a:ea typeface="Arial"/>
                <a:cs typeface="Arial"/>
              </a:defRPr>
            </a:lvl9pPr>
          </a:lstStyle>
          <a:p>
            <a:pPr>
              <a:defRPr sz="2025" b="0">
                <a:solidFill>
                  <a:srgbClr val="1F2A36"/>
                </a:solidFill>
                <a:latin typeface="Arial"/>
                <a:ea typeface="Arial"/>
                <a:cs typeface="Arial"/>
              </a:defRPr>
            </a:pPr>
            <a:r>
              <a:rPr sz="2025" b="0">
                <a:solidFill>
                  <a:srgbClr val="1F2A36"/>
                </a:solidFill>
                <a:latin typeface="Arial"/>
                <a:ea typeface="Arial"/>
                <a:cs typeface="Arial"/>
              </a:rPr>
              <a:t>What evidence would distinguish stress from avoidance or disrupted attendance?</a:t>
            </a:r>
          </a:p>
        </p:txBody>
      </p:sp>
      <p:sp>
        <p:nvSpPr>
          <p:cNvPr id="7" name="text-6">
            <a:extLst>
              <a:ext uri="{FF2B5EF4-FFF2-40B4-BE49-F238E27FC236}">
                <a16:creationId xmlns:a16="http://schemas.microsoft.com/office/drawing/2014/main" id="{949F0735-03D7-4ED1-A4D2-5E0617AC95AD}"/>
              </a:ext>
            </a:extLst>
          </p:cNvPr>
          <p:cNvSpPr>
            <a:spLocks noGrp="1"/>
          </p:cNvSpPr>
          <p:nvPr/>
        </p:nvSpPr>
        <p:spPr>
          <a:xfrm>
            <a:off x="552450" y="4143375"/>
            <a:ext cx="10668000" cy="381000"/>
          </a:xfrm>
          <a:prstGeom prst="rect">
            <a:avLst/>
          </a:prstGeom>
          <a:noFill/>
          <a:ln w="0">
            <a:noFill/>
            <a:prstDash val="solid"/>
          </a:ln>
        </p:spPr>
        <p:txBody>
          <a:bodyPr lIns="0" tIns="0" rIns="0" bIns="0" anchor="t"/>
          <a:lstStyle>
            <a:defPPr>
              <a:defRPr sz="2100" b="1">
                <a:solidFill>
                  <a:srgbClr val="2E6F73"/>
                </a:solidFill>
                <a:latin typeface="Arial"/>
                <a:ea typeface="Arial"/>
                <a:cs typeface="Arial"/>
              </a:defRPr>
            </a:defPPr>
            <a:lvl1pPr>
              <a:defRPr sz="2100" b="1">
                <a:solidFill>
                  <a:srgbClr val="2E6F73"/>
                </a:solidFill>
                <a:latin typeface="Arial"/>
                <a:ea typeface="Arial"/>
                <a:cs typeface="Arial"/>
              </a:defRPr>
            </a:lvl1pPr>
            <a:lvl2pPr>
              <a:defRPr sz="2100" b="1">
                <a:solidFill>
                  <a:srgbClr val="2E6F73"/>
                </a:solidFill>
                <a:latin typeface="Arial"/>
                <a:ea typeface="Arial"/>
                <a:cs typeface="Arial"/>
              </a:defRPr>
            </a:lvl2pPr>
            <a:lvl3pPr>
              <a:defRPr sz="2100" b="1">
                <a:solidFill>
                  <a:srgbClr val="2E6F73"/>
                </a:solidFill>
                <a:latin typeface="Arial"/>
                <a:ea typeface="Arial"/>
                <a:cs typeface="Arial"/>
              </a:defRPr>
            </a:lvl3pPr>
            <a:lvl4pPr>
              <a:defRPr sz="2100" b="1">
                <a:solidFill>
                  <a:srgbClr val="2E6F73"/>
                </a:solidFill>
                <a:latin typeface="Arial"/>
                <a:ea typeface="Arial"/>
                <a:cs typeface="Arial"/>
              </a:defRPr>
            </a:lvl4pPr>
            <a:lvl5pPr>
              <a:defRPr sz="2100" b="1">
                <a:solidFill>
                  <a:srgbClr val="2E6F73"/>
                </a:solidFill>
                <a:latin typeface="Arial"/>
                <a:ea typeface="Arial"/>
                <a:cs typeface="Arial"/>
              </a:defRPr>
            </a:lvl5pPr>
            <a:lvl6pPr>
              <a:defRPr sz="2100" b="1">
                <a:solidFill>
                  <a:srgbClr val="2E6F73"/>
                </a:solidFill>
                <a:latin typeface="Arial"/>
                <a:ea typeface="Arial"/>
                <a:cs typeface="Arial"/>
              </a:defRPr>
            </a:lvl6pPr>
            <a:lvl7pPr>
              <a:defRPr sz="2100" b="1">
                <a:solidFill>
                  <a:srgbClr val="2E6F73"/>
                </a:solidFill>
                <a:latin typeface="Arial"/>
                <a:ea typeface="Arial"/>
                <a:cs typeface="Arial"/>
              </a:defRPr>
            </a:lvl7pPr>
            <a:lvl8pPr>
              <a:defRPr sz="2100" b="1">
                <a:solidFill>
                  <a:srgbClr val="2E6F73"/>
                </a:solidFill>
                <a:latin typeface="Arial"/>
                <a:ea typeface="Arial"/>
                <a:cs typeface="Arial"/>
              </a:defRPr>
            </a:lvl8pPr>
            <a:lvl9pPr>
              <a:defRPr sz="2100" b="1">
                <a:solidFill>
                  <a:srgbClr val="2E6F73"/>
                </a:solidFill>
                <a:latin typeface="Arial"/>
                <a:ea typeface="Arial"/>
                <a:cs typeface="Arial"/>
              </a:defRPr>
            </a:lvl9pPr>
          </a:lstStyle>
          <a:p>
            <a:pPr>
              <a:defRPr sz="2100" b="1">
                <a:solidFill>
                  <a:srgbClr val="2E6F73"/>
                </a:solidFill>
                <a:latin typeface="Arial"/>
                <a:ea typeface="Arial"/>
                <a:cs typeface="Arial"/>
              </a:defRPr>
            </a:pPr>
            <a:r>
              <a:rPr sz="2100" b="1">
                <a:solidFill>
                  <a:srgbClr val="2E6F73"/>
                </a:solidFill>
                <a:latin typeface="Arial"/>
                <a:ea typeface="Arial"/>
                <a:cs typeface="Arial"/>
              </a:rPr>
              <a:t>Scope of the conclusion</a:t>
            </a:r>
          </a:p>
        </p:txBody>
      </p:sp>
      <p:sp>
        <p:nvSpPr>
          <p:cNvPr id="8" name="text-7">
            <a:extLst>
              <a:ext uri="{FF2B5EF4-FFF2-40B4-BE49-F238E27FC236}">
                <a16:creationId xmlns:a16="http://schemas.microsoft.com/office/drawing/2014/main" id="{01634977-30BF-43EA-BD86-03859E4A092B}"/>
              </a:ext>
            </a:extLst>
          </p:cNvPr>
          <p:cNvSpPr>
            <a:spLocks noGrp="1"/>
          </p:cNvSpPr>
          <p:nvPr/>
        </p:nvSpPr>
        <p:spPr>
          <a:xfrm>
            <a:off x="552450" y="4552950"/>
            <a:ext cx="10668000" cy="781050"/>
          </a:xfrm>
          <a:prstGeom prst="rect">
            <a:avLst/>
          </a:prstGeom>
          <a:noFill/>
          <a:ln w="0">
            <a:noFill/>
            <a:prstDash val="solid"/>
          </a:ln>
        </p:spPr>
        <p:txBody>
          <a:bodyPr lIns="0" tIns="0" rIns="0" bIns="0" anchor="t"/>
          <a:lstStyle>
            <a:defPPr>
              <a:defRPr sz="2025" b="0">
                <a:solidFill>
                  <a:srgbClr val="1F2A36"/>
                </a:solidFill>
                <a:latin typeface="Arial"/>
                <a:ea typeface="Arial"/>
                <a:cs typeface="Arial"/>
              </a:defRPr>
            </a:defPPr>
            <a:lvl1pPr>
              <a:defRPr sz="2025" b="0">
                <a:solidFill>
                  <a:srgbClr val="1F2A36"/>
                </a:solidFill>
                <a:latin typeface="Arial"/>
                <a:ea typeface="Arial"/>
                <a:cs typeface="Arial"/>
              </a:defRPr>
            </a:lvl1pPr>
            <a:lvl2pPr>
              <a:defRPr sz="2025" b="0">
                <a:solidFill>
                  <a:srgbClr val="1F2A36"/>
                </a:solidFill>
                <a:latin typeface="Arial"/>
                <a:ea typeface="Arial"/>
                <a:cs typeface="Arial"/>
              </a:defRPr>
            </a:lvl2pPr>
            <a:lvl3pPr>
              <a:defRPr sz="2025" b="0">
                <a:solidFill>
                  <a:srgbClr val="1F2A36"/>
                </a:solidFill>
                <a:latin typeface="Arial"/>
                <a:ea typeface="Arial"/>
                <a:cs typeface="Arial"/>
              </a:defRPr>
            </a:lvl3pPr>
            <a:lvl4pPr>
              <a:defRPr sz="2025" b="0">
                <a:solidFill>
                  <a:srgbClr val="1F2A36"/>
                </a:solidFill>
                <a:latin typeface="Arial"/>
                <a:ea typeface="Arial"/>
                <a:cs typeface="Arial"/>
              </a:defRPr>
            </a:lvl4pPr>
            <a:lvl5pPr>
              <a:defRPr sz="2025" b="0">
                <a:solidFill>
                  <a:srgbClr val="1F2A36"/>
                </a:solidFill>
                <a:latin typeface="Arial"/>
                <a:ea typeface="Arial"/>
                <a:cs typeface="Arial"/>
              </a:defRPr>
            </a:lvl5pPr>
            <a:lvl6pPr>
              <a:defRPr sz="2025" b="0">
                <a:solidFill>
                  <a:srgbClr val="1F2A36"/>
                </a:solidFill>
                <a:latin typeface="Arial"/>
                <a:ea typeface="Arial"/>
                <a:cs typeface="Arial"/>
              </a:defRPr>
            </a:lvl6pPr>
            <a:lvl7pPr>
              <a:defRPr sz="2025" b="0">
                <a:solidFill>
                  <a:srgbClr val="1F2A36"/>
                </a:solidFill>
                <a:latin typeface="Arial"/>
                <a:ea typeface="Arial"/>
                <a:cs typeface="Arial"/>
              </a:defRPr>
            </a:lvl7pPr>
            <a:lvl8pPr>
              <a:defRPr sz="2025" b="0">
                <a:solidFill>
                  <a:srgbClr val="1F2A36"/>
                </a:solidFill>
                <a:latin typeface="Arial"/>
                <a:ea typeface="Arial"/>
                <a:cs typeface="Arial"/>
              </a:defRPr>
            </a:lvl8pPr>
            <a:lvl9pPr>
              <a:defRPr sz="2025" b="0">
                <a:solidFill>
                  <a:srgbClr val="1F2A36"/>
                </a:solidFill>
                <a:latin typeface="Arial"/>
                <a:ea typeface="Arial"/>
                <a:cs typeface="Arial"/>
              </a:defRPr>
            </a:lvl9pPr>
          </a:lstStyle>
          <a:p>
            <a:pPr>
              <a:defRPr sz="2025" b="0">
                <a:solidFill>
                  <a:srgbClr val="1F2A36"/>
                </a:solidFill>
                <a:latin typeface="Arial"/>
                <a:ea typeface="Arial"/>
                <a:cs typeface="Arial"/>
              </a:defRPr>
            </a:pPr>
            <a:r>
              <a:rPr sz="2025" b="0">
                <a:solidFill>
                  <a:srgbClr val="1F2A36"/>
                </a:solidFill>
                <a:latin typeface="Arial"/>
                <a:ea typeface="Arial"/>
                <a:cs typeface="Arial"/>
              </a:rPr>
              <a:t>Neighborhood exposure does not identify the effect of being personally stopped.</a:t>
            </a:r>
          </a:p>
        </p:txBody>
      </p:sp>
    </p:spTree>
    <p:extLst>
      <p:ext uri="{BB962C8B-B14F-4D97-AF65-F5344CB8AC3E}">
        <p14:creationId xmlns:p14="http://schemas.microsoft.com/office/powerpoint/2010/main" val="9566018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text-0">
            <a:extLst>
              <a:ext uri="{FF2B5EF4-FFF2-40B4-BE49-F238E27FC236}">
                <a16:creationId xmlns:a16="http://schemas.microsoft.com/office/drawing/2014/main" id="{2147FF22-DB5C-40DB-9D7E-1C6384D09A76}"/>
              </a:ext>
            </a:extLst>
          </p:cNvPr>
          <p:cNvSpPr>
            <a:spLocks noGrp="1"/>
          </p:cNvSpPr>
          <p:nvPr/>
        </p:nvSpPr>
        <p:spPr>
          <a:xfrm>
            <a:off x="552450" y="361950"/>
            <a:ext cx="11087100" cy="857250"/>
          </a:xfrm>
          <a:prstGeom prst="rect">
            <a:avLst/>
          </a:prstGeom>
          <a:noFill/>
          <a:ln w="0">
            <a:noFill/>
            <a:prstDash val="solid"/>
          </a:ln>
        </p:spPr>
        <p:txBody>
          <a:bodyPr lIns="0" tIns="0" rIns="0" bIns="0" anchor="t"/>
          <a:lstStyle>
            <a:defPPr>
              <a:defRPr sz="3000" b="1">
                <a:solidFill>
                  <a:srgbClr val="1F2A36"/>
                </a:solidFill>
                <a:latin typeface="Arial"/>
                <a:ea typeface="Arial"/>
                <a:cs typeface="Arial"/>
              </a:defRPr>
            </a:defPPr>
            <a:lvl1pPr>
              <a:defRPr sz="3000" b="1">
                <a:solidFill>
                  <a:srgbClr val="1F2A36"/>
                </a:solidFill>
                <a:latin typeface="Arial"/>
                <a:ea typeface="Arial"/>
                <a:cs typeface="Arial"/>
              </a:defRPr>
            </a:lvl1pPr>
            <a:lvl2pPr>
              <a:defRPr sz="3000" b="1">
                <a:solidFill>
                  <a:srgbClr val="1F2A36"/>
                </a:solidFill>
                <a:latin typeface="Arial"/>
                <a:ea typeface="Arial"/>
                <a:cs typeface="Arial"/>
              </a:defRPr>
            </a:lvl2pPr>
            <a:lvl3pPr>
              <a:defRPr sz="3000" b="1">
                <a:solidFill>
                  <a:srgbClr val="1F2A36"/>
                </a:solidFill>
                <a:latin typeface="Arial"/>
                <a:ea typeface="Arial"/>
                <a:cs typeface="Arial"/>
              </a:defRPr>
            </a:lvl3pPr>
            <a:lvl4pPr>
              <a:defRPr sz="3000" b="1">
                <a:solidFill>
                  <a:srgbClr val="1F2A36"/>
                </a:solidFill>
                <a:latin typeface="Arial"/>
                <a:ea typeface="Arial"/>
                <a:cs typeface="Arial"/>
              </a:defRPr>
            </a:lvl4pPr>
            <a:lvl5pPr>
              <a:defRPr sz="3000" b="1">
                <a:solidFill>
                  <a:srgbClr val="1F2A36"/>
                </a:solidFill>
                <a:latin typeface="Arial"/>
                <a:ea typeface="Arial"/>
                <a:cs typeface="Arial"/>
              </a:defRPr>
            </a:lvl5pPr>
            <a:lvl6pPr>
              <a:defRPr sz="3000" b="1">
                <a:solidFill>
                  <a:srgbClr val="1F2A36"/>
                </a:solidFill>
                <a:latin typeface="Arial"/>
                <a:ea typeface="Arial"/>
                <a:cs typeface="Arial"/>
              </a:defRPr>
            </a:lvl6pPr>
            <a:lvl7pPr>
              <a:defRPr sz="3000" b="1">
                <a:solidFill>
                  <a:srgbClr val="1F2A36"/>
                </a:solidFill>
                <a:latin typeface="Arial"/>
                <a:ea typeface="Arial"/>
                <a:cs typeface="Arial"/>
              </a:defRPr>
            </a:lvl7pPr>
            <a:lvl8pPr>
              <a:defRPr sz="3000" b="1">
                <a:solidFill>
                  <a:srgbClr val="1F2A36"/>
                </a:solidFill>
                <a:latin typeface="Arial"/>
                <a:ea typeface="Arial"/>
                <a:cs typeface="Arial"/>
              </a:defRPr>
            </a:lvl8pPr>
            <a:lvl9pPr>
              <a:defRPr sz="3000" b="1">
                <a:solidFill>
                  <a:srgbClr val="1F2A36"/>
                </a:solidFill>
                <a:latin typeface="Arial"/>
                <a:ea typeface="Arial"/>
                <a:cs typeface="Arial"/>
              </a:defRPr>
            </a:lvl9pPr>
          </a:lstStyle>
          <a:p>
            <a:pPr>
              <a:defRPr sz="3000" b="1">
                <a:solidFill>
                  <a:srgbClr val="1F2A36"/>
                </a:solidFill>
                <a:latin typeface="Arial"/>
                <a:ea typeface="Arial"/>
                <a:cs typeface="Arial"/>
              </a:defRPr>
            </a:pPr>
            <a:r>
              <a:rPr sz="3000" b="1">
                <a:solidFill>
                  <a:srgbClr val="1F2A36"/>
                </a:solidFill>
                <a:latin typeface="Arial"/>
                <a:ea typeface="Arial"/>
                <a:cs typeface="Arial"/>
              </a:rPr>
              <a:t>Staggered timing changes who can be compared</a:t>
            </a:r>
          </a:p>
        </p:txBody>
      </p:sp>
      <p:sp>
        <p:nvSpPr>
          <p:cNvPr id="2" name="text-1">
            <a:extLst>
              <a:ext uri="{FF2B5EF4-FFF2-40B4-BE49-F238E27FC236}">
                <a16:creationId xmlns:a16="http://schemas.microsoft.com/office/drawing/2014/main" id="{6BC23F5A-437C-4E11-9968-33E9C50F0CEC}"/>
              </a:ext>
            </a:extLst>
          </p:cNvPr>
          <p:cNvSpPr>
            <a:spLocks noGrp="1"/>
          </p:cNvSpPr>
          <p:nvPr/>
        </p:nvSpPr>
        <p:spPr>
          <a:xfrm>
            <a:off x="11239500" y="6400800"/>
            <a:ext cx="476250" cy="266700"/>
          </a:xfrm>
          <a:prstGeom prst="rect">
            <a:avLst/>
          </a:prstGeom>
          <a:noFill/>
          <a:ln w="0">
            <a:noFill/>
            <a:prstDash val="solid"/>
          </a:ln>
        </p:spPr>
        <p:txBody>
          <a:bodyPr lIns="0" tIns="0" rIns="0" bIns="0" anchor="t"/>
          <a:lstStyle>
            <a:defPPr>
              <a:defRPr sz="1350" b="0">
                <a:solidFill>
                  <a:srgbClr val="5B6B78"/>
                </a:solidFill>
                <a:latin typeface="Arial"/>
                <a:ea typeface="Arial"/>
                <a:cs typeface="Arial"/>
              </a:defRPr>
            </a:defPPr>
            <a:lvl1pPr>
              <a:defRPr sz="1350" b="0">
                <a:solidFill>
                  <a:srgbClr val="5B6B78"/>
                </a:solidFill>
                <a:latin typeface="Arial"/>
                <a:ea typeface="Arial"/>
                <a:cs typeface="Arial"/>
              </a:defRPr>
            </a:lvl1pPr>
            <a:lvl2pPr>
              <a:defRPr sz="1350" b="0">
                <a:solidFill>
                  <a:srgbClr val="5B6B78"/>
                </a:solidFill>
                <a:latin typeface="Arial"/>
                <a:ea typeface="Arial"/>
                <a:cs typeface="Arial"/>
              </a:defRPr>
            </a:lvl2pPr>
            <a:lvl3pPr>
              <a:defRPr sz="1350" b="0">
                <a:solidFill>
                  <a:srgbClr val="5B6B78"/>
                </a:solidFill>
                <a:latin typeface="Arial"/>
                <a:ea typeface="Arial"/>
                <a:cs typeface="Arial"/>
              </a:defRPr>
            </a:lvl3pPr>
            <a:lvl4pPr>
              <a:defRPr sz="1350" b="0">
                <a:solidFill>
                  <a:srgbClr val="5B6B78"/>
                </a:solidFill>
                <a:latin typeface="Arial"/>
                <a:ea typeface="Arial"/>
                <a:cs typeface="Arial"/>
              </a:defRPr>
            </a:lvl4pPr>
            <a:lvl5pPr>
              <a:defRPr sz="1350" b="0">
                <a:solidFill>
                  <a:srgbClr val="5B6B78"/>
                </a:solidFill>
                <a:latin typeface="Arial"/>
                <a:ea typeface="Arial"/>
                <a:cs typeface="Arial"/>
              </a:defRPr>
            </a:lvl5pPr>
            <a:lvl6pPr>
              <a:defRPr sz="1350" b="0">
                <a:solidFill>
                  <a:srgbClr val="5B6B78"/>
                </a:solidFill>
                <a:latin typeface="Arial"/>
                <a:ea typeface="Arial"/>
                <a:cs typeface="Arial"/>
              </a:defRPr>
            </a:lvl6pPr>
            <a:lvl7pPr>
              <a:defRPr sz="1350" b="0">
                <a:solidFill>
                  <a:srgbClr val="5B6B78"/>
                </a:solidFill>
                <a:latin typeface="Arial"/>
                <a:ea typeface="Arial"/>
                <a:cs typeface="Arial"/>
              </a:defRPr>
            </a:lvl7pPr>
            <a:lvl8pPr>
              <a:defRPr sz="1350" b="0">
                <a:solidFill>
                  <a:srgbClr val="5B6B78"/>
                </a:solidFill>
                <a:latin typeface="Arial"/>
                <a:ea typeface="Arial"/>
                <a:cs typeface="Arial"/>
              </a:defRPr>
            </a:lvl8pPr>
            <a:lvl9pPr>
              <a:defRPr sz="1350" b="0">
                <a:solidFill>
                  <a:srgbClr val="5B6B78"/>
                </a:solidFill>
                <a:latin typeface="Arial"/>
                <a:ea typeface="Arial"/>
                <a:cs typeface="Arial"/>
              </a:defRPr>
            </a:lvl9pPr>
          </a:lstStyle>
          <a:p>
            <a:pPr>
              <a:defRPr sz="1350" b="0">
                <a:solidFill>
                  <a:srgbClr val="5B6B78"/>
                </a:solidFill>
                <a:latin typeface="Arial"/>
                <a:ea typeface="Arial"/>
                <a:cs typeface="Arial"/>
              </a:defRPr>
            </a:pPr>
            <a:r>
              <a:rPr sz="1350" b="0">
                <a:solidFill>
                  <a:srgbClr val="5B6B78"/>
                </a:solidFill>
                <a:latin typeface="Arial"/>
                <a:ea typeface="Arial"/>
                <a:cs typeface="Arial"/>
              </a:rPr>
              <a:t>13</a:t>
            </a:r>
          </a:p>
        </p:txBody>
      </p:sp>
      <p:graphicFrame>
        <p:nvGraphicFramePr>
          <p:cNvPr id="3" name="Table 2">
            <a:extLst>
              <a:ext uri="{FF2B5EF4-FFF2-40B4-BE49-F238E27FC236}">
                <a16:creationId xmlns:a16="http://schemas.microsoft.com/office/drawing/2014/main" id="{EA8A0832-6A11-4E20-83DF-994A7B3B351D}"/>
              </a:ext>
            </a:extLst>
          </p:cNvPr>
          <p:cNvGraphicFramePr/>
          <p:nvPr/>
        </p:nvGraphicFramePr>
        <p:xfrm>
          <a:off x="552450" y="1619250"/>
          <a:ext cx="10953750" cy="2667000"/>
        </p:xfrm>
        <a:graphic>
          <a:graphicData uri="http://schemas.openxmlformats.org/drawingml/2006/table">
            <a:tbl>
              <a:tblPr/>
              <a:tblGrid>
                <a:gridCol w="3333750">
                  <a:extLst>
                    <a:ext uri="{9D8B030D-6E8A-4147-A177-3AD203B41FA5}">
                      <a16:colId xmlns:a16="http://schemas.microsoft.com/office/drawing/2014/main" val="20000"/>
                    </a:ext>
                  </a:extLst>
                </a:gridCol>
                <a:gridCol w="1905000">
                  <a:extLst>
                    <a:ext uri="{9D8B030D-6E8A-4147-A177-3AD203B41FA5}">
                      <a16:colId xmlns:a16="http://schemas.microsoft.com/office/drawing/2014/main" val="20001"/>
                    </a:ext>
                  </a:extLst>
                </a:gridCol>
                <a:gridCol w="1905000">
                  <a:extLst>
                    <a:ext uri="{9D8B030D-6E8A-4147-A177-3AD203B41FA5}">
                      <a16:colId xmlns:a16="http://schemas.microsoft.com/office/drawing/2014/main" val="20002"/>
                    </a:ext>
                  </a:extLst>
                </a:gridCol>
                <a:gridCol w="1905000">
                  <a:extLst>
                    <a:ext uri="{9D8B030D-6E8A-4147-A177-3AD203B41FA5}">
                      <a16:colId xmlns:a16="http://schemas.microsoft.com/office/drawing/2014/main" val="20003"/>
                    </a:ext>
                  </a:extLst>
                </a:gridCol>
                <a:gridCol w="1905000">
                  <a:extLst>
                    <a:ext uri="{9D8B030D-6E8A-4147-A177-3AD203B41FA5}">
                      <a16:colId xmlns:a16="http://schemas.microsoft.com/office/drawing/2014/main" val="20004"/>
                    </a:ext>
                  </a:extLst>
                </a:gridCol>
              </a:tblGrid>
              <a:tr h="666750">
                <a:tc>
                  <a:txBody>
                    <a:bodyPr/>
                    <a:lstStyle/>
                    <a:p>
                      <a:r>
                        <a:rPr sz="1800" b="1">
                          <a:solidFill>
                            <a:srgbClr val="FFFFFF"/>
                          </a:solidFill>
                          <a:latin typeface="Arial"/>
                          <a:ea typeface="Arial"/>
                          <a:cs typeface="Arial"/>
                        </a:rPr>
                        <a:t>Cohort</a:t>
                      </a:r>
                    </a:p>
                  </a:txBody>
                  <a:tcPr>
                    <a:solidFill>
                      <a:srgbClr val="2E6F73"/>
                    </a:solidFill>
                  </a:tcPr>
                </a:tc>
                <a:tc>
                  <a:txBody>
                    <a:bodyPr/>
                    <a:lstStyle/>
                    <a:p>
                      <a:r>
                        <a:rPr sz="1800" b="1">
                          <a:solidFill>
                            <a:srgbClr val="FFFFFF"/>
                          </a:solidFill>
                          <a:latin typeface="Arial"/>
                          <a:ea typeface="Arial"/>
                          <a:cs typeface="Arial"/>
                        </a:rPr>
                        <a:t>Year 1</a:t>
                      </a:r>
                    </a:p>
                  </a:txBody>
                  <a:tcPr>
                    <a:solidFill>
                      <a:srgbClr val="2E6F73"/>
                    </a:solidFill>
                  </a:tcPr>
                </a:tc>
                <a:tc>
                  <a:txBody>
                    <a:bodyPr/>
                    <a:lstStyle/>
                    <a:p>
                      <a:r>
                        <a:rPr sz="1800" b="1">
                          <a:solidFill>
                            <a:srgbClr val="FFFFFF"/>
                          </a:solidFill>
                          <a:latin typeface="Arial"/>
                          <a:ea typeface="Arial"/>
                          <a:cs typeface="Arial"/>
                        </a:rPr>
                        <a:t>Year 2</a:t>
                      </a:r>
                    </a:p>
                  </a:txBody>
                  <a:tcPr>
                    <a:solidFill>
                      <a:srgbClr val="2E6F73"/>
                    </a:solidFill>
                  </a:tcPr>
                </a:tc>
                <a:tc>
                  <a:txBody>
                    <a:bodyPr/>
                    <a:lstStyle/>
                    <a:p>
                      <a:r>
                        <a:rPr sz="1800" b="1">
                          <a:solidFill>
                            <a:srgbClr val="FFFFFF"/>
                          </a:solidFill>
                          <a:latin typeface="Arial"/>
                          <a:ea typeface="Arial"/>
                          <a:cs typeface="Arial"/>
                        </a:rPr>
                        <a:t>Year 3</a:t>
                      </a:r>
                    </a:p>
                  </a:txBody>
                  <a:tcPr>
                    <a:solidFill>
                      <a:srgbClr val="2E6F73"/>
                    </a:solidFill>
                  </a:tcPr>
                </a:tc>
                <a:tc>
                  <a:txBody>
                    <a:bodyPr/>
                    <a:lstStyle/>
                    <a:p>
                      <a:r>
                        <a:rPr sz="1800" b="1">
                          <a:solidFill>
                            <a:srgbClr val="FFFFFF"/>
                          </a:solidFill>
                          <a:latin typeface="Arial"/>
                          <a:ea typeface="Arial"/>
                          <a:cs typeface="Arial"/>
                        </a:rPr>
                        <a:t>Year 4</a:t>
                      </a:r>
                    </a:p>
                  </a:txBody>
                  <a:tcPr>
                    <a:solidFill>
                      <a:srgbClr val="2E6F73"/>
                    </a:solidFill>
                  </a:tcPr>
                </a:tc>
                <a:extLst>
                  <a:ext uri="{0D108BD9-81ED-4DB2-BD59-A6C34878D82A}">
                    <a16:rowId xmlns:a16="http://schemas.microsoft.com/office/drawing/2014/main" val="10000"/>
                  </a:ext>
                </a:extLst>
              </a:tr>
              <a:tr h="666750">
                <a:tc>
                  <a:txBody>
                    <a:bodyPr/>
                    <a:lstStyle/>
                    <a:p>
                      <a:r>
                        <a:rPr sz="1800" b="0">
                          <a:solidFill>
                            <a:srgbClr val="1F2A36"/>
                          </a:solidFill>
                          <a:latin typeface="Arial"/>
                          <a:ea typeface="Arial"/>
                          <a:cs typeface="Arial"/>
                        </a:rPr>
                        <a:t>A: early</a:t>
                      </a:r>
                    </a:p>
                  </a:txBody>
                  <a:tcPr>
                    <a:solidFill>
                      <a:srgbClr val="FFFFFF"/>
                    </a:solidFill>
                  </a:tcPr>
                </a:tc>
                <a:tc>
                  <a:txBody>
                    <a:bodyPr/>
                    <a:lstStyle/>
                    <a:p>
                      <a:r>
                        <a:rPr sz="1800" b="0">
                          <a:solidFill>
                            <a:srgbClr val="1F2A36"/>
                          </a:solidFill>
                          <a:latin typeface="Arial"/>
                          <a:ea typeface="Arial"/>
                          <a:cs typeface="Arial"/>
                        </a:rPr>
                        <a:t>Off</a:t>
                      </a:r>
                    </a:p>
                  </a:txBody>
                  <a:tcPr>
                    <a:solidFill>
                      <a:srgbClr val="FFFFFF"/>
                    </a:solidFill>
                  </a:tcPr>
                </a:tc>
                <a:tc>
                  <a:txBody>
                    <a:bodyPr/>
                    <a:lstStyle/>
                    <a:p>
                      <a:r>
                        <a:rPr sz="1800" b="0">
                          <a:solidFill>
                            <a:srgbClr val="1F2A36"/>
                          </a:solidFill>
                          <a:latin typeface="Arial"/>
                          <a:ea typeface="Arial"/>
                          <a:cs typeface="Arial"/>
                        </a:rPr>
                        <a:t>On</a:t>
                      </a:r>
                    </a:p>
                  </a:txBody>
                  <a:tcPr>
                    <a:solidFill>
                      <a:srgbClr val="FFFFFF"/>
                    </a:solidFill>
                  </a:tcPr>
                </a:tc>
                <a:tc>
                  <a:txBody>
                    <a:bodyPr/>
                    <a:lstStyle/>
                    <a:p>
                      <a:r>
                        <a:rPr sz="1800" b="0">
                          <a:solidFill>
                            <a:srgbClr val="1F2A36"/>
                          </a:solidFill>
                          <a:latin typeface="Arial"/>
                          <a:ea typeface="Arial"/>
                          <a:cs typeface="Arial"/>
                        </a:rPr>
                        <a:t>On</a:t>
                      </a:r>
                    </a:p>
                  </a:txBody>
                  <a:tcPr>
                    <a:solidFill>
                      <a:srgbClr val="FFFFFF"/>
                    </a:solidFill>
                  </a:tcPr>
                </a:tc>
                <a:tc>
                  <a:txBody>
                    <a:bodyPr/>
                    <a:lstStyle/>
                    <a:p>
                      <a:r>
                        <a:rPr sz="1800" b="0">
                          <a:solidFill>
                            <a:srgbClr val="1F2A36"/>
                          </a:solidFill>
                          <a:latin typeface="Arial"/>
                          <a:ea typeface="Arial"/>
                          <a:cs typeface="Arial"/>
                        </a:rPr>
                        <a:t>On</a:t>
                      </a:r>
                    </a:p>
                  </a:txBody>
                  <a:tcPr>
                    <a:solidFill>
                      <a:srgbClr val="FFFFFF"/>
                    </a:solidFill>
                  </a:tcPr>
                </a:tc>
                <a:extLst>
                  <a:ext uri="{0D108BD9-81ED-4DB2-BD59-A6C34878D82A}">
                    <a16:rowId xmlns:a16="http://schemas.microsoft.com/office/drawing/2014/main" val="10001"/>
                  </a:ext>
                </a:extLst>
              </a:tr>
              <a:tr h="666750">
                <a:tc>
                  <a:txBody>
                    <a:bodyPr/>
                    <a:lstStyle/>
                    <a:p>
                      <a:r>
                        <a:rPr sz="1800" b="0">
                          <a:solidFill>
                            <a:srgbClr val="1F2A36"/>
                          </a:solidFill>
                          <a:latin typeface="Arial"/>
                          <a:ea typeface="Arial"/>
                          <a:cs typeface="Arial"/>
                        </a:rPr>
                        <a:t>B: later</a:t>
                      </a:r>
                    </a:p>
                  </a:txBody>
                  <a:tcPr>
                    <a:solidFill>
                      <a:srgbClr val="EEF1F3"/>
                    </a:solidFill>
                  </a:tcPr>
                </a:tc>
                <a:tc>
                  <a:txBody>
                    <a:bodyPr/>
                    <a:lstStyle/>
                    <a:p>
                      <a:r>
                        <a:rPr sz="1800" b="0">
                          <a:solidFill>
                            <a:srgbClr val="1F2A36"/>
                          </a:solidFill>
                          <a:latin typeface="Arial"/>
                          <a:ea typeface="Arial"/>
                          <a:cs typeface="Arial"/>
                        </a:rPr>
                        <a:t>Off</a:t>
                      </a:r>
                    </a:p>
                  </a:txBody>
                  <a:tcPr>
                    <a:solidFill>
                      <a:srgbClr val="EEF1F3"/>
                    </a:solidFill>
                  </a:tcPr>
                </a:tc>
                <a:tc>
                  <a:txBody>
                    <a:bodyPr/>
                    <a:lstStyle/>
                    <a:p>
                      <a:r>
                        <a:rPr sz="1800" b="0">
                          <a:solidFill>
                            <a:srgbClr val="1F2A36"/>
                          </a:solidFill>
                          <a:latin typeface="Arial"/>
                          <a:ea typeface="Arial"/>
                          <a:cs typeface="Arial"/>
                        </a:rPr>
                        <a:t>Off</a:t>
                      </a:r>
                    </a:p>
                  </a:txBody>
                  <a:tcPr>
                    <a:solidFill>
                      <a:srgbClr val="EEF1F3"/>
                    </a:solidFill>
                  </a:tcPr>
                </a:tc>
                <a:tc>
                  <a:txBody>
                    <a:bodyPr/>
                    <a:lstStyle/>
                    <a:p>
                      <a:r>
                        <a:rPr sz="1800" b="0">
                          <a:solidFill>
                            <a:srgbClr val="1F2A36"/>
                          </a:solidFill>
                          <a:latin typeface="Arial"/>
                          <a:ea typeface="Arial"/>
                          <a:cs typeface="Arial"/>
                        </a:rPr>
                        <a:t>On</a:t>
                      </a:r>
                    </a:p>
                  </a:txBody>
                  <a:tcPr>
                    <a:solidFill>
                      <a:srgbClr val="EEF1F3"/>
                    </a:solidFill>
                  </a:tcPr>
                </a:tc>
                <a:tc>
                  <a:txBody>
                    <a:bodyPr/>
                    <a:lstStyle/>
                    <a:p>
                      <a:r>
                        <a:rPr sz="1800" b="0">
                          <a:solidFill>
                            <a:srgbClr val="1F2A36"/>
                          </a:solidFill>
                          <a:latin typeface="Arial"/>
                          <a:ea typeface="Arial"/>
                          <a:cs typeface="Arial"/>
                        </a:rPr>
                        <a:t>On</a:t>
                      </a:r>
                    </a:p>
                  </a:txBody>
                  <a:tcPr>
                    <a:solidFill>
                      <a:srgbClr val="EEF1F3"/>
                    </a:solidFill>
                  </a:tcPr>
                </a:tc>
                <a:extLst>
                  <a:ext uri="{0D108BD9-81ED-4DB2-BD59-A6C34878D82A}">
                    <a16:rowId xmlns:a16="http://schemas.microsoft.com/office/drawing/2014/main" val="10002"/>
                  </a:ext>
                </a:extLst>
              </a:tr>
              <a:tr h="666750">
                <a:tc>
                  <a:txBody>
                    <a:bodyPr/>
                    <a:lstStyle/>
                    <a:p>
                      <a:r>
                        <a:rPr sz="1800" b="0">
                          <a:solidFill>
                            <a:srgbClr val="1F2A36"/>
                          </a:solidFill>
                          <a:latin typeface="Arial"/>
                          <a:ea typeface="Arial"/>
                          <a:cs typeface="Arial"/>
                        </a:rPr>
                        <a:t>C: never</a:t>
                      </a:r>
                    </a:p>
                  </a:txBody>
                  <a:tcPr>
                    <a:solidFill>
                      <a:srgbClr val="FFFFFF"/>
                    </a:solidFill>
                  </a:tcPr>
                </a:tc>
                <a:tc>
                  <a:txBody>
                    <a:bodyPr/>
                    <a:lstStyle/>
                    <a:p>
                      <a:r>
                        <a:rPr sz="1800" b="0">
                          <a:solidFill>
                            <a:srgbClr val="1F2A36"/>
                          </a:solidFill>
                          <a:latin typeface="Arial"/>
                          <a:ea typeface="Arial"/>
                          <a:cs typeface="Arial"/>
                        </a:rPr>
                        <a:t>Off</a:t>
                      </a:r>
                    </a:p>
                  </a:txBody>
                  <a:tcPr>
                    <a:solidFill>
                      <a:srgbClr val="FFFFFF"/>
                    </a:solidFill>
                  </a:tcPr>
                </a:tc>
                <a:tc>
                  <a:txBody>
                    <a:bodyPr/>
                    <a:lstStyle/>
                    <a:p>
                      <a:r>
                        <a:rPr sz="1800" b="0">
                          <a:solidFill>
                            <a:srgbClr val="1F2A36"/>
                          </a:solidFill>
                          <a:latin typeface="Arial"/>
                          <a:ea typeface="Arial"/>
                          <a:cs typeface="Arial"/>
                        </a:rPr>
                        <a:t>Off</a:t>
                      </a:r>
                    </a:p>
                  </a:txBody>
                  <a:tcPr>
                    <a:solidFill>
                      <a:srgbClr val="FFFFFF"/>
                    </a:solidFill>
                  </a:tcPr>
                </a:tc>
                <a:tc>
                  <a:txBody>
                    <a:bodyPr/>
                    <a:lstStyle/>
                    <a:p>
                      <a:r>
                        <a:rPr sz="1800" b="0">
                          <a:solidFill>
                            <a:srgbClr val="1F2A36"/>
                          </a:solidFill>
                          <a:latin typeface="Arial"/>
                          <a:ea typeface="Arial"/>
                          <a:cs typeface="Arial"/>
                        </a:rPr>
                        <a:t>Off</a:t>
                      </a:r>
                    </a:p>
                  </a:txBody>
                  <a:tcPr>
                    <a:solidFill>
                      <a:srgbClr val="FFFFFF"/>
                    </a:solidFill>
                  </a:tcPr>
                </a:tc>
                <a:tc>
                  <a:txBody>
                    <a:bodyPr/>
                    <a:lstStyle/>
                    <a:p>
                      <a:r>
                        <a:rPr sz="1800" b="0">
                          <a:solidFill>
                            <a:srgbClr val="1F2A36"/>
                          </a:solidFill>
                          <a:latin typeface="Arial"/>
                          <a:ea typeface="Arial"/>
                          <a:cs typeface="Arial"/>
                        </a:rPr>
                        <a:t>Off</a:t>
                      </a:r>
                    </a:p>
                  </a:txBody>
                  <a:tcPr>
                    <a:solidFill>
                      <a:srgbClr val="FFFFFF"/>
                    </a:solidFill>
                  </a:tcPr>
                </a:tc>
                <a:extLst>
                  <a:ext uri="{0D108BD9-81ED-4DB2-BD59-A6C34878D82A}">
                    <a16:rowId xmlns:a16="http://schemas.microsoft.com/office/drawing/2014/main" val="10003"/>
                  </a:ext>
                </a:extLst>
              </a:tr>
            </a:tbl>
          </a:graphicData>
        </a:graphic>
      </p:graphicFrame>
      <p:sp>
        <p:nvSpPr>
          <p:cNvPr id="4" name="text-2">
            <a:extLst>
              <a:ext uri="{FF2B5EF4-FFF2-40B4-BE49-F238E27FC236}">
                <a16:creationId xmlns:a16="http://schemas.microsoft.com/office/drawing/2014/main" id="{B849DF20-7AC9-4872-8552-3B4A8DE95E29}"/>
              </a:ext>
            </a:extLst>
          </p:cNvPr>
          <p:cNvSpPr>
            <a:spLocks noGrp="1"/>
          </p:cNvSpPr>
          <p:nvPr/>
        </p:nvSpPr>
        <p:spPr>
          <a:xfrm>
            <a:off x="552450" y="4714875"/>
            <a:ext cx="10763250" cy="523875"/>
          </a:xfrm>
          <a:prstGeom prst="rect">
            <a:avLst/>
          </a:prstGeom>
          <a:noFill/>
          <a:ln w="0">
            <a:noFill/>
            <a:prstDash val="solid"/>
          </a:ln>
        </p:spPr>
        <p:txBody>
          <a:bodyPr lIns="0" tIns="0" rIns="0" bIns="0" anchor="t"/>
          <a:lstStyle>
            <a:defPPr>
              <a:defRPr sz="2325" b="1">
                <a:solidFill>
                  <a:srgbClr val="2E6F73"/>
                </a:solidFill>
                <a:latin typeface="Arial"/>
                <a:ea typeface="Arial"/>
                <a:cs typeface="Arial"/>
              </a:defRPr>
            </a:defPPr>
            <a:lvl1pPr>
              <a:defRPr sz="2325" b="1">
                <a:solidFill>
                  <a:srgbClr val="2E6F73"/>
                </a:solidFill>
                <a:latin typeface="Arial"/>
                <a:ea typeface="Arial"/>
                <a:cs typeface="Arial"/>
              </a:defRPr>
            </a:lvl1pPr>
            <a:lvl2pPr>
              <a:defRPr sz="2325" b="1">
                <a:solidFill>
                  <a:srgbClr val="2E6F73"/>
                </a:solidFill>
                <a:latin typeface="Arial"/>
                <a:ea typeface="Arial"/>
                <a:cs typeface="Arial"/>
              </a:defRPr>
            </a:lvl2pPr>
            <a:lvl3pPr>
              <a:defRPr sz="2325" b="1">
                <a:solidFill>
                  <a:srgbClr val="2E6F73"/>
                </a:solidFill>
                <a:latin typeface="Arial"/>
                <a:ea typeface="Arial"/>
                <a:cs typeface="Arial"/>
              </a:defRPr>
            </a:lvl3pPr>
            <a:lvl4pPr>
              <a:defRPr sz="2325" b="1">
                <a:solidFill>
                  <a:srgbClr val="2E6F73"/>
                </a:solidFill>
                <a:latin typeface="Arial"/>
                <a:ea typeface="Arial"/>
                <a:cs typeface="Arial"/>
              </a:defRPr>
            </a:lvl4pPr>
            <a:lvl5pPr>
              <a:defRPr sz="2325" b="1">
                <a:solidFill>
                  <a:srgbClr val="2E6F73"/>
                </a:solidFill>
                <a:latin typeface="Arial"/>
                <a:ea typeface="Arial"/>
                <a:cs typeface="Arial"/>
              </a:defRPr>
            </a:lvl5pPr>
            <a:lvl6pPr>
              <a:defRPr sz="2325" b="1">
                <a:solidFill>
                  <a:srgbClr val="2E6F73"/>
                </a:solidFill>
                <a:latin typeface="Arial"/>
                <a:ea typeface="Arial"/>
                <a:cs typeface="Arial"/>
              </a:defRPr>
            </a:lvl6pPr>
            <a:lvl7pPr>
              <a:defRPr sz="2325" b="1">
                <a:solidFill>
                  <a:srgbClr val="2E6F73"/>
                </a:solidFill>
                <a:latin typeface="Arial"/>
                <a:ea typeface="Arial"/>
                <a:cs typeface="Arial"/>
              </a:defRPr>
            </a:lvl7pPr>
            <a:lvl8pPr>
              <a:defRPr sz="2325" b="1">
                <a:solidFill>
                  <a:srgbClr val="2E6F73"/>
                </a:solidFill>
                <a:latin typeface="Arial"/>
                <a:ea typeface="Arial"/>
                <a:cs typeface="Arial"/>
              </a:defRPr>
            </a:lvl8pPr>
            <a:lvl9pPr>
              <a:defRPr sz="2325" b="1">
                <a:solidFill>
                  <a:srgbClr val="2E6F73"/>
                </a:solidFill>
                <a:latin typeface="Arial"/>
                <a:ea typeface="Arial"/>
                <a:cs typeface="Arial"/>
              </a:defRPr>
            </a:lvl9pPr>
          </a:lstStyle>
          <a:p>
            <a:pPr>
              <a:defRPr sz="2325" b="1">
                <a:solidFill>
                  <a:srgbClr val="2E6F73"/>
                </a:solidFill>
                <a:latin typeface="Arial"/>
                <a:ea typeface="Arial"/>
                <a:cs typeface="Arial"/>
              </a:defRPr>
            </a:pPr>
            <a:r>
              <a:rPr sz="2325" b="1">
                <a:solidFill>
                  <a:srgbClr val="2E6F73"/>
                </a:solidFill>
                <a:latin typeface="Arial"/>
                <a:ea typeface="Arial"/>
                <a:cs typeface="Arial"/>
              </a:rPr>
              <a:t>In Year 2: who can serve as a comparison for A?</a:t>
            </a:r>
          </a:p>
        </p:txBody>
      </p:sp>
      <p:sp>
        <p:nvSpPr>
          <p:cNvPr id="5" name="text-3">
            <a:extLst>
              <a:ext uri="{FF2B5EF4-FFF2-40B4-BE49-F238E27FC236}">
                <a16:creationId xmlns:a16="http://schemas.microsoft.com/office/drawing/2014/main" id="{82820523-61BA-4D16-812D-3979D3C76A12}"/>
              </a:ext>
            </a:extLst>
          </p:cNvPr>
          <p:cNvSpPr>
            <a:spLocks noGrp="1"/>
          </p:cNvSpPr>
          <p:nvPr/>
        </p:nvSpPr>
        <p:spPr>
          <a:xfrm>
            <a:off x="552450" y="5476875"/>
            <a:ext cx="10763250" cy="619125"/>
          </a:xfrm>
          <a:prstGeom prst="rect">
            <a:avLst/>
          </a:prstGeom>
          <a:noFill/>
          <a:ln w="0">
            <a:noFill/>
            <a:prstDash val="solid"/>
          </a:ln>
        </p:spPr>
        <p:txBody>
          <a:bodyPr lIns="0" tIns="0" rIns="0" bIns="0" anchor="t"/>
          <a:lstStyle>
            <a:defPPr>
              <a:defRPr sz="2325" b="0">
                <a:solidFill>
                  <a:srgbClr val="1F2A36"/>
                </a:solidFill>
                <a:latin typeface="Arial"/>
                <a:ea typeface="Arial"/>
                <a:cs typeface="Arial"/>
              </a:defRPr>
            </a:defPPr>
            <a:lvl1pPr>
              <a:defRPr sz="2325" b="0">
                <a:solidFill>
                  <a:srgbClr val="1F2A36"/>
                </a:solidFill>
                <a:latin typeface="Arial"/>
                <a:ea typeface="Arial"/>
                <a:cs typeface="Arial"/>
              </a:defRPr>
            </a:lvl1pPr>
            <a:lvl2pPr>
              <a:defRPr sz="2325" b="0">
                <a:solidFill>
                  <a:srgbClr val="1F2A36"/>
                </a:solidFill>
                <a:latin typeface="Arial"/>
                <a:ea typeface="Arial"/>
                <a:cs typeface="Arial"/>
              </a:defRPr>
            </a:lvl2pPr>
            <a:lvl3pPr>
              <a:defRPr sz="2325" b="0">
                <a:solidFill>
                  <a:srgbClr val="1F2A36"/>
                </a:solidFill>
                <a:latin typeface="Arial"/>
                <a:ea typeface="Arial"/>
                <a:cs typeface="Arial"/>
              </a:defRPr>
            </a:lvl3pPr>
            <a:lvl4pPr>
              <a:defRPr sz="2325" b="0">
                <a:solidFill>
                  <a:srgbClr val="1F2A36"/>
                </a:solidFill>
                <a:latin typeface="Arial"/>
                <a:ea typeface="Arial"/>
                <a:cs typeface="Arial"/>
              </a:defRPr>
            </a:lvl4pPr>
            <a:lvl5pPr>
              <a:defRPr sz="2325" b="0">
                <a:solidFill>
                  <a:srgbClr val="1F2A36"/>
                </a:solidFill>
                <a:latin typeface="Arial"/>
                <a:ea typeface="Arial"/>
                <a:cs typeface="Arial"/>
              </a:defRPr>
            </a:lvl5pPr>
            <a:lvl6pPr>
              <a:defRPr sz="2325" b="0">
                <a:solidFill>
                  <a:srgbClr val="1F2A36"/>
                </a:solidFill>
                <a:latin typeface="Arial"/>
                <a:ea typeface="Arial"/>
                <a:cs typeface="Arial"/>
              </a:defRPr>
            </a:lvl6pPr>
            <a:lvl7pPr>
              <a:defRPr sz="2325" b="0">
                <a:solidFill>
                  <a:srgbClr val="1F2A36"/>
                </a:solidFill>
                <a:latin typeface="Arial"/>
                <a:ea typeface="Arial"/>
                <a:cs typeface="Arial"/>
              </a:defRPr>
            </a:lvl7pPr>
            <a:lvl8pPr>
              <a:defRPr sz="2325" b="0">
                <a:solidFill>
                  <a:srgbClr val="1F2A36"/>
                </a:solidFill>
                <a:latin typeface="Arial"/>
                <a:ea typeface="Arial"/>
                <a:cs typeface="Arial"/>
              </a:defRPr>
            </a:lvl8pPr>
            <a:lvl9pPr>
              <a:defRPr sz="2325" b="0">
                <a:solidFill>
                  <a:srgbClr val="1F2A36"/>
                </a:solidFill>
                <a:latin typeface="Arial"/>
                <a:ea typeface="Arial"/>
                <a:cs typeface="Arial"/>
              </a:defRPr>
            </a:lvl9pPr>
          </a:lstStyle>
          <a:p>
            <a:pPr>
              <a:defRPr sz="2325" b="0">
                <a:solidFill>
                  <a:srgbClr val="1F2A36"/>
                </a:solidFill>
                <a:latin typeface="Arial"/>
                <a:ea typeface="Arial"/>
                <a:cs typeface="Arial"/>
              </a:defRPr>
            </a:pPr>
            <a:r>
              <a:rPr sz="2325" b="0">
                <a:solidFill>
                  <a:srgbClr val="1F2A36"/>
                </a:solidFill>
                <a:latin typeface="Arial"/>
                <a:ea typeface="Arial"/>
                <a:cs typeface="Arial"/>
              </a:rPr>
              <a:t>In Year 3: why does the comparison for B require care?</a:t>
            </a:r>
          </a:p>
        </p:txBody>
      </p:sp>
    </p:spTree>
    <p:extLst>
      <p:ext uri="{BB962C8B-B14F-4D97-AF65-F5344CB8AC3E}">
        <p14:creationId xmlns:p14="http://schemas.microsoft.com/office/powerpoint/2010/main" val="11018944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text-0">
            <a:extLst>
              <a:ext uri="{FF2B5EF4-FFF2-40B4-BE49-F238E27FC236}">
                <a16:creationId xmlns:a16="http://schemas.microsoft.com/office/drawing/2014/main" id="{85591220-D99E-4A7D-8EA6-2C4388E92524}"/>
              </a:ext>
            </a:extLst>
          </p:cNvPr>
          <p:cNvSpPr>
            <a:spLocks noGrp="1"/>
          </p:cNvSpPr>
          <p:nvPr/>
        </p:nvSpPr>
        <p:spPr>
          <a:xfrm>
            <a:off x="552450" y="361950"/>
            <a:ext cx="11087100" cy="857250"/>
          </a:xfrm>
          <a:prstGeom prst="rect">
            <a:avLst/>
          </a:prstGeom>
          <a:noFill/>
          <a:ln w="0">
            <a:noFill/>
            <a:prstDash val="solid"/>
          </a:ln>
        </p:spPr>
        <p:txBody>
          <a:bodyPr lIns="0" tIns="0" rIns="0" bIns="0" anchor="t"/>
          <a:lstStyle>
            <a:defPPr>
              <a:defRPr sz="3000" b="1">
                <a:solidFill>
                  <a:srgbClr val="1F2A36"/>
                </a:solidFill>
                <a:latin typeface="Arial"/>
                <a:ea typeface="Arial"/>
                <a:cs typeface="Arial"/>
              </a:defRPr>
            </a:defPPr>
            <a:lvl1pPr>
              <a:defRPr sz="3000" b="1">
                <a:solidFill>
                  <a:srgbClr val="1F2A36"/>
                </a:solidFill>
                <a:latin typeface="Arial"/>
                <a:ea typeface="Arial"/>
                <a:cs typeface="Arial"/>
              </a:defRPr>
            </a:lvl1pPr>
            <a:lvl2pPr>
              <a:defRPr sz="3000" b="1">
                <a:solidFill>
                  <a:srgbClr val="1F2A36"/>
                </a:solidFill>
                <a:latin typeface="Arial"/>
                <a:ea typeface="Arial"/>
                <a:cs typeface="Arial"/>
              </a:defRPr>
            </a:lvl2pPr>
            <a:lvl3pPr>
              <a:defRPr sz="3000" b="1">
                <a:solidFill>
                  <a:srgbClr val="1F2A36"/>
                </a:solidFill>
                <a:latin typeface="Arial"/>
                <a:ea typeface="Arial"/>
                <a:cs typeface="Arial"/>
              </a:defRPr>
            </a:lvl3pPr>
            <a:lvl4pPr>
              <a:defRPr sz="3000" b="1">
                <a:solidFill>
                  <a:srgbClr val="1F2A36"/>
                </a:solidFill>
                <a:latin typeface="Arial"/>
                <a:ea typeface="Arial"/>
                <a:cs typeface="Arial"/>
              </a:defRPr>
            </a:lvl4pPr>
            <a:lvl5pPr>
              <a:defRPr sz="3000" b="1">
                <a:solidFill>
                  <a:srgbClr val="1F2A36"/>
                </a:solidFill>
                <a:latin typeface="Arial"/>
                <a:ea typeface="Arial"/>
                <a:cs typeface="Arial"/>
              </a:defRPr>
            </a:lvl5pPr>
            <a:lvl6pPr>
              <a:defRPr sz="3000" b="1">
                <a:solidFill>
                  <a:srgbClr val="1F2A36"/>
                </a:solidFill>
                <a:latin typeface="Arial"/>
                <a:ea typeface="Arial"/>
                <a:cs typeface="Arial"/>
              </a:defRPr>
            </a:lvl6pPr>
            <a:lvl7pPr>
              <a:defRPr sz="3000" b="1">
                <a:solidFill>
                  <a:srgbClr val="1F2A36"/>
                </a:solidFill>
                <a:latin typeface="Arial"/>
                <a:ea typeface="Arial"/>
                <a:cs typeface="Arial"/>
              </a:defRPr>
            </a:lvl7pPr>
            <a:lvl8pPr>
              <a:defRPr sz="3000" b="1">
                <a:solidFill>
                  <a:srgbClr val="1F2A36"/>
                </a:solidFill>
                <a:latin typeface="Arial"/>
                <a:ea typeface="Arial"/>
                <a:cs typeface="Arial"/>
              </a:defRPr>
            </a:lvl8pPr>
            <a:lvl9pPr>
              <a:defRPr sz="3000" b="1">
                <a:solidFill>
                  <a:srgbClr val="1F2A36"/>
                </a:solidFill>
                <a:latin typeface="Arial"/>
                <a:ea typeface="Arial"/>
                <a:cs typeface="Arial"/>
              </a:defRPr>
            </a:lvl9pPr>
          </a:lstStyle>
          <a:p>
            <a:pPr>
              <a:defRPr sz="3000" b="1">
                <a:solidFill>
                  <a:srgbClr val="1F2A36"/>
                </a:solidFill>
                <a:latin typeface="Arial"/>
                <a:ea typeface="Arial"/>
                <a:cs typeface="Arial"/>
              </a:defRPr>
            </a:pPr>
            <a:r>
              <a:rPr sz="3000" b="1">
                <a:solidFill>
                  <a:srgbClr val="1F2A36"/>
                </a:solidFill>
                <a:latin typeface="Arial"/>
                <a:ea typeface="Arial"/>
                <a:cs typeface="Arial"/>
              </a:rPr>
              <a:t>Two-way fixed effects: useful, but not automatic</a:t>
            </a:r>
          </a:p>
        </p:txBody>
      </p:sp>
      <p:sp>
        <p:nvSpPr>
          <p:cNvPr id="2" name="text-1">
            <a:extLst>
              <a:ext uri="{FF2B5EF4-FFF2-40B4-BE49-F238E27FC236}">
                <a16:creationId xmlns:a16="http://schemas.microsoft.com/office/drawing/2014/main" id="{5213BA97-53F6-46C9-A127-46B2394C398B}"/>
              </a:ext>
            </a:extLst>
          </p:cNvPr>
          <p:cNvSpPr>
            <a:spLocks noGrp="1"/>
          </p:cNvSpPr>
          <p:nvPr/>
        </p:nvSpPr>
        <p:spPr>
          <a:xfrm>
            <a:off x="11239500" y="6400800"/>
            <a:ext cx="476250" cy="266700"/>
          </a:xfrm>
          <a:prstGeom prst="rect">
            <a:avLst/>
          </a:prstGeom>
          <a:noFill/>
          <a:ln w="0">
            <a:noFill/>
            <a:prstDash val="solid"/>
          </a:ln>
        </p:spPr>
        <p:txBody>
          <a:bodyPr lIns="0" tIns="0" rIns="0" bIns="0" anchor="t"/>
          <a:lstStyle>
            <a:defPPr>
              <a:defRPr sz="1350" b="0">
                <a:solidFill>
                  <a:srgbClr val="5B6B78"/>
                </a:solidFill>
                <a:latin typeface="Arial"/>
                <a:ea typeface="Arial"/>
                <a:cs typeface="Arial"/>
              </a:defRPr>
            </a:defPPr>
            <a:lvl1pPr>
              <a:defRPr sz="1350" b="0">
                <a:solidFill>
                  <a:srgbClr val="5B6B78"/>
                </a:solidFill>
                <a:latin typeface="Arial"/>
                <a:ea typeface="Arial"/>
                <a:cs typeface="Arial"/>
              </a:defRPr>
            </a:lvl1pPr>
            <a:lvl2pPr>
              <a:defRPr sz="1350" b="0">
                <a:solidFill>
                  <a:srgbClr val="5B6B78"/>
                </a:solidFill>
                <a:latin typeface="Arial"/>
                <a:ea typeface="Arial"/>
                <a:cs typeface="Arial"/>
              </a:defRPr>
            </a:lvl2pPr>
            <a:lvl3pPr>
              <a:defRPr sz="1350" b="0">
                <a:solidFill>
                  <a:srgbClr val="5B6B78"/>
                </a:solidFill>
                <a:latin typeface="Arial"/>
                <a:ea typeface="Arial"/>
                <a:cs typeface="Arial"/>
              </a:defRPr>
            </a:lvl3pPr>
            <a:lvl4pPr>
              <a:defRPr sz="1350" b="0">
                <a:solidFill>
                  <a:srgbClr val="5B6B78"/>
                </a:solidFill>
                <a:latin typeface="Arial"/>
                <a:ea typeface="Arial"/>
                <a:cs typeface="Arial"/>
              </a:defRPr>
            </a:lvl4pPr>
            <a:lvl5pPr>
              <a:defRPr sz="1350" b="0">
                <a:solidFill>
                  <a:srgbClr val="5B6B78"/>
                </a:solidFill>
                <a:latin typeface="Arial"/>
                <a:ea typeface="Arial"/>
                <a:cs typeface="Arial"/>
              </a:defRPr>
            </a:lvl5pPr>
            <a:lvl6pPr>
              <a:defRPr sz="1350" b="0">
                <a:solidFill>
                  <a:srgbClr val="5B6B78"/>
                </a:solidFill>
                <a:latin typeface="Arial"/>
                <a:ea typeface="Arial"/>
                <a:cs typeface="Arial"/>
              </a:defRPr>
            </a:lvl6pPr>
            <a:lvl7pPr>
              <a:defRPr sz="1350" b="0">
                <a:solidFill>
                  <a:srgbClr val="5B6B78"/>
                </a:solidFill>
                <a:latin typeface="Arial"/>
                <a:ea typeface="Arial"/>
                <a:cs typeface="Arial"/>
              </a:defRPr>
            </a:lvl7pPr>
            <a:lvl8pPr>
              <a:defRPr sz="1350" b="0">
                <a:solidFill>
                  <a:srgbClr val="5B6B78"/>
                </a:solidFill>
                <a:latin typeface="Arial"/>
                <a:ea typeface="Arial"/>
                <a:cs typeface="Arial"/>
              </a:defRPr>
            </a:lvl8pPr>
            <a:lvl9pPr>
              <a:defRPr sz="1350" b="0">
                <a:solidFill>
                  <a:srgbClr val="5B6B78"/>
                </a:solidFill>
                <a:latin typeface="Arial"/>
                <a:ea typeface="Arial"/>
                <a:cs typeface="Arial"/>
              </a:defRPr>
            </a:lvl9pPr>
          </a:lstStyle>
          <a:p>
            <a:pPr>
              <a:defRPr sz="1350" b="0">
                <a:solidFill>
                  <a:srgbClr val="5B6B78"/>
                </a:solidFill>
                <a:latin typeface="Arial"/>
                <a:ea typeface="Arial"/>
                <a:cs typeface="Arial"/>
              </a:defRPr>
            </a:pPr>
            <a:r>
              <a:rPr sz="1350" b="0">
                <a:solidFill>
                  <a:srgbClr val="5B6B78"/>
                </a:solidFill>
                <a:latin typeface="Arial"/>
                <a:ea typeface="Arial"/>
                <a:cs typeface="Arial"/>
              </a:rPr>
              <a:t>14</a:t>
            </a:r>
          </a:p>
        </p:txBody>
      </p:sp>
      <p:sp>
        <p:nvSpPr>
          <p:cNvPr id="3" name="text-2">
            <a:extLst>
              <a:ext uri="{FF2B5EF4-FFF2-40B4-BE49-F238E27FC236}">
                <a16:creationId xmlns:a16="http://schemas.microsoft.com/office/drawing/2014/main" id="{2044A047-53DF-493F-99C1-25927235602E}"/>
              </a:ext>
            </a:extLst>
          </p:cNvPr>
          <p:cNvSpPr>
            <a:spLocks noGrp="1"/>
          </p:cNvSpPr>
          <p:nvPr/>
        </p:nvSpPr>
        <p:spPr>
          <a:xfrm>
            <a:off x="552450" y="1571625"/>
            <a:ext cx="10953750" cy="809625"/>
          </a:xfrm>
          <a:prstGeom prst="rect">
            <a:avLst/>
          </a:prstGeom>
          <a:noFill/>
          <a:ln w="0">
            <a:noFill/>
            <a:prstDash val="solid"/>
          </a:ln>
        </p:spPr>
        <p:txBody>
          <a:bodyPr lIns="0" tIns="0" rIns="0" bIns="0" anchor="t"/>
          <a:lstStyle>
            <a:defPPr>
              <a:defRPr sz="3375" b="1">
                <a:solidFill>
                  <a:srgbClr val="2E6F73"/>
                </a:solidFill>
                <a:latin typeface="Arial"/>
                <a:ea typeface="Arial"/>
                <a:cs typeface="Arial"/>
              </a:defRPr>
            </a:defPPr>
            <a:lvl1pPr>
              <a:defRPr sz="3375" b="1">
                <a:solidFill>
                  <a:srgbClr val="2E6F73"/>
                </a:solidFill>
                <a:latin typeface="Arial"/>
                <a:ea typeface="Arial"/>
                <a:cs typeface="Arial"/>
              </a:defRPr>
            </a:lvl1pPr>
            <a:lvl2pPr>
              <a:defRPr sz="3375" b="1">
                <a:solidFill>
                  <a:srgbClr val="2E6F73"/>
                </a:solidFill>
                <a:latin typeface="Arial"/>
                <a:ea typeface="Arial"/>
                <a:cs typeface="Arial"/>
              </a:defRPr>
            </a:lvl2pPr>
            <a:lvl3pPr>
              <a:defRPr sz="3375" b="1">
                <a:solidFill>
                  <a:srgbClr val="2E6F73"/>
                </a:solidFill>
                <a:latin typeface="Arial"/>
                <a:ea typeface="Arial"/>
                <a:cs typeface="Arial"/>
              </a:defRPr>
            </a:lvl3pPr>
            <a:lvl4pPr>
              <a:defRPr sz="3375" b="1">
                <a:solidFill>
                  <a:srgbClr val="2E6F73"/>
                </a:solidFill>
                <a:latin typeface="Arial"/>
                <a:ea typeface="Arial"/>
                <a:cs typeface="Arial"/>
              </a:defRPr>
            </a:lvl4pPr>
            <a:lvl5pPr>
              <a:defRPr sz="3375" b="1">
                <a:solidFill>
                  <a:srgbClr val="2E6F73"/>
                </a:solidFill>
                <a:latin typeface="Arial"/>
                <a:ea typeface="Arial"/>
                <a:cs typeface="Arial"/>
              </a:defRPr>
            </a:lvl5pPr>
            <a:lvl6pPr>
              <a:defRPr sz="3375" b="1">
                <a:solidFill>
                  <a:srgbClr val="2E6F73"/>
                </a:solidFill>
                <a:latin typeface="Arial"/>
                <a:ea typeface="Arial"/>
                <a:cs typeface="Arial"/>
              </a:defRPr>
            </a:lvl6pPr>
            <a:lvl7pPr>
              <a:defRPr sz="3375" b="1">
                <a:solidFill>
                  <a:srgbClr val="2E6F73"/>
                </a:solidFill>
                <a:latin typeface="Arial"/>
                <a:ea typeface="Arial"/>
                <a:cs typeface="Arial"/>
              </a:defRPr>
            </a:lvl7pPr>
            <a:lvl8pPr>
              <a:defRPr sz="3375" b="1">
                <a:solidFill>
                  <a:srgbClr val="2E6F73"/>
                </a:solidFill>
                <a:latin typeface="Arial"/>
                <a:ea typeface="Arial"/>
                <a:cs typeface="Arial"/>
              </a:defRPr>
            </a:lvl8pPr>
            <a:lvl9pPr>
              <a:defRPr sz="3375" b="1">
                <a:solidFill>
                  <a:srgbClr val="2E6F73"/>
                </a:solidFill>
                <a:latin typeface="Arial"/>
                <a:ea typeface="Arial"/>
                <a:cs typeface="Arial"/>
              </a:defRPr>
            </a:lvl9pPr>
          </a:lstStyle>
          <a:p>
            <a:pPr>
              <a:defRPr sz="3375" b="1">
                <a:solidFill>
                  <a:srgbClr val="2E6F73"/>
                </a:solidFill>
                <a:latin typeface="Arial"/>
                <a:ea typeface="Arial"/>
                <a:cs typeface="Arial"/>
              </a:defRPr>
            </a:pPr>
            <a:r>
              <a:rPr sz="3375" b="1">
                <a:solidFill>
                  <a:srgbClr val="2E6F73"/>
                </a:solidFill>
                <a:latin typeface="Arial"/>
                <a:ea typeface="Arial"/>
                <a:cs typeface="Arial"/>
              </a:rPr>
              <a:t>Yᵢₜ = αᵢ + λₜ + βDᵢₜ + εᵢₜ</a:t>
            </a:r>
          </a:p>
        </p:txBody>
      </p:sp>
      <p:sp>
        <p:nvSpPr>
          <p:cNvPr id="4" name="text-3">
            <a:extLst>
              <a:ext uri="{FF2B5EF4-FFF2-40B4-BE49-F238E27FC236}">
                <a16:creationId xmlns:a16="http://schemas.microsoft.com/office/drawing/2014/main" id="{9E520E68-86EC-43F2-AD73-79DC7B0E53D6}"/>
              </a:ext>
            </a:extLst>
          </p:cNvPr>
          <p:cNvSpPr>
            <a:spLocks noGrp="1"/>
          </p:cNvSpPr>
          <p:nvPr/>
        </p:nvSpPr>
        <p:spPr>
          <a:xfrm>
            <a:off x="552450" y="2714625"/>
            <a:ext cx="10668000" cy="381000"/>
          </a:xfrm>
          <a:prstGeom prst="rect">
            <a:avLst/>
          </a:prstGeom>
          <a:noFill/>
          <a:ln w="0">
            <a:noFill/>
            <a:prstDash val="solid"/>
          </a:ln>
        </p:spPr>
        <p:txBody>
          <a:bodyPr lIns="0" tIns="0" rIns="0" bIns="0" anchor="t"/>
          <a:lstStyle>
            <a:defPPr>
              <a:defRPr sz="2100" b="1">
                <a:solidFill>
                  <a:srgbClr val="2E6F73"/>
                </a:solidFill>
                <a:latin typeface="Arial"/>
                <a:ea typeface="Arial"/>
                <a:cs typeface="Arial"/>
              </a:defRPr>
            </a:defPPr>
            <a:lvl1pPr>
              <a:defRPr sz="2100" b="1">
                <a:solidFill>
                  <a:srgbClr val="2E6F73"/>
                </a:solidFill>
                <a:latin typeface="Arial"/>
                <a:ea typeface="Arial"/>
                <a:cs typeface="Arial"/>
              </a:defRPr>
            </a:lvl1pPr>
            <a:lvl2pPr>
              <a:defRPr sz="2100" b="1">
                <a:solidFill>
                  <a:srgbClr val="2E6F73"/>
                </a:solidFill>
                <a:latin typeface="Arial"/>
                <a:ea typeface="Arial"/>
                <a:cs typeface="Arial"/>
              </a:defRPr>
            </a:lvl2pPr>
            <a:lvl3pPr>
              <a:defRPr sz="2100" b="1">
                <a:solidFill>
                  <a:srgbClr val="2E6F73"/>
                </a:solidFill>
                <a:latin typeface="Arial"/>
                <a:ea typeface="Arial"/>
                <a:cs typeface="Arial"/>
              </a:defRPr>
            </a:lvl3pPr>
            <a:lvl4pPr>
              <a:defRPr sz="2100" b="1">
                <a:solidFill>
                  <a:srgbClr val="2E6F73"/>
                </a:solidFill>
                <a:latin typeface="Arial"/>
                <a:ea typeface="Arial"/>
                <a:cs typeface="Arial"/>
              </a:defRPr>
            </a:lvl4pPr>
            <a:lvl5pPr>
              <a:defRPr sz="2100" b="1">
                <a:solidFill>
                  <a:srgbClr val="2E6F73"/>
                </a:solidFill>
                <a:latin typeface="Arial"/>
                <a:ea typeface="Arial"/>
                <a:cs typeface="Arial"/>
              </a:defRPr>
            </a:lvl5pPr>
            <a:lvl6pPr>
              <a:defRPr sz="2100" b="1">
                <a:solidFill>
                  <a:srgbClr val="2E6F73"/>
                </a:solidFill>
                <a:latin typeface="Arial"/>
                <a:ea typeface="Arial"/>
                <a:cs typeface="Arial"/>
              </a:defRPr>
            </a:lvl6pPr>
            <a:lvl7pPr>
              <a:defRPr sz="2100" b="1">
                <a:solidFill>
                  <a:srgbClr val="2E6F73"/>
                </a:solidFill>
                <a:latin typeface="Arial"/>
                <a:ea typeface="Arial"/>
                <a:cs typeface="Arial"/>
              </a:defRPr>
            </a:lvl7pPr>
            <a:lvl8pPr>
              <a:defRPr sz="2100" b="1">
                <a:solidFill>
                  <a:srgbClr val="2E6F73"/>
                </a:solidFill>
                <a:latin typeface="Arial"/>
                <a:ea typeface="Arial"/>
                <a:cs typeface="Arial"/>
              </a:defRPr>
            </a:lvl8pPr>
            <a:lvl9pPr>
              <a:defRPr sz="2100" b="1">
                <a:solidFill>
                  <a:srgbClr val="2E6F73"/>
                </a:solidFill>
                <a:latin typeface="Arial"/>
                <a:ea typeface="Arial"/>
                <a:cs typeface="Arial"/>
              </a:defRPr>
            </a:lvl9pPr>
          </a:lstStyle>
          <a:p>
            <a:pPr>
              <a:defRPr sz="2100" b="1">
                <a:solidFill>
                  <a:srgbClr val="2E6F73"/>
                </a:solidFill>
                <a:latin typeface="Arial"/>
                <a:ea typeface="Arial"/>
                <a:cs typeface="Arial"/>
              </a:defRPr>
            </a:pPr>
            <a:r>
              <a:rPr sz="2100" b="1">
                <a:solidFill>
                  <a:srgbClr val="2E6F73"/>
                </a:solidFill>
                <a:latin typeface="Arial"/>
                <a:ea typeface="Arial"/>
                <a:cs typeface="Arial"/>
              </a:rPr>
              <a:t>Unit effects (αᵢ)</a:t>
            </a:r>
          </a:p>
        </p:txBody>
      </p:sp>
      <p:sp>
        <p:nvSpPr>
          <p:cNvPr id="5" name="text-4">
            <a:extLst>
              <a:ext uri="{FF2B5EF4-FFF2-40B4-BE49-F238E27FC236}">
                <a16:creationId xmlns:a16="http://schemas.microsoft.com/office/drawing/2014/main" id="{62102F21-5999-4D80-8552-C183877E3DB0}"/>
              </a:ext>
            </a:extLst>
          </p:cNvPr>
          <p:cNvSpPr>
            <a:spLocks noGrp="1"/>
          </p:cNvSpPr>
          <p:nvPr/>
        </p:nvSpPr>
        <p:spPr>
          <a:xfrm>
            <a:off x="552450" y="3124200"/>
            <a:ext cx="10668000" cy="781050"/>
          </a:xfrm>
          <a:prstGeom prst="rect">
            <a:avLst/>
          </a:prstGeom>
          <a:noFill/>
          <a:ln w="0">
            <a:noFill/>
            <a:prstDash val="solid"/>
          </a:ln>
        </p:spPr>
        <p:txBody>
          <a:bodyPr lIns="0" tIns="0" rIns="0" bIns="0" anchor="t"/>
          <a:lstStyle>
            <a:defPPr>
              <a:defRPr sz="2025" b="0">
                <a:solidFill>
                  <a:srgbClr val="1F2A36"/>
                </a:solidFill>
                <a:latin typeface="Arial"/>
                <a:ea typeface="Arial"/>
                <a:cs typeface="Arial"/>
              </a:defRPr>
            </a:defPPr>
            <a:lvl1pPr>
              <a:defRPr sz="2025" b="0">
                <a:solidFill>
                  <a:srgbClr val="1F2A36"/>
                </a:solidFill>
                <a:latin typeface="Arial"/>
                <a:ea typeface="Arial"/>
                <a:cs typeface="Arial"/>
              </a:defRPr>
            </a:lvl1pPr>
            <a:lvl2pPr>
              <a:defRPr sz="2025" b="0">
                <a:solidFill>
                  <a:srgbClr val="1F2A36"/>
                </a:solidFill>
                <a:latin typeface="Arial"/>
                <a:ea typeface="Arial"/>
                <a:cs typeface="Arial"/>
              </a:defRPr>
            </a:lvl2pPr>
            <a:lvl3pPr>
              <a:defRPr sz="2025" b="0">
                <a:solidFill>
                  <a:srgbClr val="1F2A36"/>
                </a:solidFill>
                <a:latin typeface="Arial"/>
                <a:ea typeface="Arial"/>
                <a:cs typeface="Arial"/>
              </a:defRPr>
            </a:lvl3pPr>
            <a:lvl4pPr>
              <a:defRPr sz="2025" b="0">
                <a:solidFill>
                  <a:srgbClr val="1F2A36"/>
                </a:solidFill>
                <a:latin typeface="Arial"/>
                <a:ea typeface="Arial"/>
                <a:cs typeface="Arial"/>
              </a:defRPr>
            </a:lvl4pPr>
            <a:lvl5pPr>
              <a:defRPr sz="2025" b="0">
                <a:solidFill>
                  <a:srgbClr val="1F2A36"/>
                </a:solidFill>
                <a:latin typeface="Arial"/>
                <a:ea typeface="Arial"/>
                <a:cs typeface="Arial"/>
              </a:defRPr>
            </a:lvl5pPr>
            <a:lvl6pPr>
              <a:defRPr sz="2025" b="0">
                <a:solidFill>
                  <a:srgbClr val="1F2A36"/>
                </a:solidFill>
                <a:latin typeface="Arial"/>
                <a:ea typeface="Arial"/>
                <a:cs typeface="Arial"/>
              </a:defRPr>
            </a:lvl6pPr>
            <a:lvl7pPr>
              <a:defRPr sz="2025" b="0">
                <a:solidFill>
                  <a:srgbClr val="1F2A36"/>
                </a:solidFill>
                <a:latin typeface="Arial"/>
                <a:ea typeface="Arial"/>
                <a:cs typeface="Arial"/>
              </a:defRPr>
            </a:lvl7pPr>
            <a:lvl8pPr>
              <a:defRPr sz="2025" b="0">
                <a:solidFill>
                  <a:srgbClr val="1F2A36"/>
                </a:solidFill>
                <a:latin typeface="Arial"/>
                <a:ea typeface="Arial"/>
                <a:cs typeface="Arial"/>
              </a:defRPr>
            </a:lvl8pPr>
            <a:lvl9pPr>
              <a:defRPr sz="2025" b="0">
                <a:solidFill>
                  <a:srgbClr val="1F2A36"/>
                </a:solidFill>
                <a:latin typeface="Arial"/>
                <a:ea typeface="Arial"/>
                <a:cs typeface="Arial"/>
              </a:defRPr>
            </a:lvl9pPr>
          </a:lstStyle>
          <a:p>
            <a:pPr>
              <a:defRPr sz="2025" b="0">
                <a:solidFill>
                  <a:srgbClr val="1F2A36"/>
                </a:solidFill>
                <a:latin typeface="Arial"/>
                <a:ea typeface="Arial"/>
                <a:cs typeface="Arial"/>
              </a:defRPr>
            </a:pPr>
            <a:r>
              <a:rPr sz="2025" b="0">
                <a:solidFill>
                  <a:srgbClr val="1F2A36"/>
                </a:solidFill>
                <a:latin typeface="Arial"/>
                <a:ea typeface="Arial"/>
                <a:cs typeface="Arial"/>
              </a:rPr>
              <a:t>Account for stable differences across units.</a:t>
            </a:r>
          </a:p>
        </p:txBody>
      </p:sp>
      <p:sp>
        <p:nvSpPr>
          <p:cNvPr id="6" name="text-5">
            <a:extLst>
              <a:ext uri="{FF2B5EF4-FFF2-40B4-BE49-F238E27FC236}">
                <a16:creationId xmlns:a16="http://schemas.microsoft.com/office/drawing/2014/main" id="{0F136A98-2F53-4528-B799-8774CAE7A4A2}"/>
              </a:ext>
            </a:extLst>
          </p:cNvPr>
          <p:cNvSpPr>
            <a:spLocks noGrp="1"/>
          </p:cNvSpPr>
          <p:nvPr/>
        </p:nvSpPr>
        <p:spPr>
          <a:xfrm>
            <a:off x="552450" y="4000500"/>
            <a:ext cx="10668000" cy="381000"/>
          </a:xfrm>
          <a:prstGeom prst="rect">
            <a:avLst/>
          </a:prstGeom>
          <a:noFill/>
          <a:ln w="0">
            <a:noFill/>
            <a:prstDash val="solid"/>
          </a:ln>
        </p:spPr>
        <p:txBody>
          <a:bodyPr lIns="0" tIns="0" rIns="0" bIns="0" anchor="t"/>
          <a:lstStyle>
            <a:defPPr>
              <a:defRPr sz="2100" b="1">
                <a:solidFill>
                  <a:srgbClr val="2E6F73"/>
                </a:solidFill>
                <a:latin typeface="Arial"/>
                <a:ea typeface="Arial"/>
                <a:cs typeface="Arial"/>
              </a:defRPr>
            </a:defPPr>
            <a:lvl1pPr>
              <a:defRPr sz="2100" b="1">
                <a:solidFill>
                  <a:srgbClr val="2E6F73"/>
                </a:solidFill>
                <a:latin typeface="Arial"/>
                <a:ea typeface="Arial"/>
                <a:cs typeface="Arial"/>
              </a:defRPr>
            </a:lvl1pPr>
            <a:lvl2pPr>
              <a:defRPr sz="2100" b="1">
                <a:solidFill>
                  <a:srgbClr val="2E6F73"/>
                </a:solidFill>
                <a:latin typeface="Arial"/>
                <a:ea typeface="Arial"/>
                <a:cs typeface="Arial"/>
              </a:defRPr>
            </a:lvl2pPr>
            <a:lvl3pPr>
              <a:defRPr sz="2100" b="1">
                <a:solidFill>
                  <a:srgbClr val="2E6F73"/>
                </a:solidFill>
                <a:latin typeface="Arial"/>
                <a:ea typeface="Arial"/>
                <a:cs typeface="Arial"/>
              </a:defRPr>
            </a:lvl3pPr>
            <a:lvl4pPr>
              <a:defRPr sz="2100" b="1">
                <a:solidFill>
                  <a:srgbClr val="2E6F73"/>
                </a:solidFill>
                <a:latin typeface="Arial"/>
                <a:ea typeface="Arial"/>
                <a:cs typeface="Arial"/>
              </a:defRPr>
            </a:lvl4pPr>
            <a:lvl5pPr>
              <a:defRPr sz="2100" b="1">
                <a:solidFill>
                  <a:srgbClr val="2E6F73"/>
                </a:solidFill>
                <a:latin typeface="Arial"/>
                <a:ea typeface="Arial"/>
                <a:cs typeface="Arial"/>
              </a:defRPr>
            </a:lvl5pPr>
            <a:lvl6pPr>
              <a:defRPr sz="2100" b="1">
                <a:solidFill>
                  <a:srgbClr val="2E6F73"/>
                </a:solidFill>
                <a:latin typeface="Arial"/>
                <a:ea typeface="Arial"/>
                <a:cs typeface="Arial"/>
              </a:defRPr>
            </a:lvl6pPr>
            <a:lvl7pPr>
              <a:defRPr sz="2100" b="1">
                <a:solidFill>
                  <a:srgbClr val="2E6F73"/>
                </a:solidFill>
                <a:latin typeface="Arial"/>
                <a:ea typeface="Arial"/>
                <a:cs typeface="Arial"/>
              </a:defRPr>
            </a:lvl7pPr>
            <a:lvl8pPr>
              <a:defRPr sz="2100" b="1">
                <a:solidFill>
                  <a:srgbClr val="2E6F73"/>
                </a:solidFill>
                <a:latin typeface="Arial"/>
                <a:ea typeface="Arial"/>
                <a:cs typeface="Arial"/>
              </a:defRPr>
            </a:lvl8pPr>
            <a:lvl9pPr>
              <a:defRPr sz="2100" b="1">
                <a:solidFill>
                  <a:srgbClr val="2E6F73"/>
                </a:solidFill>
                <a:latin typeface="Arial"/>
                <a:ea typeface="Arial"/>
                <a:cs typeface="Arial"/>
              </a:defRPr>
            </a:lvl9pPr>
          </a:lstStyle>
          <a:p>
            <a:pPr>
              <a:defRPr sz="2100" b="1">
                <a:solidFill>
                  <a:srgbClr val="2E6F73"/>
                </a:solidFill>
                <a:latin typeface="Arial"/>
                <a:ea typeface="Arial"/>
                <a:cs typeface="Arial"/>
              </a:defRPr>
            </a:pPr>
            <a:r>
              <a:rPr sz="2100" b="1">
                <a:solidFill>
                  <a:srgbClr val="2E6F73"/>
                </a:solidFill>
                <a:latin typeface="Arial"/>
                <a:ea typeface="Arial"/>
                <a:cs typeface="Arial"/>
              </a:rPr>
              <a:t>Time effects (λₜ)</a:t>
            </a:r>
          </a:p>
        </p:txBody>
      </p:sp>
      <p:sp>
        <p:nvSpPr>
          <p:cNvPr id="7" name="text-6">
            <a:extLst>
              <a:ext uri="{FF2B5EF4-FFF2-40B4-BE49-F238E27FC236}">
                <a16:creationId xmlns:a16="http://schemas.microsoft.com/office/drawing/2014/main" id="{625299EA-0123-4A87-B7DB-0FF5BDEF9CF0}"/>
              </a:ext>
            </a:extLst>
          </p:cNvPr>
          <p:cNvSpPr>
            <a:spLocks noGrp="1"/>
          </p:cNvSpPr>
          <p:nvPr/>
        </p:nvSpPr>
        <p:spPr>
          <a:xfrm>
            <a:off x="552450" y="4410075"/>
            <a:ext cx="10668000" cy="781050"/>
          </a:xfrm>
          <a:prstGeom prst="rect">
            <a:avLst/>
          </a:prstGeom>
          <a:noFill/>
          <a:ln w="0">
            <a:noFill/>
            <a:prstDash val="solid"/>
          </a:ln>
        </p:spPr>
        <p:txBody>
          <a:bodyPr lIns="0" tIns="0" rIns="0" bIns="0" anchor="t"/>
          <a:lstStyle>
            <a:defPPr>
              <a:defRPr sz="2025" b="0">
                <a:solidFill>
                  <a:srgbClr val="1F2A36"/>
                </a:solidFill>
                <a:latin typeface="Arial"/>
                <a:ea typeface="Arial"/>
                <a:cs typeface="Arial"/>
              </a:defRPr>
            </a:defPPr>
            <a:lvl1pPr>
              <a:defRPr sz="2025" b="0">
                <a:solidFill>
                  <a:srgbClr val="1F2A36"/>
                </a:solidFill>
                <a:latin typeface="Arial"/>
                <a:ea typeface="Arial"/>
                <a:cs typeface="Arial"/>
              </a:defRPr>
            </a:lvl1pPr>
            <a:lvl2pPr>
              <a:defRPr sz="2025" b="0">
                <a:solidFill>
                  <a:srgbClr val="1F2A36"/>
                </a:solidFill>
                <a:latin typeface="Arial"/>
                <a:ea typeface="Arial"/>
                <a:cs typeface="Arial"/>
              </a:defRPr>
            </a:lvl2pPr>
            <a:lvl3pPr>
              <a:defRPr sz="2025" b="0">
                <a:solidFill>
                  <a:srgbClr val="1F2A36"/>
                </a:solidFill>
                <a:latin typeface="Arial"/>
                <a:ea typeface="Arial"/>
                <a:cs typeface="Arial"/>
              </a:defRPr>
            </a:lvl3pPr>
            <a:lvl4pPr>
              <a:defRPr sz="2025" b="0">
                <a:solidFill>
                  <a:srgbClr val="1F2A36"/>
                </a:solidFill>
                <a:latin typeface="Arial"/>
                <a:ea typeface="Arial"/>
                <a:cs typeface="Arial"/>
              </a:defRPr>
            </a:lvl4pPr>
            <a:lvl5pPr>
              <a:defRPr sz="2025" b="0">
                <a:solidFill>
                  <a:srgbClr val="1F2A36"/>
                </a:solidFill>
                <a:latin typeface="Arial"/>
                <a:ea typeface="Arial"/>
                <a:cs typeface="Arial"/>
              </a:defRPr>
            </a:lvl5pPr>
            <a:lvl6pPr>
              <a:defRPr sz="2025" b="0">
                <a:solidFill>
                  <a:srgbClr val="1F2A36"/>
                </a:solidFill>
                <a:latin typeface="Arial"/>
                <a:ea typeface="Arial"/>
                <a:cs typeface="Arial"/>
              </a:defRPr>
            </a:lvl6pPr>
            <a:lvl7pPr>
              <a:defRPr sz="2025" b="0">
                <a:solidFill>
                  <a:srgbClr val="1F2A36"/>
                </a:solidFill>
                <a:latin typeface="Arial"/>
                <a:ea typeface="Arial"/>
                <a:cs typeface="Arial"/>
              </a:defRPr>
            </a:lvl7pPr>
            <a:lvl8pPr>
              <a:defRPr sz="2025" b="0">
                <a:solidFill>
                  <a:srgbClr val="1F2A36"/>
                </a:solidFill>
                <a:latin typeface="Arial"/>
                <a:ea typeface="Arial"/>
                <a:cs typeface="Arial"/>
              </a:defRPr>
            </a:lvl8pPr>
            <a:lvl9pPr>
              <a:defRPr sz="2025" b="0">
                <a:solidFill>
                  <a:srgbClr val="1F2A36"/>
                </a:solidFill>
                <a:latin typeface="Arial"/>
                <a:ea typeface="Arial"/>
                <a:cs typeface="Arial"/>
              </a:defRPr>
            </a:lvl9pPr>
          </a:lstStyle>
          <a:p>
            <a:pPr>
              <a:defRPr sz="2025" b="0">
                <a:solidFill>
                  <a:srgbClr val="1F2A36"/>
                </a:solidFill>
                <a:latin typeface="Arial"/>
                <a:ea typeface="Arial"/>
                <a:cs typeface="Arial"/>
              </a:defRPr>
            </a:pPr>
            <a:r>
              <a:rPr sz="2025" b="0">
                <a:solidFill>
                  <a:srgbClr val="1F2A36"/>
                </a:solidFill>
                <a:latin typeface="Arial"/>
                <a:ea typeface="Arial"/>
                <a:cs typeface="Arial"/>
              </a:rPr>
              <a:t>Account for common period shocks.</a:t>
            </a:r>
          </a:p>
        </p:txBody>
      </p:sp>
      <p:sp>
        <p:nvSpPr>
          <p:cNvPr id="8" name="text-7">
            <a:extLst>
              <a:ext uri="{FF2B5EF4-FFF2-40B4-BE49-F238E27FC236}">
                <a16:creationId xmlns:a16="http://schemas.microsoft.com/office/drawing/2014/main" id="{3F514A5B-588A-4BEF-84DC-C17CA1801051}"/>
              </a:ext>
            </a:extLst>
          </p:cNvPr>
          <p:cNvSpPr>
            <a:spLocks noGrp="1"/>
          </p:cNvSpPr>
          <p:nvPr/>
        </p:nvSpPr>
        <p:spPr>
          <a:xfrm>
            <a:off x="552450" y="5286375"/>
            <a:ext cx="10668000" cy="381000"/>
          </a:xfrm>
          <a:prstGeom prst="rect">
            <a:avLst/>
          </a:prstGeom>
          <a:noFill/>
          <a:ln w="0">
            <a:noFill/>
            <a:prstDash val="solid"/>
          </a:ln>
        </p:spPr>
        <p:txBody>
          <a:bodyPr lIns="0" tIns="0" rIns="0" bIns="0" anchor="t"/>
          <a:lstStyle>
            <a:defPPr>
              <a:defRPr sz="2100" b="1">
                <a:solidFill>
                  <a:srgbClr val="2E6F73"/>
                </a:solidFill>
                <a:latin typeface="Arial"/>
                <a:ea typeface="Arial"/>
                <a:cs typeface="Arial"/>
              </a:defRPr>
            </a:defPPr>
            <a:lvl1pPr>
              <a:defRPr sz="2100" b="1">
                <a:solidFill>
                  <a:srgbClr val="2E6F73"/>
                </a:solidFill>
                <a:latin typeface="Arial"/>
                <a:ea typeface="Arial"/>
                <a:cs typeface="Arial"/>
              </a:defRPr>
            </a:lvl1pPr>
            <a:lvl2pPr>
              <a:defRPr sz="2100" b="1">
                <a:solidFill>
                  <a:srgbClr val="2E6F73"/>
                </a:solidFill>
                <a:latin typeface="Arial"/>
                <a:ea typeface="Arial"/>
                <a:cs typeface="Arial"/>
              </a:defRPr>
            </a:lvl2pPr>
            <a:lvl3pPr>
              <a:defRPr sz="2100" b="1">
                <a:solidFill>
                  <a:srgbClr val="2E6F73"/>
                </a:solidFill>
                <a:latin typeface="Arial"/>
                <a:ea typeface="Arial"/>
                <a:cs typeface="Arial"/>
              </a:defRPr>
            </a:lvl3pPr>
            <a:lvl4pPr>
              <a:defRPr sz="2100" b="1">
                <a:solidFill>
                  <a:srgbClr val="2E6F73"/>
                </a:solidFill>
                <a:latin typeface="Arial"/>
                <a:ea typeface="Arial"/>
                <a:cs typeface="Arial"/>
              </a:defRPr>
            </a:lvl4pPr>
            <a:lvl5pPr>
              <a:defRPr sz="2100" b="1">
                <a:solidFill>
                  <a:srgbClr val="2E6F73"/>
                </a:solidFill>
                <a:latin typeface="Arial"/>
                <a:ea typeface="Arial"/>
                <a:cs typeface="Arial"/>
              </a:defRPr>
            </a:lvl5pPr>
            <a:lvl6pPr>
              <a:defRPr sz="2100" b="1">
                <a:solidFill>
                  <a:srgbClr val="2E6F73"/>
                </a:solidFill>
                <a:latin typeface="Arial"/>
                <a:ea typeface="Arial"/>
                <a:cs typeface="Arial"/>
              </a:defRPr>
            </a:lvl6pPr>
            <a:lvl7pPr>
              <a:defRPr sz="2100" b="1">
                <a:solidFill>
                  <a:srgbClr val="2E6F73"/>
                </a:solidFill>
                <a:latin typeface="Arial"/>
                <a:ea typeface="Arial"/>
                <a:cs typeface="Arial"/>
              </a:defRPr>
            </a:lvl7pPr>
            <a:lvl8pPr>
              <a:defRPr sz="2100" b="1">
                <a:solidFill>
                  <a:srgbClr val="2E6F73"/>
                </a:solidFill>
                <a:latin typeface="Arial"/>
                <a:ea typeface="Arial"/>
                <a:cs typeface="Arial"/>
              </a:defRPr>
            </a:lvl8pPr>
            <a:lvl9pPr>
              <a:defRPr sz="2100" b="1">
                <a:solidFill>
                  <a:srgbClr val="2E6F73"/>
                </a:solidFill>
                <a:latin typeface="Arial"/>
                <a:ea typeface="Arial"/>
                <a:cs typeface="Arial"/>
              </a:defRPr>
            </a:lvl9pPr>
          </a:lstStyle>
          <a:p>
            <a:pPr>
              <a:defRPr sz="2100" b="1">
                <a:solidFill>
                  <a:srgbClr val="2E6F73"/>
                </a:solidFill>
                <a:latin typeface="Arial"/>
                <a:ea typeface="Arial"/>
                <a:cs typeface="Arial"/>
              </a:defRPr>
            </a:pPr>
            <a:r>
              <a:rPr sz="2100" b="1">
                <a:solidFill>
                  <a:srgbClr val="2E6F73"/>
                </a:solidFill>
                <a:latin typeface="Arial"/>
                <a:ea typeface="Arial"/>
                <a:cs typeface="Arial"/>
              </a:rPr>
              <a:t>Treatment coefficient (β)</a:t>
            </a:r>
          </a:p>
        </p:txBody>
      </p:sp>
      <p:sp>
        <p:nvSpPr>
          <p:cNvPr id="9" name="text-8">
            <a:extLst>
              <a:ext uri="{FF2B5EF4-FFF2-40B4-BE49-F238E27FC236}">
                <a16:creationId xmlns:a16="http://schemas.microsoft.com/office/drawing/2014/main" id="{75BF5C55-A8DB-4EA3-894A-6C2860386719}"/>
              </a:ext>
            </a:extLst>
          </p:cNvPr>
          <p:cNvSpPr>
            <a:spLocks noGrp="1"/>
          </p:cNvSpPr>
          <p:nvPr/>
        </p:nvSpPr>
        <p:spPr>
          <a:xfrm>
            <a:off x="552450" y="5695950"/>
            <a:ext cx="10668000" cy="781050"/>
          </a:xfrm>
          <a:prstGeom prst="rect">
            <a:avLst/>
          </a:prstGeom>
          <a:noFill/>
          <a:ln w="0">
            <a:noFill/>
            <a:prstDash val="solid"/>
          </a:ln>
        </p:spPr>
        <p:txBody>
          <a:bodyPr lIns="0" tIns="0" rIns="0" bIns="0" anchor="t"/>
          <a:lstStyle>
            <a:defPPr>
              <a:defRPr sz="2025" b="0">
                <a:solidFill>
                  <a:srgbClr val="1F2A36"/>
                </a:solidFill>
                <a:latin typeface="Arial"/>
                <a:ea typeface="Arial"/>
                <a:cs typeface="Arial"/>
              </a:defRPr>
            </a:defPPr>
            <a:lvl1pPr>
              <a:defRPr sz="2025" b="0">
                <a:solidFill>
                  <a:srgbClr val="1F2A36"/>
                </a:solidFill>
                <a:latin typeface="Arial"/>
                <a:ea typeface="Arial"/>
                <a:cs typeface="Arial"/>
              </a:defRPr>
            </a:lvl1pPr>
            <a:lvl2pPr>
              <a:defRPr sz="2025" b="0">
                <a:solidFill>
                  <a:srgbClr val="1F2A36"/>
                </a:solidFill>
                <a:latin typeface="Arial"/>
                <a:ea typeface="Arial"/>
                <a:cs typeface="Arial"/>
              </a:defRPr>
            </a:lvl2pPr>
            <a:lvl3pPr>
              <a:defRPr sz="2025" b="0">
                <a:solidFill>
                  <a:srgbClr val="1F2A36"/>
                </a:solidFill>
                <a:latin typeface="Arial"/>
                <a:ea typeface="Arial"/>
                <a:cs typeface="Arial"/>
              </a:defRPr>
            </a:lvl3pPr>
            <a:lvl4pPr>
              <a:defRPr sz="2025" b="0">
                <a:solidFill>
                  <a:srgbClr val="1F2A36"/>
                </a:solidFill>
                <a:latin typeface="Arial"/>
                <a:ea typeface="Arial"/>
                <a:cs typeface="Arial"/>
              </a:defRPr>
            </a:lvl4pPr>
            <a:lvl5pPr>
              <a:defRPr sz="2025" b="0">
                <a:solidFill>
                  <a:srgbClr val="1F2A36"/>
                </a:solidFill>
                <a:latin typeface="Arial"/>
                <a:ea typeface="Arial"/>
                <a:cs typeface="Arial"/>
              </a:defRPr>
            </a:lvl5pPr>
            <a:lvl6pPr>
              <a:defRPr sz="2025" b="0">
                <a:solidFill>
                  <a:srgbClr val="1F2A36"/>
                </a:solidFill>
                <a:latin typeface="Arial"/>
                <a:ea typeface="Arial"/>
                <a:cs typeface="Arial"/>
              </a:defRPr>
            </a:lvl6pPr>
            <a:lvl7pPr>
              <a:defRPr sz="2025" b="0">
                <a:solidFill>
                  <a:srgbClr val="1F2A36"/>
                </a:solidFill>
                <a:latin typeface="Arial"/>
                <a:ea typeface="Arial"/>
                <a:cs typeface="Arial"/>
              </a:defRPr>
            </a:lvl7pPr>
            <a:lvl8pPr>
              <a:defRPr sz="2025" b="0">
                <a:solidFill>
                  <a:srgbClr val="1F2A36"/>
                </a:solidFill>
                <a:latin typeface="Arial"/>
                <a:ea typeface="Arial"/>
                <a:cs typeface="Arial"/>
              </a:defRPr>
            </a:lvl8pPr>
            <a:lvl9pPr>
              <a:defRPr sz="2025" b="0">
                <a:solidFill>
                  <a:srgbClr val="1F2A36"/>
                </a:solidFill>
                <a:latin typeface="Arial"/>
                <a:ea typeface="Arial"/>
                <a:cs typeface="Arial"/>
              </a:defRPr>
            </a:lvl9pPr>
          </a:lstStyle>
          <a:p>
            <a:pPr>
              <a:defRPr sz="2025" b="0">
                <a:solidFill>
                  <a:srgbClr val="1F2A36"/>
                </a:solidFill>
                <a:latin typeface="Arial"/>
                <a:ea typeface="Arial"/>
                <a:cs typeface="Arial"/>
              </a:defRPr>
            </a:pPr>
            <a:r>
              <a:rPr sz="2025" b="0">
                <a:solidFill>
                  <a:srgbClr val="1F2A36"/>
                </a:solidFill>
                <a:latin typeface="Arial"/>
                <a:ea typeface="Arial"/>
                <a:cs typeface="Arial"/>
              </a:rPr>
              <a:t>Summarizes comparisons whose validity still depends on the design.</a:t>
            </a:r>
          </a:p>
        </p:txBody>
      </p:sp>
    </p:spTree>
    <p:extLst>
      <p:ext uri="{BB962C8B-B14F-4D97-AF65-F5344CB8AC3E}">
        <p14:creationId xmlns:p14="http://schemas.microsoft.com/office/powerpoint/2010/main" val="10886451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text-0">
            <a:extLst>
              <a:ext uri="{FF2B5EF4-FFF2-40B4-BE49-F238E27FC236}">
                <a16:creationId xmlns:a16="http://schemas.microsoft.com/office/drawing/2014/main" id="{823B0F60-C5FB-4541-8034-4248B4C81DEC}"/>
              </a:ext>
            </a:extLst>
          </p:cNvPr>
          <p:cNvSpPr>
            <a:spLocks noGrp="1"/>
          </p:cNvSpPr>
          <p:nvPr/>
        </p:nvSpPr>
        <p:spPr>
          <a:xfrm>
            <a:off x="552450" y="361950"/>
            <a:ext cx="11087100" cy="857250"/>
          </a:xfrm>
          <a:prstGeom prst="rect">
            <a:avLst/>
          </a:prstGeom>
          <a:noFill/>
          <a:ln w="0">
            <a:noFill/>
            <a:prstDash val="solid"/>
          </a:ln>
        </p:spPr>
        <p:txBody>
          <a:bodyPr lIns="0" tIns="0" rIns="0" bIns="0" anchor="t"/>
          <a:lstStyle>
            <a:defPPr>
              <a:defRPr sz="3000" b="1">
                <a:solidFill>
                  <a:srgbClr val="1F2A36"/>
                </a:solidFill>
                <a:latin typeface="Arial"/>
                <a:ea typeface="Arial"/>
                <a:cs typeface="Arial"/>
              </a:defRPr>
            </a:defPPr>
            <a:lvl1pPr>
              <a:defRPr sz="3000" b="1">
                <a:solidFill>
                  <a:srgbClr val="1F2A36"/>
                </a:solidFill>
                <a:latin typeface="Arial"/>
                <a:ea typeface="Arial"/>
                <a:cs typeface="Arial"/>
              </a:defRPr>
            </a:lvl1pPr>
            <a:lvl2pPr>
              <a:defRPr sz="3000" b="1">
                <a:solidFill>
                  <a:srgbClr val="1F2A36"/>
                </a:solidFill>
                <a:latin typeface="Arial"/>
                <a:ea typeface="Arial"/>
                <a:cs typeface="Arial"/>
              </a:defRPr>
            </a:lvl2pPr>
            <a:lvl3pPr>
              <a:defRPr sz="3000" b="1">
                <a:solidFill>
                  <a:srgbClr val="1F2A36"/>
                </a:solidFill>
                <a:latin typeface="Arial"/>
                <a:ea typeface="Arial"/>
                <a:cs typeface="Arial"/>
              </a:defRPr>
            </a:lvl3pPr>
            <a:lvl4pPr>
              <a:defRPr sz="3000" b="1">
                <a:solidFill>
                  <a:srgbClr val="1F2A36"/>
                </a:solidFill>
                <a:latin typeface="Arial"/>
                <a:ea typeface="Arial"/>
                <a:cs typeface="Arial"/>
              </a:defRPr>
            </a:lvl4pPr>
            <a:lvl5pPr>
              <a:defRPr sz="3000" b="1">
                <a:solidFill>
                  <a:srgbClr val="1F2A36"/>
                </a:solidFill>
                <a:latin typeface="Arial"/>
                <a:ea typeface="Arial"/>
                <a:cs typeface="Arial"/>
              </a:defRPr>
            </a:lvl5pPr>
            <a:lvl6pPr>
              <a:defRPr sz="3000" b="1">
                <a:solidFill>
                  <a:srgbClr val="1F2A36"/>
                </a:solidFill>
                <a:latin typeface="Arial"/>
                <a:ea typeface="Arial"/>
                <a:cs typeface="Arial"/>
              </a:defRPr>
            </a:lvl6pPr>
            <a:lvl7pPr>
              <a:defRPr sz="3000" b="1">
                <a:solidFill>
                  <a:srgbClr val="1F2A36"/>
                </a:solidFill>
                <a:latin typeface="Arial"/>
                <a:ea typeface="Arial"/>
                <a:cs typeface="Arial"/>
              </a:defRPr>
            </a:lvl7pPr>
            <a:lvl8pPr>
              <a:defRPr sz="3000" b="1">
                <a:solidFill>
                  <a:srgbClr val="1F2A36"/>
                </a:solidFill>
                <a:latin typeface="Arial"/>
                <a:ea typeface="Arial"/>
                <a:cs typeface="Arial"/>
              </a:defRPr>
            </a:lvl8pPr>
            <a:lvl9pPr>
              <a:defRPr sz="3000" b="1">
                <a:solidFill>
                  <a:srgbClr val="1F2A36"/>
                </a:solidFill>
                <a:latin typeface="Arial"/>
                <a:ea typeface="Arial"/>
                <a:cs typeface="Arial"/>
              </a:defRPr>
            </a:lvl9pPr>
          </a:lstStyle>
          <a:p>
            <a:pPr>
              <a:defRPr sz="3000" b="1">
                <a:solidFill>
                  <a:srgbClr val="1F2A36"/>
                </a:solidFill>
                <a:latin typeface="Arial"/>
                <a:ea typeface="Arial"/>
                <a:cs typeface="Arial"/>
              </a:defRPr>
            </a:pPr>
            <a:r>
              <a:rPr sz="3000" b="1">
                <a:solidFill>
                  <a:srgbClr val="1F2A36"/>
                </a:solidFill>
                <a:latin typeface="Arial"/>
                <a:ea typeface="Arial"/>
                <a:cs typeface="Arial"/>
              </a:rPr>
              <a:t>Which comparisons enter a staggered DiD?</a:t>
            </a:r>
          </a:p>
        </p:txBody>
      </p:sp>
      <p:sp>
        <p:nvSpPr>
          <p:cNvPr id="2" name="text-1">
            <a:extLst>
              <a:ext uri="{FF2B5EF4-FFF2-40B4-BE49-F238E27FC236}">
                <a16:creationId xmlns:a16="http://schemas.microsoft.com/office/drawing/2014/main" id="{98B78032-B325-49F2-B5B8-4C48ACE27E8B}"/>
              </a:ext>
            </a:extLst>
          </p:cNvPr>
          <p:cNvSpPr>
            <a:spLocks noGrp="1"/>
          </p:cNvSpPr>
          <p:nvPr/>
        </p:nvSpPr>
        <p:spPr>
          <a:xfrm>
            <a:off x="11239500" y="6400800"/>
            <a:ext cx="476250" cy="266700"/>
          </a:xfrm>
          <a:prstGeom prst="rect">
            <a:avLst/>
          </a:prstGeom>
          <a:noFill/>
          <a:ln w="0">
            <a:noFill/>
            <a:prstDash val="solid"/>
          </a:ln>
        </p:spPr>
        <p:txBody>
          <a:bodyPr lIns="0" tIns="0" rIns="0" bIns="0" anchor="t"/>
          <a:lstStyle>
            <a:defPPr>
              <a:defRPr sz="1350" b="0">
                <a:solidFill>
                  <a:srgbClr val="5B6B78"/>
                </a:solidFill>
                <a:latin typeface="Arial"/>
                <a:ea typeface="Arial"/>
                <a:cs typeface="Arial"/>
              </a:defRPr>
            </a:defPPr>
            <a:lvl1pPr>
              <a:defRPr sz="1350" b="0">
                <a:solidFill>
                  <a:srgbClr val="5B6B78"/>
                </a:solidFill>
                <a:latin typeface="Arial"/>
                <a:ea typeface="Arial"/>
                <a:cs typeface="Arial"/>
              </a:defRPr>
            </a:lvl1pPr>
            <a:lvl2pPr>
              <a:defRPr sz="1350" b="0">
                <a:solidFill>
                  <a:srgbClr val="5B6B78"/>
                </a:solidFill>
                <a:latin typeface="Arial"/>
                <a:ea typeface="Arial"/>
                <a:cs typeface="Arial"/>
              </a:defRPr>
            </a:lvl2pPr>
            <a:lvl3pPr>
              <a:defRPr sz="1350" b="0">
                <a:solidFill>
                  <a:srgbClr val="5B6B78"/>
                </a:solidFill>
                <a:latin typeface="Arial"/>
                <a:ea typeface="Arial"/>
                <a:cs typeface="Arial"/>
              </a:defRPr>
            </a:lvl3pPr>
            <a:lvl4pPr>
              <a:defRPr sz="1350" b="0">
                <a:solidFill>
                  <a:srgbClr val="5B6B78"/>
                </a:solidFill>
                <a:latin typeface="Arial"/>
                <a:ea typeface="Arial"/>
                <a:cs typeface="Arial"/>
              </a:defRPr>
            </a:lvl4pPr>
            <a:lvl5pPr>
              <a:defRPr sz="1350" b="0">
                <a:solidFill>
                  <a:srgbClr val="5B6B78"/>
                </a:solidFill>
                <a:latin typeface="Arial"/>
                <a:ea typeface="Arial"/>
                <a:cs typeface="Arial"/>
              </a:defRPr>
            </a:lvl5pPr>
            <a:lvl6pPr>
              <a:defRPr sz="1350" b="0">
                <a:solidFill>
                  <a:srgbClr val="5B6B78"/>
                </a:solidFill>
                <a:latin typeface="Arial"/>
                <a:ea typeface="Arial"/>
                <a:cs typeface="Arial"/>
              </a:defRPr>
            </a:lvl6pPr>
            <a:lvl7pPr>
              <a:defRPr sz="1350" b="0">
                <a:solidFill>
                  <a:srgbClr val="5B6B78"/>
                </a:solidFill>
                <a:latin typeface="Arial"/>
                <a:ea typeface="Arial"/>
                <a:cs typeface="Arial"/>
              </a:defRPr>
            </a:lvl7pPr>
            <a:lvl8pPr>
              <a:defRPr sz="1350" b="0">
                <a:solidFill>
                  <a:srgbClr val="5B6B78"/>
                </a:solidFill>
                <a:latin typeface="Arial"/>
                <a:ea typeface="Arial"/>
                <a:cs typeface="Arial"/>
              </a:defRPr>
            </a:lvl8pPr>
            <a:lvl9pPr>
              <a:defRPr sz="1350" b="0">
                <a:solidFill>
                  <a:srgbClr val="5B6B78"/>
                </a:solidFill>
                <a:latin typeface="Arial"/>
                <a:ea typeface="Arial"/>
                <a:cs typeface="Arial"/>
              </a:defRPr>
            </a:lvl9pPr>
          </a:lstStyle>
          <a:p>
            <a:pPr>
              <a:defRPr sz="1350" b="0">
                <a:solidFill>
                  <a:srgbClr val="5B6B78"/>
                </a:solidFill>
                <a:latin typeface="Arial"/>
                <a:ea typeface="Arial"/>
                <a:cs typeface="Arial"/>
              </a:defRPr>
            </a:pPr>
            <a:r>
              <a:rPr sz="1350" b="0">
                <a:solidFill>
                  <a:srgbClr val="5B6B78"/>
                </a:solidFill>
                <a:latin typeface="Arial"/>
                <a:ea typeface="Arial"/>
                <a:cs typeface="Arial"/>
              </a:rPr>
              <a:t>15</a:t>
            </a:r>
          </a:p>
        </p:txBody>
      </p:sp>
      <p:graphicFrame>
        <p:nvGraphicFramePr>
          <p:cNvPr id="3" name="Table 2">
            <a:extLst>
              <a:ext uri="{FF2B5EF4-FFF2-40B4-BE49-F238E27FC236}">
                <a16:creationId xmlns:a16="http://schemas.microsoft.com/office/drawing/2014/main" id="{315ED3CF-0308-484A-A927-93EA03C126A9}"/>
              </a:ext>
            </a:extLst>
          </p:cNvPr>
          <p:cNvGraphicFramePr/>
          <p:nvPr/>
        </p:nvGraphicFramePr>
        <p:xfrm>
          <a:off x="552450" y="1571625"/>
          <a:ext cx="10953750" cy="3333750"/>
        </p:xfrm>
        <a:graphic>
          <a:graphicData uri="http://schemas.openxmlformats.org/drawingml/2006/table">
            <a:tbl>
              <a:tblPr/>
              <a:tblGrid>
                <a:gridCol w="6477000">
                  <a:extLst>
                    <a:ext uri="{9D8B030D-6E8A-4147-A177-3AD203B41FA5}">
                      <a16:colId xmlns:a16="http://schemas.microsoft.com/office/drawing/2014/main" val="20000"/>
                    </a:ext>
                  </a:extLst>
                </a:gridCol>
                <a:gridCol w="4476750">
                  <a:extLst>
                    <a:ext uri="{9D8B030D-6E8A-4147-A177-3AD203B41FA5}">
                      <a16:colId xmlns:a16="http://schemas.microsoft.com/office/drawing/2014/main" val="20001"/>
                    </a:ext>
                  </a:extLst>
                </a:gridCol>
              </a:tblGrid>
              <a:tr h="666750">
                <a:tc>
                  <a:txBody>
                    <a:bodyPr/>
                    <a:lstStyle/>
                    <a:p>
                      <a:r>
                        <a:rPr sz="1800" b="1">
                          <a:solidFill>
                            <a:srgbClr val="FFFFFF"/>
                          </a:solidFill>
                          <a:latin typeface="Arial"/>
                          <a:ea typeface="Arial"/>
                          <a:cs typeface="Arial"/>
                        </a:rPr>
                        <a:t>Comparison</a:t>
                      </a:r>
                    </a:p>
                  </a:txBody>
                  <a:tcPr>
                    <a:solidFill>
                      <a:srgbClr val="2E6F73"/>
                    </a:solidFill>
                  </a:tcPr>
                </a:tc>
                <a:tc>
                  <a:txBody>
                    <a:bodyPr/>
                    <a:lstStyle/>
                    <a:p>
                      <a:r>
                        <a:rPr sz="1800" b="1">
                          <a:solidFill>
                            <a:srgbClr val="FFFFFF"/>
                          </a:solidFill>
                          <a:latin typeface="Arial"/>
                          <a:ea typeface="Arial"/>
                          <a:cs typeface="Arial"/>
                        </a:rPr>
                        <a:t>Interpretation</a:t>
                      </a:r>
                    </a:p>
                  </a:txBody>
                  <a:tcPr>
                    <a:solidFill>
                      <a:srgbClr val="2E6F73"/>
                    </a:solidFill>
                  </a:tcPr>
                </a:tc>
                <a:extLst>
                  <a:ext uri="{0D108BD9-81ED-4DB2-BD59-A6C34878D82A}">
                    <a16:rowId xmlns:a16="http://schemas.microsoft.com/office/drawing/2014/main" val="10000"/>
                  </a:ext>
                </a:extLst>
              </a:tr>
              <a:tr h="666750">
                <a:tc>
                  <a:txBody>
                    <a:bodyPr/>
                    <a:lstStyle/>
                    <a:p>
                      <a:r>
                        <a:rPr sz="1800" b="0">
                          <a:solidFill>
                            <a:srgbClr val="1F2A36"/>
                          </a:solidFill>
                          <a:latin typeface="Arial"/>
                          <a:ea typeface="Arial"/>
                          <a:cs typeface="Arial"/>
                        </a:rPr>
                        <a:t>Early vs. never treated</a:t>
                      </a:r>
                    </a:p>
                  </a:txBody>
                  <a:tcPr>
                    <a:solidFill>
                      <a:srgbClr val="FFFFFF"/>
                    </a:solidFill>
                  </a:tcPr>
                </a:tc>
                <a:tc>
                  <a:txBody>
                    <a:bodyPr/>
                    <a:lstStyle/>
                    <a:p>
                      <a:r>
                        <a:rPr sz="1800" b="0">
                          <a:solidFill>
                            <a:srgbClr val="1F2A36"/>
                          </a:solidFill>
                          <a:latin typeface="Arial"/>
                          <a:ea typeface="Arial"/>
                          <a:cs typeface="Arial"/>
                        </a:rPr>
                        <a:t>Untreated comparison available</a:t>
                      </a:r>
                    </a:p>
                  </a:txBody>
                  <a:tcPr>
                    <a:solidFill>
                      <a:srgbClr val="FFFFFF"/>
                    </a:solidFill>
                  </a:tcPr>
                </a:tc>
                <a:extLst>
                  <a:ext uri="{0D108BD9-81ED-4DB2-BD59-A6C34878D82A}">
                    <a16:rowId xmlns:a16="http://schemas.microsoft.com/office/drawing/2014/main" val="10001"/>
                  </a:ext>
                </a:extLst>
              </a:tr>
              <a:tr h="666750">
                <a:tc>
                  <a:txBody>
                    <a:bodyPr/>
                    <a:lstStyle/>
                    <a:p>
                      <a:r>
                        <a:rPr sz="1800" b="0">
                          <a:solidFill>
                            <a:srgbClr val="1F2A36"/>
                          </a:solidFill>
                          <a:latin typeface="Arial"/>
                          <a:ea typeface="Arial"/>
                          <a:cs typeface="Arial"/>
                        </a:rPr>
                        <a:t>Late vs. never treated</a:t>
                      </a:r>
                    </a:p>
                  </a:txBody>
                  <a:tcPr>
                    <a:solidFill>
                      <a:srgbClr val="EEF1F3"/>
                    </a:solidFill>
                  </a:tcPr>
                </a:tc>
                <a:tc>
                  <a:txBody>
                    <a:bodyPr/>
                    <a:lstStyle/>
                    <a:p>
                      <a:r>
                        <a:rPr sz="1800" b="0">
                          <a:solidFill>
                            <a:srgbClr val="1F2A36"/>
                          </a:solidFill>
                          <a:latin typeface="Arial"/>
                          <a:ea typeface="Arial"/>
                          <a:cs typeface="Arial"/>
                        </a:rPr>
                        <a:t>Untreated comparison available</a:t>
                      </a:r>
                    </a:p>
                  </a:txBody>
                  <a:tcPr>
                    <a:solidFill>
                      <a:srgbClr val="EEF1F3"/>
                    </a:solidFill>
                  </a:tcPr>
                </a:tc>
                <a:extLst>
                  <a:ext uri="{0D108BD9-81ED-4DB2-BD59-A6C34878D82A}">
                    <a16:rowId xmlns:a16="http://schemas.microsoft.com/office/drawing/2014/main" val="10002"/>
                  </a:ext>
                </a:extLst>
              </a:tr>
              <a:tr h="666750">
                <a:tc>
                  <a:txBody>
                    <a:bodyPr/>
                    <a:lstStyle/>
                    <a:p>
                      <a:r>
                        <a:rPr sz="1800" b="0">
                          <a:solidFill>
                            <a:srgbClr val="1F2A36"/>
                          </a:solidFill>
                          <a:latin typeface="Arial"/>
                          <a:ea typeface="Arial"/>
                          <a:cs typeface="Arial"/>
                        </a:rPr>
                        <a:t>Early vs. late, before late starts</a:t>
                      </a:r>
                    </a:p>
                  </a:txBody>
                  <a:tcPr>
                    <a:solidFill>
                      <a:srgbClr val="FFFFFF"/>
                    </a:solidFill>
                  </a:tcPr>
                </a:tc>
                <a:tc>
                  <a:txBody>
                    <a:bodyPr/>
                    <a:lstStyle/>
                    <a:p>
                      <a:r>
                        <a:rPr sz="1800" b="0">
                          <a:solidFill>
                            <a:srgbClr val="1F2A36"/>
                          </a:solidFill>
                          <a:latin typeface="Arial"/>
                          <a:ea typeface="Arial"/>
                          <a:cs typeface="Arial"/>
                        </a:rPr>
                        <a:t>Not-yet-treated comparison available</a:t>
                      </a:r>
                    </a:p>
                  </a:txBody>
                  <a:tcPr>
                    <a:solidFill>
                      <a:srgbClr val="FFFFFF"/>
                    </a:solidFill>
                  </a:tcPr>
                </a:tc>
                <a:extLst>
                  <a:ext uri="{0D108BD9-81ED-4DB2-BD59-A6C34878D82A}">
                    <a16:rowId xmlns:a16="http://schemas.microsoft.com/office/drawing/2014/main" val="10003"/>
                  </a:ext>
                </a:extLst>
              </a:tr>
              <a:tr h="666750">
                <a:tc>
                  <a:txBody>
                    <a:bodyPr/>
                    <a:lstStyle/>
                    <a:p>
                      <a:r>
                        <a:rPr sz="1800" b="0">
                          <a:solidFill>
                            <a:srgbClr val="1F2A36"/>
                          </a:solidFill>
                          <a:latin typeface="Arial"/>
                          <a:ea typeface="Arial"/>
                          <a:cs typeface="Arial"/>
                        </a:rPr>
                        <a:t>Late vs. early, after early starts</a:t>
                      </a:r>
                    </a:p>
                  </a:txBody>
                  <a:tcPr>
                    <a:solidFill>
                      <a:srgbClr val="EEF1F3"/>
                    </a:solidFill>
                  </a:tcPr>
                </a:tc>
                <a:tc>
                  <a:txBody>
                    <a:bodyPr/>
                    <a:lstStyle/>
                    <a:p>
                      <a:r>
                        <a:rPr sz="1800" b="0">
                          <a:solidFill>
                            <a:srgbClr val="1F2A36"/>
                          </a:solidFill>
                          <a:latin typeface="Arial"/>
                          <a:ea typeface="Arial"/>
                          <a:cs typeface="Arial"/>
                        </a:rPr>
                        <a:t>Earlier group already affected by treatment</a:t>
                      </a:r>
                    </a:p>
                  </a:txBody>
                  <a:tcPr>
                    <a:solidFill>
                      <a:srgbClr val="EEF1F3"/>
                    </a:solidFill>
                  </a:tcPr>
                </a:tc>
                <a:extLst>
                  <a:ext uri="{0D108BD9-81ED-4DB2-BD59-A6C34878D82A}">
                    <a16:rowId xmlns:a16="http://schemas.microsoft.com/office/drawing/2014/main" val="10004"/>
                  </a:ext>
                </a:extLst>
              </a:tr>
            </a:tbl>
          </a:graphicData>
        </a:graphic>
      </p:graphicFrame>
      <p:sp>
        <p:nvSpPr>
          <p:cNvPr id="4" name="text-2">
            <a:extLst>
              <a:ext uri="{FF2B5EF4-FFF2-40B4-BE49-F238E27FC236}">
                <a16:creationId xmlns:a16="http://schemas.microsoft.com/office/drawing/2014/main" id="{E3540645-ED2C-4B40-8E01-B079BD370C5F}"/>
              </a:ext>
            </a:extLst>
          </p:cNvPr>
          <p:cNvSpPr>
            <a:spLocks noGrp="1"/>
          </p:cNvSpPr>
          <p:nvPr/>
        </p:nvSpPr>
        <p:spPr>
          <a:xfrm>
            <a:off x="552450" y="5238750"/>
            <a:ext cx="10858500" cy="809625"/>
          </a:xfrm>
          <a:prstGeom prst="rect">
            <a:avLst/>
          </a:prstGeom>
          <a:noFill/>
          <a:ln w="0">
            <a:noFill/>
            <a:prstDash val="solid"/>
          </a:ln>
        </p:spPr>
        <p:txBody>
          <a:bodyPr lIns="0" tIns="0" rIns="0" bIns="0" anchor="t"/>
          <a:lstStyle>
            <a:defPPr>
              <a:defRPr sz="2175" b="1">
                <a:solidFill>
                  <a:srgbClr val="2E6F73"/>
                </a:solidFill>
                <a:latin typeface="Arial"/>
                <a:ea typeface="Arial"/>
                <a:cs typeface="Arial"/>
              </a:defRPr>
            </a:defPPr>
            <a:lvl1pPr>
              <a:defRPr sz="2175" b="1">
                <a:solidFill>
                  <a:srgbClr val="2E6F73"/>
                </a:solidFill>
                <a:latin typeface="Arial"/>
                <a:ea typeface="Arial"/>
                <a:cs typeface="Arial"/>
              </a:defRPr>
            </a:lvl1pPr>
            <a:lvl2pPr>
              <a:defRPr sz="2175" b="1">
                <a:solidFill>
                  <a:srgbClr val="2E6F73"/>
                </a:solidFill>
                <a:latin typeface="Arial"/>
                <a:ea typeface="Arial"/>
                <a:cs typeface="Arial"/>
              </a:defRPr>
            </a:lvl2pPr>
            <a:lvl3pPr>
              <a:defRPr sz="2175" b="1">
                <a:solidFill>
                  <a:srgbClr val="2E6F73"/>
                </a:solidFill>
                <a:latin typeface="Arial"/>
                <a:ea typeface="Arial"/>
                <a:cs typeface="Arial"/>
              </a:defRPr>
            </a:lvl3pPr>
            <a:lvl4pPr>
              <a:defRPr sz="2175" b="1">
                <a:solidFill>
                  <a:srgbClr val="2E6F73"/>
                </a:solidFill>
                <a:latin typeface="Arial"/>
                <a:ea typeface="Arial"/>
                <a:cs typeface="Arial"/>
              </a:defRPr>
            </a:lvl4pPr>
            <a:lvl5pPr>
              <a:defRPr sz="2175" b="1">
                <a:solidFill>
                  <a:srgbClr val="2E6F73"/>
                </a:solidFill>
                <a:latin typeface="Arial"/>
                <a:ea typeface="Arial"/>
                <a:cs typeface="Arial"/>
              </a:defRPr>
            </a:lvl5pPr>
            <a:lvl6pPr>
              <a:defRPr sz="2175" b="1">
                <a:solidFill>
                  <a:srgbClr val="2E6F73"/>
                </a:solidFill>
                <a:latin typeface="Arial"/>
                <a:ea typeface="Arial"/>
                <a:cs typeface="Arial"/>
              </a:defRPr>
            </a:lvl6pPr>
            <a:lvl7pPr>
              <a:defRPr sz="2175" b="1">
                <a:solidFill>
                  <a:srgbClr val="2E6F73"/>
                </a:solidFill>
                <a:latin typeface="Arial"/>
                <a:ea typeface="Arial"/>
                <a:cs typeface="Arial"/>
              </a:defRPr>
            </a:lvl7pPr>
            <a:lvl8pPr>
              <a:defRPr sz="2175" b="1">
                <a:solidFill>
                  <a:srgbClr val="2E6F73"/>
                </a:solidFill>
                <a:latin typeface="Arial"/>
                <a:ea typeface="Arial"/>
                <a:cs typeface="Arial"/>
              </a:defRPr>
            </a:lvl8pPr>
            <a:lvl9pPr>
              <a:defRPr sz="2175" b="1">
                <a:solidFill>
                  <a:srgbClr val="2E6F73"/>
                </a:solidFill>
                <a:latin typeface="Arial"/>
                <a:ea typeface="Arial"/>
                <a:cs typeface="Arial"/>
              </a:defRPr>
            </a:lvl9pPr>
          </a:lstStyle>
          <a:p>
            <a:pPr>
              <a:defRPr sz="2175" b="1">
                <a:solidFill>
                  <a:srgbClr val="2E6F73"/>
                </a:solidFill>
                <a:latin typeface="Arial"/>
                <a:ea typeface="Arial"/>
                <a:cs typeface="Arial"/>
              </a:defRPr>
            </a:pPr>
            <a:r>
              <a:rPr sz="2175" b="1">
                <a:solidFill>
                  <a:srgbClr val="2E6F73"/>
                </a:solidFill>
                <a:latin typeface="Arial"/>
                <a:ea typeface="Arial"/>
                <a:cs typeface="Arial"/>
              </a:rPr>
              <a:t>All comparisons require credible untreated trends.</a:t>
            </a:r>
          </a:p>
          <a:p>
            <a:pPr>
              <a:defRPr sz="2175" b="1">
                <a:solidFill>
                  <a:srgbClr val="2E6F73"/>
                </a:solidFill>
                <a:latin typeface="Arial"/>
                <a:ea typeface="Arial"/>
                <a:cs typeface="Arial"/>
              </a:defRPr>
            </a:pPr>
            <a:r>
              <a:rPr sz="2175" b="1">
                <a:solidFill>
                  <a:srgbClr val="2E6F73"/>
                </a:solidFill>
                <a:latin typeface="Arial"/>
                <a:ea typeface="Arial"/>
                <a:cs typeface="Arial"/>
              </a:rPr>
              <a:t>Already-treated controls can add changes in treatment effects.</a:t>
            </a:r>
          </a:p>
        </p:txBody>
      </p:sp>
    </p:spTree>
    <p:extLst>
      <p:ext uri="{BB962C8B-B14F-4D97-AF65-F5344CB8AC3E}">
        <p14:creationId xmlns:p14="http://schemas.microsoft.com/office/powerpoint/2010/main" val="12937383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aphicFrame>
        <p:nvGraphicFramePr>
          <p:cNvPr id="8" name="Chart">
            <a:extLst>
              <a:ext uri="{FF2B5EF4-FFF2-40B4-BE49-F238E27FC236}">
                <a16:creationId xmlns:a16="http://schemas.microsoft.com/office/drawing/2014/main" id="{166AD601-6B56-4934-9C67-314F4C208F6F}"/>
              </a:ext>
            </a:extLst>
          </p:cNvPr>
          <p:cNvGraphicFramePr/>
          <p:nvPr/>
        </p:nvGraphicFramePr>
        <p:xfrm>
          <a:off x="552450" y="1381125"/>
          <a:ext cx="6762750" cy="4333875"/>
        </p:xfrm>
        <a:graphic>
          <a:graphicData uri="http://schemas.openxmlformats.org/drawingml/2006/chart">
            <c:chart xmlns:c="http://schemas.openxmlformats.org/drawingml/2006/chart" xmlns:r="http://schemas.openxmlformats.org/officeDocument/2006/relationships" r:id="rId3"/>
          </a:graphicData>
        </a:graphic>
      </p:graphicFrame>
      <p:sp>
        <p:nvSpPr>
          <p:cNvPr id="2" name="text-0">
            <a:extLst>
              <a:ext uri="{FF2B5EF4-FFF2-40B4-BE49-F238E27FC236}">
                <a16:creationId xmlns:a16="http://schemas.microsoft.com/office/drawing/2014/main" id="{3B428B79-BCE7-49F1-9EE5-6F284E5E356E}"/>
              </a:ext>
            </a:extLst>
          </p:cNvPr>
          <p:cNvSpPr>
            <a:spLocks noGrp="1"/>
          </p:cNvSpPr>
          <p:nvPr/>
        </p:nvSpPr>
        <p:spPr>
          <a:xfrm>
            <a:off x="552450" y="361950"/>
            <a:ext cx="11087100" cy="857250"/>
          </a:xfrm>
          <a:prstGeom prst="rect">
            <a:avLst/>
          </a:prstGeom>
          <a:noFill/>
          <a:ln w="0">
            <a:noFill/>
            <a:prstDash val="solid"/>
          </a:ln>
        </p:spPr>
        <p:txBody>
          <a:bodyPr lIns="0" tIns="0" rIns="0" bIns="0" anchor="t"/>
          <a:lstStyle>
            <a:defPPr>
              <a:defRPr sz="3000" b="1">
                <a:solidFill>
                  <a:srgbClr val="1F2A36"/>
                </a:solidFill>
                <a:latin typeface="Arial"/>
                <a:ea typeface="Arial"/>
                <a:cs typeface="Arial"/>
              </a:defRPr>
            </a:defPPr>
            <a:lvl1pPr>
              <a:defRPr sz="3000" b="1">
                <a:solidFill>
                  <a:srgbClr val="1F2A36"/>
                </a:solidFill>
                <a:latin typeface="Arial"/>
                <a:ea typeface="Arial"/>
                <a:cs typeface="Arial"/>
              </a:defRPr>
            </a:lvl1pPr>
            <a:lvl2pPr>
              <a:defRPr sz="3000" b="1">
                <a:solidFill>
                  <a:srgbClr val="1F2A36"/>
                </a:solidFill>
                <a:latin typeface="Arial"/>
                <a:ea typeface="Arial"/>
                <a:cs typeface="Arial"/>
              </a:defRPr>
            </a:lvl2pPr>
            <a:lvl3pPr>
              <a:defRPr sz="3000" b="1">
                <a:solidFill>
                  <a:srgbClr val="1F2A36"/>
                </a:solidFill>
                <a:latin typeface="Arial"/>
                <a:ea typeface="Arial"/>
                <a:cs typeface="Arial"/>
              </a:defRPr>
            </a:lvl3pPr>
            <a:lvl4pPr>
              <a:defRPr sz="3000" b="1">
                <a:solidFill>
                  <a:srgbClr val="1F2A36"/>
                </a:solidFill>
                <a:latin typeface="Arial"/>
                <a:ea typeface="Arial"/>
                <a:cs typeface="Arial"/>
              </a:defRPr>
            </a:lvl4pPr>
            <a:lvl5pPr>
              <a:defRPr sz="3000" b="1">
                <a:solidFill>
                  <a:srgbClr val="1F2A36"/>
                </a:solidFill>
                <a:latin typeface="Arial"/>
                <a:ea typeface="Arial"/>
                <a:cs typeface="Arial"/>
              </a:defRPr>
            </a:lvl5pPr>
            <a:lvl6pPr>
              <a:defRPr sz="3000" b="1">
                <a:solidFill>
                  <a:srgbClr val="1F2A36"/>
                </a:solidFill>
                <a:latin typeface="Arial"/>
                <a:ea typeface="Arial"/>
                <a:cs typeface="Arial"/>
              </a:defRPr>
            </a:lvl6pPr>
            <a:lvl7pPr>
              <a:defRPr sz="3000" b="1">
                <a:solidFill>
                  <a:srgbClr val="1F2A36"/>
                </a:solidFill>
                <a:latin typeface="Arial"/>
                <a:ea typeface="Arial"/>
                <a:cs typeface="Arial"/>
              </a:defRPr>
            </a:lvl7pPr>
            <a:lvl8pPr>
              <a:defRPr sz="3000" b="1">
                <a:solidFill>
                  <a:srgbClr val="1F2A36"/>
                </a:solidFill>
                <a:latin typeface="Arial"/>
                <a:ea typeface="Arial"/>
                <a:cs typeface="Arial"/>
              </a:defRPr>
            </a:lvl8pPr>
            <a:lvl9pPr>
              <a:defRPr sz="3000" b="1">
                <a:solidFill>
                  <a:srgbClr val="1F2A36"/>
                </a:solidFill>
                <a:latin typeface="Arial"/>
                <a:ea typeface="Arial"/>
                <a:cs typeface="Arial"/>
              </a:defRPr>
            </a:lvl9pPr>
          </a:lstStyle>
          <a:p>
            <a:pPr>
              <a:defRPr sz="3000" b="1">
                <a:solidFill>
                  <a:srgbClr val="1F2A36"/>
                </a:solidFill>
                <a:latin typeface="Arial"/>
                <a:ea typeface="Arial"/>
                <a:cs typeface="Arial"/>
              </a:defRPr>
            </a:pPr>
            <a:r>
              <a:rPr sz="3000" b="1">
                <a:solidFill>
                  <a:srgbClr val="1F2A36"/>
                </a:solidFill>
                <a:latin typeface="Arial"/>
                <a:ea typeface="Arial"/>
                <a:cs typeface="Arial"/>
              </a:rPr>
              <a:t>Why an already-treated comparison can mislead</a:t>
            </a:r>
          </a:p>
        </p:txBody>
      </p:sp>
      <p:sp>
        <p:nvSpPr>
          <p:cNvPr id="3" name="text-1">
            <a:extLst>
              <a:ext uri="{FF2B5EF4-FFF2-40B4-BE49-F238E27FC236}">
                <a16:creationId xmlns:a16="http://schemas.microsoft.com/office/drawing/2014/main" id="{A9574D0E-76B3-4337-A21E-96576E631E54}"/>
              </a:ext>
            </a:extLst>
          </p:cNvPr>
          <p:cNvSpPr>
            <a:spLocks noGrp="1"/>
          </p:cNvSpPr>
          <p:nvPr/>
        </p:nvSpPr>
        <p:spPr>
          <a:xfrm>
            <a:off x="11239500" y="6400800"/>
            <a:ext cx="476250" cy="266700"/>
          </a:xfrm>
          <a:prstGeom prst="rect">
            <a:avLst/>
          </a:prstGeom>
          <a:noFill/>
          <a:ln w="0">
            <a:noFill/>
            <a:prstDash val="solid"/>
          </a:ln>
        </p:spPr>
        <p:txBody>
          <a:bodyPr lIns="0" tIns="0" rIns="0" bIns="0" anchor="t"/>
          <a:lstStyle>
            <a:defPPr>
              <a:defRPr sz="1350" b="0">
                <a:solidFill>
                  <a:srgbClr val="5B6B78"/>
                </a:solidFill>
                <a:latin typeface="Arial"/>
                <a:ea typeface="Arial"/>
                <a:cs typeface="Arial"/>
              </a:defRPr>
            </a:defPPr>
            <a:lvl1pPr>
              <a:defRPr sz="1350" b="0">
                <a:solidFill>
                  <a:srgbClr val="5B6B78"/>
                </a:solidFill>
                <a:latin typeface="Arial"/>
                <a:ea typeface="Arial"/>
                <a:cs typeface="Arial"/>
              </a:defRPr>
            </a:lvl1pPr>
            <a:lvl2pPr>
              <a:defRPr sz="1350" b="0">
                <a:solidFill>
                  <a:srgbClr val="5B6B78"/>
                </a:solidFill>
                <a:latin typeface="Arial"/>
                <a:ea typeface="Arial"/>
                <a:cs typeface="Arial"/>
              </a:defRPr>
            </a:lvl2pPr>
            <a:lvl3pPr>
              <a:defRPr sz="1350" b="0">
                <a:solidFill>
                  <a:srgbClr val="5B6B78"/>
                </a:solidFill>
                <a:latin typeface="Arial"/>
                <a:ea typeface="Arial"/>
                <a:cs typeface="Arial"/>
              </a:defRPr>
            </a:lvl3pPr>
            <a:lvl4pPr>
              <a:defRPr sz="1350" b="0">
                <a:solidFill>
                  <a:srgbClr val="5B6B78"/>
                </a:solidFill>
                <a:latin typeface="Arial"/>
                <a:ea typeface="Arial"/>
                <a:cs typeface="Arial"/>
              </a:defRPr>
            </a:lvl4pPr>
            <a:lvl5pPr>
              <a:defRPr sz="1350" b="0">
                <a:solidFill>
                  <a:srgbClr val="5B6B78"/>
                </a:solidFill>
                <a:latin typeface="Arial"/>
                <a:ea typeface="Arial"/>
                <a:cs typeface="Arial"/>
              </a:defRPr>
            </a:lvl5pPr>
            <a:lvl6pPr>
              <a:defRPr sz="1350" b="0">
                <a:solidFill>
                  <a:srgbClr val="5B6B78"/>
                </a:solidFill>
                <a:latin typeface="Arial"/>
                <a:ea typeface="Arial"/>
                <a:cs typeface="Arial"/>
              </a:defRPr>
            </a:lvl6pPr>
            <a:lvl7pPr>
              <a:defRPr sz="1350" b="0">
                <a:solidFill>
                  <a:srgbClr val="5B6B78"/>
                </a:solidFill>
                <a:latin typeface="Arial"/>
                <a:ea typeface="Arial"/>
                <a:cs typeface="Arial"/>
              </a:defRPr>
            </a:lvl7pPr>
            <a:lvl8pPr>
              <a:defRPr sz="1350" b="0">
                <a:solidFill>
                  <a:srgbClr val="5B6B78"/>
                </a:solidFill>
                <a:latin typeface="Arial"/>
                <a:ea typeface="Arial"/>
                <a:cs typeface="Arial"/>
              </a:defRPr>
            </a:lvl8pPr>
            <a:lvl9pPr>
              <a:defRPr sz="1350" b="0">
                <a:solidFill>
                  <a:srgbClr val="5B6B78"/>
                </a:solidFill>
                <a:latin typeface="Arial"/>
                <a:ea typeface="Arial"/>
                <a:cs typeface="Arial"/>
              </a:defRPr>
            </a:lvl9pPr>
          </a:lstStyle>
          <a:p>
            <a:pPr>
              <a:defRPr sz="1350" b="0">
                <a:solidFill>
                  <a:srgbClr val="5B6B78"/>
                </a:solidFill>
                <a:latin typeface="Arial"/>
                <a:ea typeface="Arial"/>
                <a:cs typeface="Arial"/>
              </a:defRPr>
            </a:pPr>
            <a:r>
              <a:rPr sz="1350" b="0">
                <a:solidFill>
                  <a:srgbClr val="5B6B78"/>
                </a:solidFill>
                <a:latin typeface="Arial"/>
                <a:ea typeface="Arial"/>
                <a:cs typeface="Arial"/>
              </a:rPr>
              <a:t>16</a:t>
            </a:r>
          </a:p>
        </p:txBody>
      </p:sp>
      <p:sp>
        <p:nvSpPr>
          <p:cNvPr id="4" name="text-2">
            <a:extLst>
              <a:ext uri="{FF2B5EF4-FFF2-40B4-BE49-F238E27FC236}">
                <a16:creationId xmlns:a16="http://schemas.microsoft.com/office/drawing/2014/main" id="{3646FD47-C00A-4515-83CD-D54280F1211F}"/>
              </a:ext>
            </a:extLst>
          </p:cNvPr>
          <p:cNvSpPr>
            <a:spLocks noGrp="1"/>
          </p:cNvSpPr>
          <p:nvPr/>
        </p:nvSpPr>
        <p:spPr>
          <a:xfrm>
            <a:off x="7677150" y="1524000"/>
            <a:ext cx="3857625" cy="476250"/>
          </a:xfrm>
          <a:prstGeom prst="rect">
            <a:avLst/>
          </a:prstGeom>
          <a:noFill/>
          <a:ln w="0">
            <a:noFill/>
            <a:prstDash val="solid"/>
          </a:ln>
        </p:spPr>
        <p:txBody>
          <a:bodyPr lIns="0" tIns="0" rIns="0" bIns="0" anchor="t"/>
          <a:lstStyle>
            <a:defPPr>
              <a:defRPr sz="2175" b="1">
                <a:solidFill>
                  <a:srgbClr val="2E6F73"/>
                </a:solidFill>
                <a:latin typeface="Arial"/>
                <a:ea typeface="Arial"/>
                <a:cs typeface="Arial"/>
              </a:defRPr>
            </a:defPPr>
            <a:lvl1pPr>
              <a:defRPr sz="2175" b="1">
                <a:solidFill>
                  <a:srgbClr val="2E6F73"/>
                </a:solidFill>
                <a:latin typeface="Arial"/>
                <a:ea typeface="Arial"/>
                <a:cs typeface="Arial"/>
              </a:defRPr>
            </a:lvl1pPr>
            <a:lvl2pPr>
              <a:defRPr sz="2175" b="1">
                <a:solidFill>
                  <a:srgbClr val="2E6F73"/>
                </a:solidFill>
                <a:latin typeface="Arial"/>
                <a:ea typeface="Arial"/>
                <a:cs typeface="Arial"/>
              </a:defRPr>
            </a:lvl2pPr>
            <a:lvl3pPr>
              <a:defRPr sz="2175" b="1">
                <a:solidFill>
                  <a:srgbClr val="2E6F73"/>
                </a:solidFill>
                <a:latin typeface="Arial"/>
                <a:ea typeface="Arial"/>
                <a:cs typeface="Arial"/>
              </a:defRPr>
            </a:lvl3pPr>
            <a:lvl4pPr>
              <a:defRPr sz="2175" b="1">
                <a:solidFill>
                  <a:srgbClr val="2E6F73"/>
                </a:solidFill>
                <a:latin typeface="Arial"/>
                <a:ea typeface="Arial"/>
                <a:cs typeface="Arial"/>
              </a:defRPr>
            </a:lvl4pPr>
            <a:lvl5pPr>
              <a:defRPr sz="2175" b="1">
                <a:solidFill>
                  <a:srgbClr val="2E6F73"/>
                </a:solidFill>
                <a:latin typeface="Arial"/>
                <a:ea typeface="Arial"/>
                <a:cs typeface="Arial"/>
              </a:defRPr>
            </a:lvl5pPr>
            <a:lvl6pPr>
              <a:defRPr sz="2175" b="1">
                <a:solidFill>
                  <a:srgbClr val="2E6F73"/>
                </a:solidFill>
                <a:latin typeface="Arial"/>
                <a:ea typeface="Arial"/>
                <a:cs typeface="Arial"/>
              </a:defRPr>
            </a:lvl6pPr>
            <a:lvl7pPr>
              <a:defRPr sz="2175" b="1">
                <a:solidFill>
                  <a:srgbClr val="2E6F73"/>
                </a:solidFill>
                <a:latin typeface="Arial"/>
                <a:ea typeface="Arial"/>
                <a:cs typeface="Arial"/>
              </a:defRPr>
            </a:lvl7pPr>
            <a:lvl8pPr>
              <a:defRPr sz="2175" b="1">
                <a:solidFill>
                  <a:srgbClr val="2E6F73"/>
                </a:solidFill>
                <a:latin typeface="Arial"/>
                <a:ea typeface="Arial"/>
                <a:cs typeface="Arial"/>
              </a:defRPr>
            </a:lvl8pPr>
            <a:lvl9pPr>
              <a:defRPr sz="2175" b="1">
                <a:solidFill>
                  <a:srgbClr val="2E6F73"/>
                </a:solidFill>
                <a:latin typeface="Arial"/>
                <a:ea typeface="Arial"/>
                <a:cs typeface="Arial"/>
              </a:defRPr>
            </a:lvl9pPr>
          </a:lstStyle>
          <a:p>
            <a:pPr>
              <a:defRPr sz="2175" b="1">
                <a:solidFill>
                  <a:srgbClr val="2E6F73"/>
                </a:solidFill>
                <a:latin typeface="Arial"/>
                <a:ea typeface="Arial"/>
                <a:cs typeface="Arial"/>
              </a:defRPr>
            </a:pPr>
            <a:r>
              <a:rPr sz="2175" b="1">
                <a:solidFill>
                  <a:srgbClr val="2E6F73"/>
                </a:solidFill>
                <a:latin typeface="Arial"/>
                <a:ea typeface="Arial"/>
                <a:cs typeface="Arial"/>
              </a:rPr>
              <a:t>From 2008 to 2009</a:t>
            </a:r>
          </a:p>
        </p:txBody>
      </p:sp>
      <p:sp>
        <p:nvSpPr>
          <p:cNvPr id="5" name="text-3">
            <a:extLst>
              <a:ext uri="{FF2B5EF4-FFF2-40B4-BE49-F238E27FC236}">
                <a16:creationId xmlns:a16="http://schemas.microsoft.com/office/drawing/2014/main" id="{EF7646F2-030B-4CA9-A521-AA46183D3B9A}"/>
              </a:ext>
            </a:extLst>
          </p:cNvPr>
          <p:cNvSpPr>
            <a:spLocks noGrp="1"/>
          </p:cNvSpPr>
          <p:nvPr/>
        </p:nvSpPr>
        <p:spPr>
          <a:xfrm>
            <a:off x="7677150" y="2238375"/>
            <a:ext cx="3857625" cy="1524000"/>
          </a:xfrm>
          <a:prstGeom prst="rect">
            <a:avLst/>
          </a:prstGeom>
          <a:noFill/>
          <a:ln w="0">
            <a:noFill/>
            <a:prstDash val="solid"/>
          </a:ln>
        </p:spPr>
        <p:txBody>
          <a:bodyPr lIns="0" tIns="0" rIns="0" bIns="0" anchor="t"/>
          <a:lstStyle>
            <a:defPPr>
              <a:defRPr sz="2325" b="0">
                <a:solidFill>
                  <a:srgbClr val="1F2A36"/>
                </a:solidFill>
                <a:latin typeface="Arial"/>
                <a:ea typeface="Arial"/>
                <a:cs typeface="Arial"/>
              </a:defRPr>
            </a:defPPr>
            <a:lvl1pPr>
              <a:defRPr sz="2325" b="0">
                <a:solidFill>
                  <a:srgbClr val="1F2A36"/>
                </a:solidFill>
                <a:latin typeface="Arial"/>
                <a:ea typeface="Arial"/>
                <a:cs typeface="Arial"/>
              </a:defRPr>
            </a:lvl1pPr>
            <a:lvl2pPr>
              <a:defRPr sz="2325" b="0">
                <a:solidFill>
                  <a:srgbClr val="1F2A36"/>
                </a:solidFill>
                <a:latin typeface="Arial"/>
                <a:ea typeface="Arial"/>
                <a:cs typeface="Arial"/>
              </a:defRPr>
            </a:lvl2pPr>
            <a:lvl3pPr>
              <a:defRPr sz="2325" b="0">
                <a:solidFill>
                  <a:srgbClr val="1F2A36"/>
                </a:solidFill>
                <a:latin typeface="Arial"/>
                <a:ea typeface="Arial"/>
                <a:cs typeface="Arial"/>
              </a:defRPr>
            </a:lvl3pPr>
            <a:lvl4pPr>
              <a:defRPr sz="2325" b="0">
                <a:solidFill>
                  <a:srgbClr val="1F2A36"/>
                </a:solidFill>
                <a:latin typeface="Arial"/>
                <a:ea typeface="Arial"/>
                <a:cs typeface="Arial"/>
              </a:defRPr>
            </a:lvl4pPr>
            <a:lvl5pPr>
              <a:defRPr sz="2325" b="0">
                <a:solidFill>
                  <a:srgbClr val="1F2A36"/>
                </a:solidFill>
                <a:latin typeface="Arial"/>
                <a:ea typeface="Arial"/>
                <a:cs typeface="Arial"/>
              </a:defRPr>
            </a:lvl5pPr>
            <a:lvl6pPr>
              <a:defRPr sz="2325" b="0">
                <a:solidFill>
                  <a:srgbClr val="1F2A36"/>
                </a:solidFill>
                <a:latin typeface="Arial"/>
                <a:ea typeface="Arial"/>
                <a:cs typeface="Arial"/>
              </a:defRPr>
            </a:lvl6pPr>
            <a:lvl7pPr>
              <a:defRPr sz="2325" b="0">
                <a:solidFill>
                  <a:srgbClr val="1F2A36"/>
                </a:solidFill>
                <a:latin typeface="Arial"/>
                <a:ea typeface="Arial"/>
                <a:cs typeface="Arial"/>
              </a:defRPr>
            </a:lvl7pPr>
            <a:lvl8pPr>
              <a:defRPr sz="2325" b="0">
                <a:solidFill>
                  <a:srgbClr val="1F2A36"/>
                </a:solidFill>
                <a:latin typeface="Arial"/>
                <a:ea typeface="Arial"/>
                <a:cs typeface="Arial"/>
              </a:defRPr>
            </a:lvl8pPr>
            <a:lvl9pPr>
              <a:defRPr sz="2325" b="0">
                <a:solidFill>
                  <a:srgbClr val="1F2A36"/>
                </a:solidFill>
                <a:latin typeface="Arial"/>
                <a:ea typeface="Arial"/>
                <a:cs typeface="Arial"/>
              </a:defRPr>
            </a:lvl9pPr>
          </a:lstStyle>
          <a:p>
            <a:pPr>
              <a:defRPr sz="2325" b="0">
                <a:solidFill>
                  <a:srgbClr val="1F2A36"/>
                </a:solidFill>
                <a:latin typeface="Arial"/>
                <a:ea typeface="Arial"/>
                <a:cs typeface="Arial"/>
              </a:defRPr>
            </a:pPr>
            <a:r>
              <a:rPr sz="2325" b="0">
                <a:solidFill>
                  <a:srgbClr val="1F2A36"/>
                </a:solidFill>
                <a:latin typeface="Arial"/>
                <a:ea typeface="Arial"/>
                <a:cs typeface="Arial"/>
              </a:rPr>
              <a:t>Late cohort: −1</a:t>
            </a:r>
          </a:p>
          <a:p>
            <a:pPr>
              <a:defRPr sz="2325" b="0">
                <a:solidFill>
                  <a:srgbClr val="1F2A36"/>
                </a:solidFill>
                <a:latin typeface="Arial"/>
                <a:ea typeface="Arial"/>
                <a:cs typeface="Arial"/>
              </a:defRPr>
            </a:pPr>
            <a:r>
              <a:rPr sz="2325" b="0">
                <a:solidFill>
                  <a:srgbClr val="1F2A36"/>
                </a:solidFill>
                <a:latin typeface="Arial"/>
                <a:ea typeface="Arial"/>
                <a:cs typeface="Arial"/>
              </a:rPr>
              <a:t>Early cohort: −1</a:t>
            </a:r>
          </a:p>
          <a:p>
            <a:pPr>
              <a:defRPr sz="2325" b="0">
                <a:solidFill>
                  <a:srgbClr val="1F2A36"/>
                </a:solidFill>
                <a:latin typeface="Arial"/>
                <a:ea typeface="Arial"/>
                <a:cs typeface="Arial"/>
              </a:defRPr>
            </a:pPr>
            <a:r>
              <a:rPr sz="2325" b="0">
                <a:solidFill>
                  <a:srgbClr val="1F2A36"/>
                </a:solidFill>
                <a:latin typeface="Arial"/>
                <a:ea typeface="Arial"/>
                <a:cs typeface="Arial"/>
              </a:rPr>
              <a:t>DiD: −1 − (−1) = 0</a:t>
            </a:r>
          </a:p>
        </p:txBody>
      </p:sp>
      <p:sp>
        <p:nvSpPr>
          <p:cNvPr id="6" name="text-4">
            <a:extLst>
              <a:ext uri="{FF2B5EF4-FFF2-40B4-BE49-F238E27FC236}">
                <a16:creationId xmlns:a16="http://schemas.microsoft.com/office/drawing/2014/main" id="{F42C6675-B7EB-4B0A-8A55-F69BF5A7903A}"/>
              </a:ext>
            </a:extLst>
          </p:cNvPr>
          <p:cNvSpPr>
            <a:spLocks noGrp="1"/>
          </p:cNvSpPr>
          <p:nvPr/>
        </p:nvSpPr>
        <p:spPr>
          <a:xfrm>
            <a:off x="7677150" y="4143375"/>
            <a:ext cx="3857625" cy="1476375"/>
          </a:xfrm>
          <a:prstGeom prst="rect">
            <a:avLst/>
          </a:prstGeom>
          <a:noFill/>
          <a:ln w="0">
            <a:noFill/>
            <a:prstDash val="solid"/>
          </a:ln>
        </p:spPr>
        <p:txBody>
          <a:bodyPr lIns="0" tIns="0" rIns="0" bIns="0" anchor="t"/>
          <a:lstStyle>
            <a:defPPr>
              <a:defRPr sz="2175" b="1">
                <a:solidFill>
                  <a:srgbClr val="C8553D"/>
                </a:solidFill>
                <a:latin typeface="Arial"/>
                <a:ea typeface="Arial"/>
                <a:cs typeface="Arial"/>
              </a:defRPr>
            </a:defPPr>
            <a:lvl1pPr>
              <a:defRPr sz="2175" b="1">
                <a:solidFill>
                  <a:srgbClr val="C8553D"/>
                </a:solidFill>
                <a:latin typeface="Arial"/>
                <a:ea typeface="Arial"/>
                <a:cs typeface="Arial"/>
              </a:defRPr>
            </a:lvl1pPr>
            <a:lvl2pPr>
              <a:defRPr sz="2175" b="1">
                <a:solidFill>
                  <a:srgbClr val="C8553D"/>
                </a:solidFill>
                <a:latin typeface="Arial"/>
                <a:ea typeface="Arial"/>
                <a:cs typeface="Arial"/>
              </a:defRPr>
            </a:lvl2pPr>
            <a:lvl3pPr>
              <a:defRPr sz="2175" b="1">
                <a:solidFill>
                  <a:srgbClr val="C8553D"/>
                </a:solidFill>
                <a:latin typeface="Arial"/>
                <a:ea typeface="Arial"/>
                <a:cs typeface="Arial"/>
              </a:defRPr>
            </a:lvl3pPr>
            <a:lvl4pPr>
              <a:defRPr sz="2175" b="1">
                <a:solidFill>
                  <a:srgbClr val="C8553D"/>
                </a:solidFill>
                <a:latin typeface="Arial"/>
                <a:ea typeface="Arial"/>
                <a:cs typeface="Arial"/>
              </a:defRPr>
            </a:lvl4pPr>
            <a:lvl5pPr>
              <a:defRPr sz="2175" b="1">
                <a:solidFill>
                  <a:srgbClr val="C8553D"/>
                </a:solidFill>
                <a:latin typeface="Arial"/>
                <a:ea typeface="Arial"/>
                <a:cs typeface="Arial"/>
              </a:defRPr>
            </a:lvl5pPr>
            <a:lvl6pPr>
              <a:defRPr sz="2175" b="1">
                <a:solidFill>
                  <a:srgbClr val="C8553D"/>
                </a:solidFill>
                <a:latin typeface="Arial"/>
                <a:ea typeface="Arial"/>
                <a:cs typeface="Arial"/>
              </a:defRPr>
            </a:lvl6pPr>
            <a:lvl7pPr>
              <a:defRPr sz="2175" b="1">
                <a:solidFill>
                  <a:srgbClr val="C8553D"/>
                </a:solidFill>
                <a:latin typeface="Arial"/>
                <a:ea typeface="Arial"/>
                <a:cs typeface="Arial"/>
              </a:defRPr>
            </a:lvl7pPr>
            <a:lvl8pPr>
              <a:defRPr sz="2175" b="1">
                <a:solidFill>
                  <a:srgbClr val="C8553D"/>
                </a:solidFill>
                <a:latin typeface="Arial"/>
                <a:ea typeface="Arial"/>
                <a:cs typeface="Arial"/>
              </a:defRPr>
            </a:lvl8pPr>
            <a:lvl9pPr>
              <a:defRPr sz="2175" b="1">
                <a:solidFill>
                  <a:srgbClr val="C8553D"/>
                </a:solidFill>
                <a:latin typeface="Arial"/>
                <a:ea typeface="Arial"/>
                <a:cs typeface="Arial"/>
              </a:defRPr>
            </a:lvl9pPr>
          </a:lstStyle>
          <a:p>
            <a:pPr>
              <a:defRPr sz="2175" b="1">
                <a:solidFill>
                  <a:srgbClr val="C8553D"/>
                </a:solidFill>
                <a:latin typeface="Arial"/>
                <a:ea typeface="Arial"/>
                <a:cs typeface="Arial"/>
              </a:defRPr>
            </a:pPr>
            <a:r>
              <a:rPr sz="2175" b="1">
                <a:solidFill>
                  <a:srgbClr val="C8553D"/>
                </a:solidFill>
                <a:latin typeface="Arial"/>
                <a:ea typeface="Arial"/>
                <a:cs typeface="Arial"/>
              </a:rPr>
              <a:t>But late’s effect is −1.</a:t>
            </a:r>
          </a:p>
          <a:p>
            <a:pPr>
              <a:defRPr sz="2175" b="1">
                <a:solidFill>
                  <a:srgbClr val="C8553D"/>
                </a:solidFill>
                <a:latin typeface="Arial"/>
                <a:ea typeface="Arial"/>
                <a:cs typeface="Arial"/>
              </a:defRPr>
            </a:pPr>
            <a:r>
              <a:rPr sz="2175" b="1">
                <a:solidFill>
                  <a:srgbClr val="C8553D"/>
                </a:solidFill>
                <a:latin typeface="Arial"/>
                <a:ea typeface="Arial"/>
                <a:cs typeface="Arial"/>
              </a:rPr>
              <a:t>The control’s treatment effect is still changing.</a:t>
            </a:r>
          </a:p>
        </p:txBody>
      </p:sp>
      <p:sp>
        <p:nvSpPr>
          <p:cNvPr id="7" name="text-5">
            <a:extLst>
              <a:ext uri="{FF2B5EF4-FFF2-40B4-BE49-F238E27FC236}">
                <a16:creationId xmlns:a16="http://schemas.microsoft.com/office/drawing/2014/main" id="{1E0E7B7E-64DA-420F-B669-B93B1584EF75}"/>
              </a:ext>
            </a:extLst>
          </p:cNvPr>
          <p:cNvSpPr>
            <a:spLocks noGrp="1"/>
          </p:cNvSpPr>
          <p:nvPr/>
        </p:nvSpPr>
        <p:spPr>
          <a:xfrm>
            <a:off x="552450" y="5934075"/>
            <a:ext cx="10668000" cy="323850"/>
          </a:xfrm>
          <a:prstGeom prst="rect">
            <a:avLst/>
          </a:prstGeom>
          <a:noFill/>
          <a:ln w="0">
            <a:noFill/>
            <a:prstDash val="solid"/>
          </a:ln>
        </p:spPr>
        <p:txBody>
          <a:bodyPr lIns="0" tIns="0" rIns="0" bIns="0" anchor="t"/>
          <a:lstStyle>
            <a:defPPr>
              <a:defRPr sz="1500" b="0">
                <a:solidFill>
                  <a:srgbClr val="5B6B78"/>
                </a:solidFill>
                <a:latin typeface="Arial"/>
                <a:ea typeface="Arial"/>
                <a:cs typeface="Arial"/>
              </a:defRPr>
            </a:defPPr>
            <a:lvl1pPr>
              <a:defRPr sz="1500" b="0">
                <a:solidFill>
                  <a:srgbClr val="5B6B78"/>
                </a:solidFill>
                <a:latin typeface="Arial"/>
                <a:ea typeface="Arial"/>
                <a:cs typeface="Arial"/>
              </a:defRPr>
            </a:lvl1pPr>
            <a:lvl2pPr>
              <a:defRPr sz="1500" b="0">
                <a:solidFill>
                  <a:srgbClr val="5B6B78"/>
                </a:solidFill>
                <a:latin typeface="Arial"/>
                <a:ea typeface="Arial"/>
                <a:cs typeface="Arial"/>
              </a:defRPr>
            </a:lvl2pPr>
            <a:lvl3pPr>
              <a:defRPr sz="1500" b="0">
                <a:solidFill>
                  <a:srgbClr val="5B6B78"/>
                </a:solidFill>
                <a:latin typeface="Arial"/>
                <a:ea typeface="Arial"/>
                <a:cs typeface="Arial"/>
              </a:defRPr>
            </a:lvl3pPr>
            <a:lvl4pPr>
              <a:defRPr sz="1500" b="0">
                <a:solidFill>
                  <a:srgbClr val="5B6B78"/>
                </a:solidFill>
                <a:latin typeface="Arial"/>
                <a:ea typeface="Arial"/>
                <a:cs typeface="Arial"/>
              </a:defRPr>
            </a:lvl4pPr>
            <a:lvl5pPr>
              <a:defRPr sz="1500" b="0">
                <a:solidFill>
                  <a:srgbClr val="5B6B78"/>
                </a:solidFill>
                <a:latin typeface="Arial"/>
                <a:ea typeface="Arial"/>
                <a:cs typeface="Arial"/>
              </a:defRPr>
            </a:lvl5pPr>
            <a:lvl6pPr>
              <a:defRPr sz="1500" b="0">
                <a:solidFill>
                  <a:srgbClr val="5B6B78"/>
                </a:solidFill>
                <a:latin typeface="Arial"/>
                <a:ea typeface="Arial"/>
                <a:cs typeface="Arial"/>
              </a:defRPr>
            </a:lvl6pPr>
            <a:lvl7pPr>
              <a:defRPr sz="1500" b="0">
                <a:solidFill>
                  <a:srgbClr val="5B6B78"/>
                </a:solidFill>
                <a:latin typeface="Arial"/>
                <a:ea typeface="Arial"/>
                <a:cs typeface="Arial"/>
              </a:defRPr>
            </a:lvl7pPr>
            <a:lvl8pPr>
              <a:defRPr sz="1500" b="0">
                <a:solidFill>
                  <a:srgbClr val="5B6B78"/>
                </a:solidFill>
                <a:latin typeface="Arial"/>
                <a:ea typeface="Arial"/>
                <a:cs typeface="Arial"/>
              </a:defRPr>
            </a:lvl8pPr>
            <a:lvl9pPr>
              <a:defRPr sz="1500" b="0">
                <a:solidFill>
                  <a:srgbClr val="5B6B78"/>
                </a:solidFill>
                <a:latin typeface="Arial"/>
                <a:ea typeface="Arial"/>
                <a:cs typeface="Arial"/>
              </a:defRPr>
            </a:lvl9pPr>
          </a:lstStyle>
          <a:p>
            <a:pPr>
              <a:defRPr sz="1500" b="0">
                <a:solidFill>
                  <a:srgbClr val="5B6B78"/>
                </a:solidFill>
                <a:latin typeface="Arial"/>
                <a:ea typeface="Arial"/>
                <a:cs typeface="Arial"/>
              </a:defRPr>
            </a:pPr>
            <a:r>
              <a:rPr sz="1500" b="0">
                <a:solidFill>
                  <a:srgbClr val="5B6B78"/>
                </a:solidFill>
                <a:latin typeface="Arial"/>
                <a:ea typeface="Arial"/>
                <a:cs typeface="Arial"/>
              </a:rPr>
              <a:t>Illustrative data. Timing alone is not the problem: effects also evolve.</a:t>
            </a:r>
          </a:p>
        </p:txBody>
      </p:sp>
    </p:spTree>
    <p:extLst>
      <p:ext uri="{BB962C8B-B14F-4D97-AF65-F5344CB8AC3E}">
        <p14:creationId xmlns:p14="http://schemas.microsoft.com/office/powerpoint/2010/main" val="6103739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ext-0">
            <a:extLst>
              <a:ext uri="{FF2B5EF4-FFF2-40B4-BE49-F238E27FC236}">
                <a16:creationId xmlns:a16="http://schemas.microsoft.com/office/drawing/2014/main" id="{879F4F7C-A0F0-4D6F-9470-E604790FE08C}"/>
              </a:ext>
            </a:extLst>
          </p:cNvPr>
          <p:cNvSpPr>
            <a:spLocks noGrp="1"/>
          </p:cNvSpPr>
          <p:nvPr/>
        </p:nvSpPr>
        <p:spPr>
          <a:xfrm>
            <a:off x="552450" y="361950"/>
            <a:ext cx="11087100" cy="857250"/>
          </a:xfrm>
          <a:prstGeom prst="rect">
            <a:avLst/>
          </a:prstGeom>
          <a:noFill/>
          <a:ln w="0">
            <a:noFill/>
            <a:prstDash val="solid"/>
          </a:ln>
        </p:spPr>
        <p:txBody>
          <a:bodyPr lIns="0" tIns="0" rIns="0" bIns="0" anchor="t"/>
          <a:lstStyle>
            <a:defPPr>
              <a:defRPr sz="3000" b="1">
                <a:solidFill>
                  <a:srgbClr val="1F2A36"/>
                </a:solidFill>
                <a:latin typeface="Arial"/>
                <a:ea typeface="Arial"/>
                <a:cs typeface="Arial"/>
              </a:defRPr>
            </a:defPPr>
            <a:lvl1pPr>
              <a:defRPr sz="3000" b="1">
                <a:solidFill>
                  <a:srgbClr val="1F2A36"/>
                </a:solidFill>
                <a:latin typeface="Arial"/>
                <a:ea typeface="Arial"/>
                <a:cs typeface="Arial"/>
              </a:defRPr>
            </a:lvl1pPr>
            <a:lvl2pPr>
              <a:defRPr sz="3000" b="1">
                <a:solidFill>
                  <a:srgbClr val="1F2A36"/>
                </a:solidFill>
                <a:latin typeface="Arial"/>
                <a:ea typeface="Arial"/>
                <a:cs typeface="Arial"/>
              </a:defRPr>
            </a:lvl2pPr>
            <a:lvl3pPr>
              <a:defRPr sz="3000" b="1">
                <a:solidFill>
                  <a:srgbClr val="1F2A36"/>
                </a:solidFill>
                <a:latin typeface="Arial"/>
                <a:ea typeface="Arial"/>
                <a:cs typeface="Arial"/>
              </a:defRPr>
            </a:lvl3pPr>
            <a:lvl4pPr>
              <a:defRPr sz="3000" b="1">
                <a:solidFill>
                  <a:srgbClr val="1F2A36"/>
                </a:solidFill>
                <a:latin typeface="Arial"/>
                <a:ea typeface="Arial"/>
                <a:cs typeface="Arial"/>
              </a:defRPr>
            </a:lvl4pPr>
            <a:lvl5pPr>
              <a:defRPr sz="3000" b="1">
                <a:solidFill>
                  <a:srgbClr val="1F2A36"/>
                </a:solidFill>
                <a:latin typeface="Arial"/>
                <a:ea typeface="Arial"/>
                <a:cs typeface="Arial"/>
              </a:defRPr>
            </a:lvl5pPr>
            <a:lvl6pPr>
              <a:defRPr sz="3000" b="1">
                <a:solidFill>
                  <a:srgbClr val="1F2A36"/>
                </a:solidFill>
                <a:latin typeface="Arial"/>
                <a:ea typeface="Arial"/>
                <a:cs typeface="Arial"/>
              </a:defRPr>
            </a:lvl6pPr>
            <a:lvl7pPr>
              <a:defRPr sz="3000" b="1">
                <a:solidFill>
                  <a:srgbClr val="1F2A36"/>
                </a:solidFill>
                <a:latin typeface="Arial"/>
                <a:ea typeface="Arial"/>
                <a:cs typeface="Arial"/>
              </a:defRPr>
            </a:lvl7pPr>
            <a:lvl8pPr>
              <a:defRPr sz="3000" b="1">
                <a:solidFill>
                  <a:srgbClr val="1F2A36"/>
                </a:solidFill>
                <a:latin typeface="Arial"/>
                <a:ea typeface="Arial"/>
                <a:cs typeface="Arial"/>
              </a:defRPr>
            </a:lvl8pPr>
            <a:lvl9pPr>
              <a:defRPr sz="3000" b="1">
                <a:solidFill>
                  <a:srgbClr val="1F2A36"/>
                </a:solidFill>
                <a:latin typeface="Arial"/>
                <a:ea typeface="Arial"/>
                <a:cs typeface="Arial"/>
              </a:defRPr>
            </a:lvl9pPr>
          </a:lstStyle>
          <a:p>
            <a:pPr>
              <a:defRPr sz="3000" b="1">
                <a:solidFill>
                  <a:srgbClr val="1F2A36"/>
                </a:solidFill>
                <a:latin typeface="Arial"/>
                <a:ea typeface="Arial"/>
                <a:cs typeface="Arial"/>
              </a:defRPr>
            </a:pPr>
            <a:r>
              <a:rPr sz="3000" b="1">
                <a:solidFill>
                  <a:srgbClr val="1F2A36"/>
                </a:solidFill>
                <a:latin typeface="Arial"/>
                <a:ea typeface="Arial"/>
                <a:cs typeface="Arial"/>
              </a:rPr>
              <a:t>A modern approach: estimate effects by cohort</a:t>
            </a:r>
          </a:p>
        </p:txBody>
      </p:sp>
      <p:sp>
        <p:nvSpPr>
          <p:cNvPr id="2" name="text-1">
            <a:extLst>
              <a:ext uri="{FF2B5EF4-FFF2-40B4-BE49-F238E27FC236}">
                <a16:creationId xmlns:a16="http://schemas.microsoft.com/office/drawing/2014/main" id="{3179BA9C-D1C8-42EE-82BF-09F7CBADB373}"/>
              </a:ext>
            </a:extLst>
          </p:cNvPr>
          <p:cNvSpPr>
            <a:spLocks noGrp="1"/>
          </p:cNvSpPr>
          <p:nvPr/>
        </p:nvSpPr>
        <p:spPr>
          <a:xfrm>
            <a:off x="11239500" y="6400800"/>
            <a:ext cx="476250" cy="266700"/>
          </a:xfrm>
          <a:prstGeom prst="rect">
            <a:avLst/>
          </a:prstGeom>
          <a:noFill/>
          <a:ln w="0">
            <a:noFill/>
            <a:prstDash val="solid"/>
          </a:ln>
        </p:spPr>
        <p:txBody>
          <a:bodyPr lIns="0" tIns="0" rIns="0" bIns="0" anchor="t"/>
          <a:lstStyle>
            <a:defPPr>
              <a:defRPr sz="1350" b="0">
                <a:solidFill>
                  <a:srgbClr val="5B6B78"/>
                </a:solidFill>
                <a:latin typeface="Arial"/>
                <a:ea typeface="Arial"/>
                <a:cs typeface="Arial"/>
              </a:defRPr>
            </a:defPPr>
            <a:lvl1pPr>
              <a:defRPr sz="1350" b="0">
                <a:solidFill>
                  <a:srgbClr val="5B6B78"/>
                </a:solidFill>
                <a:latin typeface="Arial"/>
                <a:ea typeface="Arial"/>
                <a:cs typeface="Arial"/>
              </a:defRPr>
            </a:lvl1pPr>
            <a:lvl2pPr>
              <a:defRPr sz="1350" b="0">
                <a:solidFill>
                  <a:srgbClr val="5B6B78"/>
                </a:solidFill>
                <a:latin typeface="Arial"/>
                <a:ea typeface="Arial"/>
                <a:cs typeface="Arial"/>
              </a:defRPr>
            </a:lvl2pPr>
            <a:lvl3pPr>
              <a:defRPr sz="1350" b="0">
                <a:solidFill>
                  <a:srgbClr val="5B6B78"/>
                </a:solidFill>
                <a:latin typeface="Arial"/>
                <a:ea typeface="Arial"/>
                <a:cs typeface="Arial"/>
              </a:defRPr>
            </a:lvl3pPr>
            <a:lvl4pPr>
              <a:defRPr sz="1350" b="0">
                <a:solidFill>
                  <a:srgbClr val="5B6B78"/>
                </a:solidFill>
                <a:latin typeface="Arial"/>
                <a:ea typeface="Arial"/>
                <a:cs typeface="Arial"/>
              </a:defRPr>
            </a:lvl4pPr>
            <a:lvl5pPr>
              <a:defRPr sz="1350" b="0">
                <a:solidFill>
                  <a:srgbClr val="5B6B78"/>
                </a:solidFill>
                <a:latin typeface="Arial"/>
                <a:ea typeface="Arial"/>
                <a:cs typeface="Arial"/>
              </a:defRPr>
            </a:lvl5pPr>
            <a:lvl6pPr>
              <a:defRPr sz="1350" b="0">
                <a:solidFill>
                  <a:srgbClr val="5B6B78"/>
                </a:solidFill>
                <a:latin typeface="Arial"/>
                <a:ea typeface="Arial"/>
                <a:cs typeface="Arial"/>
              </a:defRPr>
            </a:lvl6pPr>
            <a:lvl7pPr>
              <a:defRPr sz="1350" b="0">
                <a:solidFill>
                  <a:srgbClr val="5B6B78"/>
                </a:solidFill>
                <a:latin typeface="Arial"/>
                <a:ea typeface="Arial"/>
                <a:cs typeface="Arial"/>
              </a:defRPr>
            </a:lvl7pPr>
            <a:lvl8pPr>
              <a:defRPr sz="1350" b="0">
                <a:solidFill>
                  <a:srgbClr val="5B6B78"/>
                </a:solidFill>
                <a:latin typeface="Arial"/>
                <a:ea typeface="Arial"/>
                <a:cs typeface="Arial"/>
              </a:defRPr>
            </a:lvl8pPr>
            <a:lvl9pPr>
              <a:defRPr sz="1350" b="0">
                <a:solidFill>
                  <a:srgbClr val="5B6B78"/>
                </a:solidFill>
                <a:latin typeface="Arial"/>
                <a:ea typeface="Arial"/>
                <a:cs typeface="Arial"/>
              </a:defRPr>
            </a:lvl9pPr>
          </a:lstStyle>
          <a:p>
            <a:pPr>
              <a:defRPr sz="1350" b="0">
                <a:solidFill>
                  <a:srgbClr val="5B6B78"/>
                </a:solidFill>
                <a:latin typeface="Arial"/>
                <a:ea typeface="Arial"/>
                <a:cs typeface="Arial"/>
              </a:defRPr>
            </a:pPr>
            <a:r>
              <a:rPr sz="1350" b="0">
                <a:solidFill>
                  <a:srgbClr val="5B6B78"/>
                </a:solidFill>
                <a:latin typeface="Arial"/>
                <a:ea typeface="Arial"/>
                <a:cs typeface="Arial"/>
              </a:rPr>
              <a:t>17</a:t>
            </a:r>
          </a:p>
        </p:txBody>
      </p:sp>
      <p:sp>
        <p:nvSpPr>
          <p:cNvPr id="3" name="text-2">
            <a:extLst>
              <a:ext uri="{FF2B5EF4-FFF2-40B4-BE49-F238E27FC236}">
                <a16:creationId xmlns:a16="http://schemas.microsoft.com/office/drawing/2014/main" id="{918ED844-659D-4051-A847-95CCAAC42202}"/>
              </a:ext>
            </a:extLst>
          </p:cNvPr>
          <p:cNvSpPr>
            <a:spLocks noGrp="1"/>
          </p:cNvSpPr>
          <p:nvPr/>
        </p:nvSpPr>
        <p:spPr>
          <a:xfrm>
            <a:off x="552450" y="1571625"/>
            <a:ext cx="10668000" cy="381000"/>
          </a:xfrm>
          <a:prstGeom prst="rect">
            <a:avLst/>
          </a:prstGeom>
          <a:noFill/>
          <a:ln w="0">
            <a:noFill/>
            <a:prstDash val="solid"/>
          </a:ln>
        </p:spPr>
        <p:txBody>
          <a:bodyPr lIns="0" tIns="0" rIns="0" bIns="0" anchor="t"/>
          <a:lstStyle>
            <a:defPPr>
              <a:defRPr sz="2100" b="1">
                <a:solidFill>
                  <a:srgbClr val="2E6F73"/>
                </a:solidFill>
                <a:latin typeface="Arial"/>
                <a:ea typeface="Arial"/>
                <a:cs typeface="Arial"/>
              </a:defRPr>
            </a:defPPr>
            <a:lvl1pPr>
              <a:defRPr sz="2100" b="1">
                <a:solidFill>
                  <a:srgbClr val="2E6F73"/>
                </a:solidFill>
                <a:latin typeface="Arial"/>
                <a:ea typeface="Arial"/>
                <a:cs typeface="Arial"/>
              </a:defRPr>
            </a:lvl1pPr>
            <a:lvl2pPr>
              <a:defRPr sz="2100" b="1">
                <a:solidFill>
                  <a:srgbClr val="2E6F73"/>
                </a:solidFill>
                <a:latin typeface="Arial"/>
                <a:ea typeface="Arial"/>
                <a:cs typeface="Arial"/>
              </a:defRPr>
            </a:lvl2pPr>
            <a:lvl3pPr>
              <a:defRPr sz="2100" b="1">
                <a:solidFill>
                  <a:srgbClr val="2E6F73"/>
                </a:solidFill>
                <a:latin typeface="Arial"/>
                <a:ea typeface="Arial"/>
                <a:cs typeface="Arial"/>
              </a:defRPr>
            </a:lvl3pPr>
            <a:lvl4pPr>
              <a:defRPr sz="2100" b="1">
                <a:solidFill>
                  <a:srgbClr val="2E6F73"/>
                </a:solidFill>
                <a:latin typeface="Arial"/>
                <a:ea typeface="Arial"/>
                <a:cs typeface="Arial"/>
              </a:defRPr>
            </a:lvl4pPr>
            <a:lvl5pPr>
              <a:defRPr sz="2100" b="1">
                <a:solidFill>
                  <a:srgbClr val="2E6F73"/>
                </a:solidFill>
                <a:latin typeface="Arial"/>
                <a:ea typeface="Arial"/>
                <a:cs typeface="Arial"/>
              </a:defRPr>
            </a:lvl5pPr>
            <a:lvl6pPr>
              <a:defRPr sz="2100" b="1">
                <a:solidFill>
                  <a:srgbClr val="2E6F73"/>
                </a:solidFill>
                <a:latin typeface="Arial"/>
                <a:ea typeface="Arial"/>
                <a:cs typeface="Arial"/>
              </a:defRPr>
            </a:lvl6pPr>
            <a:lvl7pPr>
              <a:defRPr sz="2100" b="1">
                <a:solidFill>
                  <a:srgbClr val="2E6F73"/>
                </a:solidFill>
                <a:latin typeface="Arial"/>
                <a:ea typeface="Arial"/>
                <a:cs typeface="Arial"/>
              </a:defRPr>
            </a:lvl7pPr>
            <a:lvl8pPr>
              <a:defRPr sz="2100" b="1">
                <a:solidFill>
                  <a:srgbClr val="2E6F73"/>
                </a:solidFill>
                <a:latin typeface="Arial"/>
                <a:ea typeface="Arial"/>
                <a:cs typeface="Arial"/>
              </a:defRPr>
            </a:lvl8pPr>
            <a:lvl9pPr>
              <a:defRPr sz="2100" b="1">
                <a:solidFill>
                  <a:srgbClr val="2E6F73"/>
                </a:solidFill>
                <a:latin typeface="Arial"/>
                <a:ea typeface="Arial"/>
                <a:cs typeface="Arial"/>
              </a:defRPr>
            </a:lvl9pPr>
          </a:lstStyle>
          <a:p>
            <a:pPr>
              <a:defRPr sz="2100" b="1">
                <a:solidFill>
                  <a:srgbClr val="2E6F73"/>
                </a:solidFill>
                <a:latin typeface="Arial"/>
                <a:ea typeface="Arial"/>
                <a:cs typeface="Arial"/>
              </a:defRPr>
            </a:pPr>
            <a:r>
              <a:rPr sz="2100" b="1">
                <a:solidFill>
                  <a:srgbClr val="2E6F73"/>
                </a:solidFill>
                <a:latin typeface="Arial"/>
                <a:ea typeface="Arial"/>
                <a:cs typeface="Arial"/>
              </a:rPr>
              <a:t>Define the effect</a:t>
            </a:r>
          </a:p>
        </p:txBody>
      </p:sp>
      <p:sp>
        <p:nvSpPr>
          <p:cNvPr id="4" name="text-3">
            <a:extLst>
              <a:ext uri="{FF2B5EF4-FFF2-40B4-BE49-F238E27FC236}">
                <a16:creationId xmlns:a16="http://schemas.microsoft.com/office/drawing/2014/main" id="{6903C519-5E71-4018-A4F2-66BE474D3F95}"/>
              </a:ext>
            </a:extLst>
          </p:cNvPr>
          <p:cNvSpPr>
            <a:spLocks noGrp="1"/>
          </p:cNvSpPr>
          <p:nvPr/>
        </p:nvSpPr>
        <p:spPr>
          <a:xfrm>
            <a:off x="552450" y="1981200"/>
            <a:ext cx="10668000" cy="781050"/>
          </a:xfrm>
          <a:prstGeom prst="rect">
            <a:avLst/>
          </a:prstGeom>
          <a:noFill/>
          <a:ln w="0">
            <a:noFill/>
            <a:prstDash val="solid"/>
          </a:ln>
        </p:spPr>
        <p:txBody>
          <a:bodyPr lIns="0" tIns="0" rIns="0" bIns="0" anchor="t"/>
          <a:lstStyle>
            <a:defPPr>
              <a:defRPr sz="2025" b="0">
                <a:solidFill>
                  <a:srgbClr val="1F2A36"/>
                </a:solidFill>
                <a:latin typeface="Arial"/>
                <a:ea typeface="Arial"/>
                <a:cs typeface="Arial"/>
              </a:defRPr>
            </a:defPPr>
            <a:lvl1pPr>
              <a:defRPr sz="2025" b="0">
                <a:solidFill>
                  <a:srgbClr val="1F2A36"/>
                </a:solidFill>
                <a:latin typeface="Arial"/>
                <a:ea typeface="Arial"/>
                <a:cs typeface="Arial"/>
              </a:defRPr>
            </a:lvl1pPr>
            <a:lvl2pPr>
              <a:defRPr sz="2025" b="0">
                <a:solidFill>
                  <a:srgbClr val="1F2A36"/>
                </a:solidFill>
                <a:latin typeface="Arial"/>
                <a:ea typeface="Arial"/>
                <a:cs typeface="Arial"/>
              </a:defRPr>
            </a:lvl2pPr>
            <a:lvl3pPr>
              <a:defRPr sz="2025" b="0">
                <a:solidFill>
                  <a:srgbClr val="1F2A36"/>
                </a:solidFill>
                <a:latin typeface="Arial"/>
                <a:ea typeface="Arial"/>
                <a:cs typeface="Arial"/>
              </a:defRPr>
            </a:lvl3pPr>
            <a:lvl4pPr>
              <a:defRPr sz="2025" b="0">
                <a:solidFill>
                  <a:srgbClr val="1F2A36"/>
                </a:solidFill>
                <a:latin typeface="Arial"/>
                <a:ea typeface="Arial"/>
                <a:cs typeface="Arial"/>
              </a:defRPr>
            </a:lvl4pPr>
            <a:lvl5pPr>
              <a:defRPr sz="2025" b="0">
                <a:solidFill>
                  <a:srgbClr val="1F2A36"/>
                </a:solidFill>
                <a:latin typeface="Arial"/>
                <a:ea typeface="Arial"/>
                <a:cs typeface="Arial"/>
              </a:defRPr>
            </a:lvl5pPr>
            <a:lvl6pPr>
              <a:defRPr sz="2025" b="0">
                <a:solidFill>
                  <a:srgbClr val="1F2A36"/>
                </a:solidFill>
                <a:latin typeface="Arial"/>
                <a:ea typeface="Arial"/>
                <a:cs typeface="Arial"/>
              </a:defRPr>
            </a:lvl6pPr>
            <a:lvl7pPr>
              <a:defRPr sz="2025" b="0">
                <a:solidFill>
                  <a:srgbClr val="1F2A36"/>
                </a:solidFill>
                <a:latin typeface="Arial"/>
                <a:ea typeface="Arial"/>
                <a:cs typeface="Arial"/>
              </a:defRPr>
            </a:lvl7pPr>
            <a:lvl8pPr>
              <a:defRPr sz="2025" b="0">
                <a:solidFill>
                  <a:srgbClr val="1F2A36"/>
                </a:solidFill>
                <a:latin typeface="Arial"/>
                <a:ea typeface="Arial"/>
                <a:cs typeface="Arial"/>
              </a:defRPr>
            </a:lvl8pPr>
            <a:lvl9pPr>
              <a:defRPr sz="2025" b="0">
                <a:solidFill>
                  <a:srgbClr val="1F2A36"/>
                </a:solidFill>
                <a:latin typeface="Arial"/>
                <a:ea typeface="Arial"/>
                <a:cs typeface="Arial"/>
              </a:defRPr>
            </a:lvl9pPr>
          </a:lstStyle>
          <a:p>
            <a:pPr>
              <a:defRPr sz="2025" b="0">
                <a:solidFill>
                  <a:srgbClr val="1F2A36"/>
                </a:solidFill>
                <a:latin typeface="Arial"/>
                <a:ea typeface="Arial"/>
                <a:cs typeface="Arial"/>
              </a:defRPr>
            </a:pPr>
            <a:r>
              <a:rPr sz="2025" b="0">
                <a:solidFill>
                  <a:srgbClr val="1F2A36"/>
                </a:solidFill>
                <a:latin typeface="Arial"/>
                <a:ea typeface="Arial"/>
                <a:cs typeface="Arial"/>
              </a:rPr>
              <a:t>For cohort g in period t, estimate ATT(g, t).</a:t>
            </a:r>
          </a:p>
        </p:txBody>
      </p:sp>
      <p:sp>
        <p:nvSpPr>
          <p:cNvPr id="5" name="text-4">
            <a:extLst>
              <a:ext uri="{FF2B5EF4-FFF2-40B4-BE49-F238E27FC236}">
                <a16:creationId xmlns:a16="http://schemas.microsoft.com/office/drawing/2014/main" id="{EB0C5B3D-5F3D-4DDF-BE48-56032E8B0E33}"/>
              </a:ext>
            </a:extLst>
          </p:cNvPr>
          <p:cNvSpPr>
            <a:spLocks noGrp="1"/>
          </p:cNvSpPr>
          <p:nvPr/>
        </p:nvSpPr>
        <p:spPr>
          <a:xfrm>
            <a:off x="552450" y="2857500"/>
            <a:ext cx="10668000" cy="381000"/>
          </a:xfrm>
          <a:prstGeom prst="rect">
            <a:avLst/>
          </a:prstGeom>
          <a:noFill/>
          <a:ln w="0">
            <a:noFill/>
            <a:prstDash val="solid"/>
          </a:ln>
        </p:spPr>
        <p:txBody>
          <a:bodyPr lIns="0" tIns="0" rIns="0" bIns="0" anchor="t"/>
          <a:lstStyle>
            <a:defPPr>
              <a:defRPr sz="2100" b="1">
                <a:solidFill>
                  <a:srgbClr val="2E6F73"/>
                </a:solidFill>
                <a:latin typeface="Arial"/>
                <a:ea typeface="Arial"/>
                <a:cs typeface="Arial"/>
              </a:defRPr>
            </a:defPPr>
            <a:lvl1pPr>
              <a:defRPr sz="2100" b="1">
                <a:solidFill>
                  <a:srgbClr val="2E6F73"/>
                </a:solidFill>
                <a:latin typeface="Arial"/>
                <a:ea typeface="Arial"/>
                <a:cs typeface="Arial"/>
              </a:defRPr>
            </a:lvl1pPr>
            <a:lvl2pPr>
              <a:defRPr sz="2100" b="1">
                <a:solidFill>
                  <a:srgbClr val="2E6F73"/>
                </a:solidFill>
                <a:latin typeface="Arial"/>
                <a:ea typeface="Arial"/>
                <a:cs typeface="Arial"/>
              </a:defRPr>
            </a:lvl2pPr>
            <a:lvl3pPr>
              <a:defRPr sz="2100" b="1">
                <a:solidFill>
                  <a:srgbClr val="2E6F73"/>
                </a:solidFill>
                <a:latin typeface="Arial"/>
                <a:ea typeface="Arial"/>
                <a:cs typeface="Arial"/>
              </a:defRPr>
            </a:lvl3pPr>
            <a:lvl4pPr>
              <a:defRPr sz="2100" b="1">
                <a:solidFill>
                  <a:srgbClr val="2E6F73"/>
                </a:solidFill>
                <a:latin typeface="Arial"/>
                <a:ea typeface="Arial"/>
                <a:cs typeface="Arial"/>
              </a:defRPr>
            </a:lvl4pPr>
            <a:lvl5pPr>
              <a:defRPr sz="2100" b="1">
                <a:solidFill>
                  <a:srgbClr val="2E6F73"/>
                </a:solidFill>
                <a:latin typeface="Arial"/>
                <a:ea typeface="Arial"/>
                <a:cs typeface="Arial"/>
              </a:defRPr>
            </a:lvl5pPr>
            <a:lvl6pPr>
              <a:defRPr sz="2100" b="1">
                <a:solidFill>
                  <a:srgbClr val="2E6F73"/>
                </a:solidFill>
                <a:latin typeface="Arial"/>
                <a:ea typeface="Arial"/>
                <a:cs typeface="Arial"/>
              </a:defRPr>
            </a:lvl6pPr>
            <a:lvl7pPr>
              <a:defRPr sz="2100" b="1">
                <a:solidFill>
                  <a:srgbClr val="2E6F73"/>
                </a:solidFill>
                <a:latin typeface="Arial"/>
                <a:ea typeface="Arial"/>
                <a:cs typeface="Arial"/>
              </a:defRPr>
            </a:lvl7pPr>
            <a:lvl8pPr>
              <a:defRPr sz="2100" b="1">
                <a:solidFill>
                  <a:srgbClr val="2E6F73"/>
                </a:solidFill>
                <a:latin typeface="Arial"/>
                <a:ea typeface="Arial"/>
                <a:cs typeface="Arial"/>
              </a:defRPr>
            </a:lvl8pPr>
            <a:lvl9pPr>
              <a:defRPr sz="2100" b="1">
                <a:solidFill>
                  <a:srgbClr val="2E6F73"/>
                </a:solidFill>
                <a:latin typeface="Arial"/>
                <a:ea typeface="Arial"/>
                <a:cs typeface="Arial"/>
              </a:defRPr>
            </a:lvl9pPr>
          </a:lstStyle>
          <a:p>
            <a:pPr>
              <a:defRPr sz="2100" b="1">
                <a:solidFill>
                  <a:srgbClr val="2E6F73"/>
                </a:solidFill>
                <a:latin typeface="Arial"/>
                <a:ea typeface="Arial"/>
                <a:cs typeface="Arial"/>
              </a:defRPr>
            </a:pPr>
            <a:r>
              <a:rPr sz="2100" b="1">
                <a:solidFill>
                  <a:srgbClr val="2E6F73"/>
                </a:solidFill>
                <a:latin typeface="Arial"/>
                <a:ea typeface="Arial"/>
                <a:cs typeface="Arial"/>
              </a:rPr>
              <a:t>Choose an untreated comparison</a:t>
            </a:r>
          </a:p>
        </p:txBody>
      </p:sp>
      <p:sp>
        <p:nvSpPr>
          <p:cNvPr id="6" name="text-5">
            <a:extLst>
              <a:ext uri="{FF2B5EF4-FFF2-40B4-BE49-F238E27FC236}">
                <a16:creationId xmlns:a16="http://schemas.microsoft.com/office/drawing/2014/main" id="{9A80588F-1AF7-4360-B8F4-2F82160CE35D}"/>
              </a:ext>
            </a:extLst>
          </p:cNvPr>
          <p:cNvSpPr>
            <a:spLocks noGrp="1"/>
          </p:cNvSpPr>
          <p:nvPr/>
        </p:nvSpPr>
        <p:spPr>
          <a:xfrm>
            <a:off x="552450" y="3267075"/>
            <a:ext cx="10668000" cy="781050"/>
          </a:xfrm>
          <a:prstGeom prst="rect">
            <a:avLst/>
          </a:prstGeom>
          <a:noFill/>
          <a:ln w="0">
            <a:noFill/>
            <a:prstDash val="solid"/>
          </a:ln>
        </p:spPr>
        <p:txBody>
          <a:bodyPr lIns="0" tIns="0" rIns="0" bIns="0" anchor="t"/>
          <a:lstStyle>
            <a:defPPr>
              <a:defRPr sz="2025" b="0">
                <a:solidFill>
                  <a:srgbClr val="1F2A36"/>
                </a:solidFill>
                <a:latin typeface="Arial"/>
                <a:ea typeface="Arial"/>
                <a:cs typeface="Arial"/>
              </a:defRPr>
            </a:defPPr>
            <a:lvl1pPr>
              <a:defRPr sz="2025" b="0">
                <a:solidFill>
                  <a:srgbClr val="1F2A36"/>
                </a:solidFill>
                <a:latin typeface="Arial"/>
                <a:ea typeface="Arial"/>
                <a:cs typeface="Arial"/>
              </a:defRPr>
            </a:lvl1pPr>
            <a:lvl2pPr>
              <a:defRPr sz="2025" b="0">
                <a:solidFill>
                  <a:srgbClr val="1F2A36"/>
                </a:solidFill>
                <a:latin typeface="Arial"/>
                <a:ea typeface="Arial"/>
                <a:cs typeface="Arial"/>
              </a:defRPr>
            </a:lvl2pPr>
            <a:lvl3pPr>
              <a:defRPr sz="2025" b="0">
                <a:solidFill>
                  <a:srgbClr val="1F2A36"/>
                </a:solidFill>
                <a:latin typeface="Arial"/>
                <a:ea typeface="Arial"/>
                <a:cs typeface="Arial"/>
              </a:defRPr>
            </a:lvl3pPr>
            <a:lvl4pPr>
              <a:defRPr sz="2025" b="0">
                <a:solidFill>
                  <a:srgbClr val="1F2A36"/>
                </a:solidFill>
                <a:latin typeface="Arial"/>
                <a:ea typeface="Arial"/>
                <a:cs typeface="Arial"/>
              </a:defRPr>
            </a:lvl4pPr>
            <a:lvl5pPr>
              <a:defRPr sz="2025" b="0">
                <a:solidFill>
                  <a:srgbClr val="1F2A36"/>
                </a:solidFill>
                <a:latin typeface="Arial"/>
                <a:ea typeface="Arial"/>
                <a:cs typeface="Arial"/>
              </a:defRPr>
            </a:lvl5pPr>
            <a:lvl6pPr>
              <a:defRPr sz="2025" b="0">
                <a:solidFill>
                  <a:srgbClr val="1F2A36"/>
                </a:solidFill>
                <a:latin typeface="Arial"/>
                <a:ea typeface="Arial"/>
                <a:cs typeface="Arial"/>
              </a:defRPr>
            </a:lvl6pPr>
            <a:lvl7pPr>
              <a:defRPr sz="2025" b="0">
                <a:solidFill>
                  <a:srgbClr val="1F2A36"/>
                </a:solidFill>
                <a:latin typeface="Arial"/>
                <a:ea typeface="Arial"/>
                <a:cs typeface="Arial"/>
              </a:defRPr>
            </a:lvl7pPr>
            <a:lvl8pPr>
              <a:defRPr sz="2025" b="0">
                <a:solidFill>
                  <a:srgbClr val="1F2A36"/>
                </a:solidFill>
                <a:latin typeface="Arial"/>
                <a:ea typeface="Arial"/>
                <a:cs typeface="Arial"/>
              </a:defRPr>
            </a:lvl8pPr>
            <a:lvl9pPr>
              <a:defRPr sz="2025" b="0">
                <a:solidFill>
                  <a:srgbClr val="1F2A36"/>
                </a:solidFill>
                <a:latin typeface="Arial"/>
                <a:ea typeface="Arial"/>
                <a:cs typeface="Arial"/>
              </a:defRPr>
            </a:lvl9pPr>
          </a:lstStyle>
          <a:p>
            <a:pPr>
              <a:defRPr sz="2025" b="0">
                <a:solidFill>
                  <a:srgbClr val="1F2A36"/>
                </a:solidFill>
                <a:latin typeface="Arial"/>
                <a:ea typeface="Arial"/>
                <a:cs typeface="Arial"/>
              </a:defRPr>
            </a:pPr>
            <a:r>
              <a:rPr sz="2025" b="0">
                <a:solidFill>
                  <a:srgbClr val="1F2A36"/>
                </a:solidFill>
                <a:latin typeface="Arial"/>
                <a:ea typeface="Arial"/>
                <a:cs typeface="Arial"/>
              </a:rPr>
              <a:t>Use never-treated or eligible not-yet-treated units under explicit assumptions.</a:t>
            </a:r>
          </a:p>
        </p:txBody>
      </p:sp>
      <p:sp>
        <p:nvSpPr>
          <p:cNvPr id="7" name="text-6">
            <a:extLst>
              <a:ext uri="{FF2B5EF4-FFF2-40B4-BE49-F238E27FC236}">
                <a16:creationId xmlns:a16="http://schemas.microsoft.com/office/drawing/2014/main" id="{7337CC06-2043-4989-83B2-011D0C28C2B9}"/>
              </a:ext>
            </a:extLst>
          </p:cNvPr>
          <p:cNvSpPr>
            <a:spLocks noGrp="1"/>
          </p:cNvSpPr>
          <p:nvPr/>
        </p:nvSpPr>
        <p:spPr>
          <a:xfrm>
            <a:off x="552450" y="4143375"/>
            <a:ext cx="10668000" cy="381000"/>
          </a:xfrm>
          <a:prstGeom prst="rect">
            <a:avLst/>
          </a:prstGeom>
          <a:noFill/>
          <a:ln w="0">
            <a:noFill/>
            <a:prstDash val="solid"/>
          </a:ln>
        </p:spPr>
        <p:txBody>
          <a:bodyPr lIns="0" tIns="0" rIns="0" bIns="0" anchor="t"/>
          <a:lstStyle>
            <a:defPPr>
              <a:defRPr sz="2100" b="1">
                <a:solidFill>
                  <a:srgbClr val="2E6F73"/>
                </a:solidFill>
                <a:latin typeface="Arial"/>
                <a:ea typeface="Arial"/>
                <a:cs typeface="Arial"/>
              </a:defRPr>
            </a:defPPr>
            <a:lvl1pPr>
              <a:defRPr sz="2100" b="1">
                <a:solidFill>
                  <a:srgbClr val="2E6F73"/>
                </a:solidFill>
                <a:latin typeface="Arial"/>
                <a:ea typeface="Arial"/>
                <a:cs typeface="Arial"/>
              </a:defRPr>
            </a:lvl1pPr>
            <a:lvl2pPr>
              <a:defRPr sz="2100" b="1">
                <a:solidFill>
                  <a:srgbClr val="2E6F73"/>
                </a:solidFill>
                <a:latin typeface="Arial"/>
                <a:ea typeface="Arial"/>
                <a:cs typeface="Arial"/>
              </a:defRPr>
            </a:lvl2pPr>
            <a:lvl3pPr>
              <a:defRPr sz="2100" b="1">
                <a:solidFill>
                  <a:srgbClr val="2E6F73"/>
                </a:solidFill>
                <a:latin typeface="Arial"/>
                <a:ea typeface="Arial"/>
                <a:cs typeface="Arial"/>
              </a:defRPr>
            </a:lvl3pPr>
            <a:lvl4pPr>
              <a:defRPr sz="2100" b="1">
                <a:solidFill>
                  <a:srgbClr val="2E6F73"/>
                </a:solidFill>
                <a:latin typeface="Arial"/>
                <a:ea typeface="Arial"/>
                <a:cs typeface="Arial"/>
              </a:defRPr>
            </a:lvl4pPr>
            <a:lvl5pPr>
              <a:defRPr sz="2100" b="1">
                <a:solidFill>
                  <a:srgbClr val="2E6F73"/>
                </a:solidFill>
                <a:latin typeface="Arial"/>
                <a:ea typeface="Arial"/>
                <a:cs typeface="Arial"/>
              </a:defRPr>
            </a:lvl5pPr>
            <a:lvl6pPr>
              <a:defRPr sz="2100" b="1">
                <a:solidFill>
                  <a:srgbClr val="2E6F73"/>
                </a:solidFill>
                <a:latin typeface="Arial"/>
                <a:ea typeface="Arial"/>
                <a:cs typeface="Arial"/>
              </a:defRPr>
            </a:lvl6pPr>
            <a:lvl7pPr>
              <a:defRPr sz="2100" b="1">
                <a:solidFill>
                  <a:srgbClr val="2E6F73"/>
                </a:solidFill>
                <a:latin typeface="Arial"/>
                <a:ea typeface="Arial"/>
                <a:cs typeface="Arial"/>
              </a:defRPr>
            </a:lvl7pPr>
            <a:lvl8pPr>
              <a:defRPr sz="2100" b="1">
                <a:solidFill>
                  <a:srgbClr val="2E6F73"/>
                </a:solidFill>
                <a:latin typeface="Arial"/>
                <a:ea typeface="Arial"/>
                <a:cs typeface="Arial"/>
              </a:defRPr>
            </a:lvl8pPr>
            <a:lvl9pPr>
              <a:defRPr sz="2100" b="1">
                <a:solidFill>
                  <a:srgbClr val="2E6F73"/>
                </a:solidFill>
                <a:latin typeface="Arial"/>
                <a:ea typeface="Arial"/>
                <a:cs typeface="Arial"/>
              </a:defRPr>
            </a:lvl9pPr>
          </a:lstStyle>
          <a:p>
            <a:pPr>
              <a:defRPr sz="2100" b="1">
                <a:solidFill>
                  <a:srgbClr val="2E6F73"/>
                </a:solidFill>
                <a:latin typeface="Arial"/>
                <a:ea typeface="Arial"/>
                <a:cs typeface="Arial"/>
              </a:defRPr>
            </a:pPr>
            <a:r>
              <a:rPr sz="2100" b="1">
                <a:solidFill>
                  <a:srgbClr val="2E6F73"/>
                </a:solidFill>
                <a:latin typeface="Arial"/>
                <a:ea typeface="Arial"/>
                <a:cs typeface="Arial"/>
              </a:rPr>
              <a:t>Average for a stated question</a:t>
            </a:r>
          </a:p>
        </p:txBody>
      </p:sp>
      <p:sp>
        <p:nvSpPr>
          <p:cNvPr id="8" name="text-7">
            <a:extLst>
              <a:ext uri="{FF2B5EF4-FFF2-40B4-BE49-F238E27FC236}">
                <a16:creationId xmlns:a16="http://schemas.microsoft.com/office/drawing/2014/main" id="{6D70368D-4448-4A47-922F-462DC2E744E1}"/>
              </a:ext>
            </a:extLst>
          </p:cNvPr>
          <p:cNvSpPr>
            <a:spLocks noGrp="1"/>
          </p:cNvSpPr>
          <p:nvPr/>
        </p:nvSpPr>
        <p:spPr>
          <a:xfrm>
            <a:off x="552450" y="4552950"/>
            <a:ext cx="10668000" cy="781050"/>
          </a:xfrm>
          <a:prstGeom prst="rect">
            <a:avLst/>
          </a:prstGeom>
          <a:noFill/>
          <a:ln w="0">
            <a:noFill/>
            <a:prstDash val="solid"/>
          </a:ln>
        </p:spPr>
        <p:txBody>
          <a:bodyPr lIns="0" tIns="0" rIns="0" bIns="0" anchor="t"/>
          <a:lstStyle>
            <a:defPPr>
              <a:defRPr sz="2025" b="0">
                <a:solidFill>
                  <a:srgbClr val="1F2A36"/>
                </a:solidFill>
                <a:latin typeface="Arial"/>
                <a:ea typeface="Arial"/>
                <a:cs typeface="Arial"/>
              </a:defRPr>
            </a:defPPr>
            <a:lvl1pPr>
              <a:defRPr sz="2025" b="0">
                <a:solidFill>
                  <a:srgbClr val="1F2A36"/>
                </a:solidFill>
                <a:latin typeface="Arial"/>
                <a:ea typeface="Arial"/>
                <a:cs typeface="Arial"/>
              </a:defRPr>
            </a:lvl1pPr>
            <a:lvl2pPr>
              <a:defRPr sz="2025" b="0">
                <a:solidFill>
                  <a:srgbClr val="1F2A36"/>
                </a:solidFill>
                <a:latin typeface="Arial"/>
                <a:ea typeface="Arial"/>
                <a:cs typeface="Arial"/>
              </a:defRPr>
            </a:lvl2pPr>
            <a:lvl3pPr>
              <a:defRPr sz="2025" b="0">
                <a:solidFill>
                  <a:srgbClr val="1F2A36"/>
                </a:solidFill>
                <a:latin typeface="Arial"/>
                <a:ea typeface="Arial"/>
                <a:cs typeface="Arial"/>
              </a:defRPr>
            </a:lvl3pPr>
            <a:lvl4pPr>
              <a:defRPr sz="2025" b="0">
                <a:solidFill>
                  <a:srgbClr val="1F2A36"/>
                </a:solidFill>
                <a:latin typeface="Arial"/>
                <a:ea typeface="Arial"/>
                <a:cs typeface="Arial"/>
              </a:defRPr>
            </a:lvl4pPr>
            <a:lvl5pPr>
              <a:defRPr sz="2025" b="0">
                <a:solidFill>
                  <a:srgbClr val="1F2A36"/>
                </a:solidFill>
                <a:latin typeface="Arial"/>
                <a:ea typeface="Arial"/>
                <a:cs typeface="Arial"/>
              </a:defRPr>
            </a:lvl5pPr>
            <a:lvl6pPr>
              <a:defRPr sz="2025" b="0">
                <a:solidFill>
                  <a:srgbClr val="1F2A36"/>
                </a:solidFill>
                <a:latin typeface="Arial"/>
                <a:ea typeface="Arial"/>
                <a:cs typeface="Arial"/>
              </a:defRPr>
            </a:lvl6pPr>
            <a:lvl7pPr>
              <a:defRPr sz="2025" b="0">
                <a:solidFill>
                  <a:srgbClr val="1F2A36"/>
                </a:solidFill>
                <a:latin typeface="Arial"/>
                <a:ea typeface="Arial"/>
                <a:cs typeface="Arial"/>
              </a:defRPr>
            </a:lvl7pPr>
            <a:lvl8pPr>
              <a:defRPr sz="2025" b="0">
                <a:solidFill>
                  <a:srgbClr val="1F2A36"/>
                </a:solidFill>
                <a:latin typeface="Arial"/>
                <a:ea typeface="Arial"/>
                <a:cs typeface="Arial"/>
              </a:defRPr>
            </a:lvl8pPr>
            <a:lvl9pPr>
              <a:defRPr sz="2025" b="0">
                <a:solidFill>
                  <a:srgbClr val="1F2A36"/>
                </a:solidFill>
                <a:latin typeface="Arial"/>
                <a:ea typeface="Arial"/>
                <a:cs typeface="Arial"/>
              </a:defRPr>
            </a:lvl9pPr>
          </a:lstStyle>
          <a:p>
            <a:pPr>
              <a:defRPr sz="2025" b="0">
                <a:solidFill>
                  <a:srgbClr val="1F2A36"/>
                </a:solidFill>
                <a:latin typeface="Arial"/>
                <a:ea typeface="Arial"/>
                <a:cs typeface="Arial"/>
              </a:defRPr>
            </a:pPr>
            <a:r>
              <a:rPr sz="2025" b="0">
                <a:solidFill>
                  <a:srgbClr val="1F2A36"/>
                </a:solidFill>
                <a:latin typeface="Arial"/>
                <a:ea typeface="Arial"/>
                <a:cs typeface="Arial"/>
              </a:rPr>
              <a:t>Summarize by cohort, time since adoption, or a chosen overall population.</a:t>
            </a:r>
          </a:p>
        </p:txBody>
      </p:sp>
    </p:spTree>
    <p:extLst>
      <p:ext uri="{BB962C8B-B14F-4D97-AF65-F5344CB8AC3E}">
        <p14:creationId xmlns:p14="http://schemas.microsoft.com/office/powerpoint/2010/main" val="9618430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text-0">
            <a:extLst>
              <a:ext uri="{FF2B5EF4-FFF2-40B4-BE49-F238E27FC236}">
                <a16:creationId xmlns:a16="http://schemas.microsoft.com/office/drawing/2014/main" id="{4DA5D371-E487-4A95-AE1D-41DA0B621F36}"/>
              </a:ext>
            </a:extLst>
          </p:cNvPr>
          <p:cNvSpPr>
            <a:spLocks noGrp="1"/>
          </p:cNvSpPr>
          <p:nvPr/>
        </p:nvSpPr>
        <p:spPr>
          <a:xfrm>
            <a:off x="552450" y="361950"/>
            <a:ext cx="11087100" cy="857250"/>
          </a:xfrm>
          <a:prstGeom prst="rect">
            <a:avLst/>
          </a:prstGeom>
          <a:noFill/>
          <a:ln w="0">
            <a:noFill/>
            <a:prstDash val="solid"/>
          </a:ln>
        </p:spPr>
        <p:txBody>
          <a:bodyPr lIns="0" tIns="0" rIns="0" bIns="0" anchor="t"/>
          <a:lstStyle>
            <a:defPPr>
              <a:defRPr sz="3000" b="1">
                <a:solidFill>
                  <a:srgbClr val="1F2A36"/>
                </a:solidFill>
                <a:latin typeface="Arial"/>
                <a:ea typeface="Arial"/>
                <a:cs typeface="Arial"/>
              </a:defRPr>
            </a:defPPr>
            <a:lvl1pPr>
              <a:defRPr sz="3000" b="1">
                <a:solidFill>
                  <a:srgbClr val="1F2A36"/>
                </a:solidFill>
                <a:latin typeface="Arial"/>
                <a:ea typeface="Arial"/>
                <a:cs typeface="Arial"/>
              </a:defRPr>
            </a:lvl1pPr>
            <a:lvl2pPr>
              <a:defRPr sz="3000" b="1">
                <a:solidFill>
                  <a:srgbClr val="1F2A36"/>
                </a:solidFill>
                <a:latin typeface="Arial"/>
                <a:ea typeface="Arial"/>
                <a:cs typeface="Arial"/>
              </a:defRPr>
            </a:lvl2pPr>
            <a:lvl3pPr>
              <a:defRPr sz="3000" b="1">
                <a:solidFill>
                  <a:srgbClr val="1F2A36"/>
                </a:solidFill>
                <a:latin typeface="Arial"/>
                <a:ea typeface="Arial"/>
                <a:cs typeface="Arial"/>
              </a:defRPr>
            </a:lvl3pPr>
            <a:lvl4pPr>
              <a:defRPr sz="3000" b="1">
                <a:solidFill>
                  <a:srgbClr val="1F2A36"/>
                </a:solidFill>
                <a:latin typeface="Arial"/>
                <a:ea typeface="Arial"/>
                <a:cs typeface="Arial"/>
              </a:defRPr>
            </a:lvl4pPr>
            <a:lvl5pPr>
              <a:defRPr sz="3000" b="1">
                <a:solidFill>
                  <a:srgbClr val="1F2A36"/>
                </a:solidFill>
                <a:latin typeface="Arial"/>
                <a:ea typeface="Arial"/>
                <a:cs typeface="Arial"/>
              </a:defRPr>
            </a:lvl5pPr>
            <a:lvl6pPr>
              <a:defRPr sz="3000" b="1">
                <a:solidFill>
                  <a:srgbClr val="1F2A36"/>
                </a:solidFill>
                <a:latin typeface="Arial"/>
                <a:ea typeface="Arial"/>
                <a:cs typeface="Arial"/>
              </a:defRPr>
            </a:lvl6pPr>
            <a:lvl7pPr>
              <a:defRPr sz="3000" b="1">
                <a:solidFill>
                  <a:srgbClr val="1F2A36"/>
                </a:solidFill>
                <a:latin typeface="Arial"/>
                <a:ea typeface="Arial"/>
                <a:cs typeface="Arial"/>
              </a:defRPr>
            </a:lvl7pPr>
            <a:lvl8pPr>
              <a:defRPr sz="3000" b="1">
                <a:solidFill>
                  <a:srgbClr val="1F2A36"/>
                </a:solidFill>
                <a:latin typeface="Arial"/>
                <a:ea typeface="Arial"/>
                <a:cs typeface="Arial"/>
              </a:defRPr>
            </a:lvl8pPr>
            <a:lvl9pPr>
              <a:defRPr sz="3000" b="1">
                <a:solidFill>
                  <a:srgbClr val="1F2A36"/>
                </a:solidFill>
                <a:latin typeface="Arial"/>
                <a:ea typeface="Arial"/>
                <a:cs typeface="Arial"/>
              </a:defRPr>
            </a:lvl9pPr>
          </a:lstStyle>
          <a:p>
            <a:pPr>
              <a:defRPr sz="3000" b="1">
                <a:solidFill>
                  <a:srgbClr val="1F2A36"/>
                </a:solidFill>
                <a:latin typeface="Arial"/>
                <a:ea typeface="Arial"/>
                <a:cs typeface="Arial"/>
              </a:defRPr>
            </a:pPr>
            <a:r>
              <a:rPr sz="3000" b="1">
                <a:solidFill>
                  <a:srgbClr val="1F2A36"/>
                </a:solidFill>
                <a:latin typeface="Arial"/>
                <a:ea typeface="Arial"/>
                <a:cs typeface="Arial"/>
              </a:rPr>
              <a:t>Operation Impact adds treatment-history questions</a:t>
            </a:r>
          </a:p>
        </p:txBody>
      </p:sp>
      <p:sp>
        <p:nvSpPr>
          <p:cNvPr id="2" name="text-1">
            <a:extLst>
              <a:ext uri="{FF2B5EF4-FFF2-40B4-BE49-F238E27FC236}">
                <a16:creationId xmlns:a16="http://schemas.microsoft.com/office/drawing/2014/main" id="{C2AF5AD3-4793-482A-AC85-41FC37F7AC26}"/>
              </a:ext>
            </a:extLst>
          </p:cNvPr>
          <p:cNvSpPr>
            <a:spLocks noGrp="1"/>
          </p:cNvSpPr>
          <p:nvPr/>
        </p:nvSpPr>
        <p:spPr>
          <a:xfrm>
            <a:off x="11239500" y="6400800"/>
            <a:ext cx="476250" cy="266700"/>
          </a:xfrm>
          <a:prstGeom prst="rect">
            <a:avLst/>
          </a:prstGeom>
          <a:noFill/>
          <a:ln w="0">
            <a:noFill/>
            <a:prstDash val="solid"/>
          </a:ln>
        </p:spPr>
        <p:txBody>
          <a:bodyPr lIns="0" tIns="0" rIns="0" bIns="0" anchor="t"/>
          <a:lstStyle>
            <a:defPPr>
              <a:defRPr sz="1350" b="0">
                <a:solidFill>
                  <a:srgbClr val="5B6B78"/>
                </a:solidFill>
                <a:latin typeface="Arial"/>
                <a:ea typeface="Arial"/>
                <a:cs typeface="Arial"/>
              </a:defRPr>
            </a:defPPr>
            <a:lvl1pPr>
              <a:defRPr sz="1350" b="0">
                <a:solidFill>
                  <a:srgbClr val="5B6B78"/>
                </a:solidFill>
                <a:latin typeface="Arial"/>
                <a:ea typeface="Arial"/>
                <a:cs typeface="Arial"/>
              </a:defRPr>
            </a:lvl1pPr>
            <a:lvl2pPr>
              <a:defRPr sz="1350" b="0">
                <a:solidFill>
                  <a:srgbClr val="5B6B78"/>
                </a:solidFill>
                <a:latin typeface="Arial"/>
                <a:ea typeface="Arial"/>
                <a:cs typeface="Arial"/>
              </a:defRPr>
            </a:lvl2pPr>
            <a:lvl3pPr>
              <a:defRPr sz="1350" b="0">
                <a:solidFill>
                  <a:srgbClr val="5B6B78"/>
                </a:solidFill>
                <a:latin typeface="Arial"/>
                <a:ea typeface="Arial"/>
                <a:cs typeface="Arial"/>
              </a:defRPr>
            </a:lvl3pPr>
            <a:lvl4pPr>
              <a:defRPr sz="1350" b="0">
                <a:solidFill>
                  <a:srgbClr val="5B6B78"/>
                </a:solidFill>
                <a:latin typeface="Arial"/>
                <a:ea typeface="Arial"/>
                <a:cs typeface="Arial"/>
              </a:defRPr>
            </a:lvl4pPr>
            <a:lvl5pPr>
              <a:defRPr sz="1350" b="0">
                <a:solidFill>
                  <a:srgbClr val="5B6B78"/>
                </a:solidFill>
                <a:latin typeface="Arial"/>
                <a:ea typeface="Arial"/>
                <a:cs typeface="Arial"/>
              </a:defRPr>
            </a:lvl5pPr>
            <a:lvl6pPr>
              <a:defRPr sz="1350" b="0">
                <a:solidFill>
                  <a:srgbClr val="5B6B78"/>
                </a:solidFill>
                <a:latin typeface="Arial"/>
                <a:ea typeface="Arial"/>
                <a:cs typeface="Arial"/>
              </a:defRPr>
            </a:lvl6pPr>
            <a:lvl7pPr>
              <a:defRPr sz="1350" b="0">
                <a:solidFill>
                  <a:srgbClr val="5B6B78"/>
                </a:solidFill>
                <a:latin typeface="Arial"/>
                <a:ea typeface="Arial"/>
                <a:cs typeface="Arial"/>
              </a:defRPr>
            </a:lvl7pPr>
            <a:lvl8pPr>
              <a:defRPr sz="1350" b="0">
                <a:solidFill>
                  <a:srgbClr val="5B6B78"/>
                </a:solidFill>
                <a:latin typeface="Arial"/>
                <a:ea typeface="Arial"/>
                <a:cs typeface="Arial"/>
              </a:defRPr>
            </a:lvl8pPr>
            <a:lvl9pPr>
              <a:defRPr sz="1350" b="0">
                <a:solidFill>
                  <a:srgbClr val="5B6B78"/>
                </a:solidFill>
                <a:latin typeface="Arial"/>
                <a:ea typeface="Arial"/>
                <a:cs typeface="Arial"/>
              </a:defRPr>
            </a:lvl9pPr>
          </a:lstStyle>
          <a:p>
            <a:pPr>
              <a:defRPr sz="1350" b="0">
                <a:solidFill>
                  <a:srgbClr val="5B6B78"/>
                </a:solidFill>
                <a:latin typeface="Arial"/>
                <a:ea typeface="Arial"/>
                <a:cs typeface="Arial"/>
              </a:defRPr>
            </a:pPr>
            <a:r>
              <a:rPr sz="1350" b="0">
                <a:solidFill>
                  <a:srgbClr val="5B6B78"/>
                </a:solidFill>
                <a:latin typeface="Arial"/>
                <a:ea typeface="Arial"/>
                <a:cs typeface="Arial"/>
              </a:rPr>
              <a:t>18</a:t>
            </a:r>
          </a:p>
        </p:txBody>
      </p:sp>
      <p:sp>
        <p:nvSpPr>
          <p:cNvPr id="3" name="text-2">
            <a:extLst>
              <a:ext uri="{FF2B5EF4-FFF2-40B4-BE49-F238E27FC236}">
                <a16:creationId xmlns:a16="http://schemas.microsoft.com/office/drawing/2014/main" id="{20EA8AED-FE34-4C0E-84DC-AA4F01187F52}"/>
              </a:ext>
            </a:extLst>
          </p:cNvPr>
          <p:cNvSpPr>
            <a:spLocks noGrp="1"/>
          </p:cNvSpPr>
          <p:nvPr/>
        </p:nvSpPr>
        <p:spPr>
          <a:xfrm>
            <a:off x="552450" y="1571625"/>
            <a:ext cx="10763250" cy="428625"/>
          </a:xfrm>
          <a:prstGeom prst="rect">
            <a:avLst/>
          </a:prstGeom>
          <a:noFill/>
          <a:ln w="0">
            <a:noFill/>
            <a:prstDash val="solid"/>
          </a:ln>
        </p:spPr>
        <p:txBody>
          <a:bodyPr lIns="0" tIns="0" rIns="0" bIns="0" anchor="t"/>
          <a:lstStyle>
            <a:defPPr>
              <a:defRPr sz="2250" b="1">
                <a:solidFill>
                  <a:srgbClr val="2E6F73"/>
                </a:solidFill>
                <a:latin typeface="Arial"/>
                <a:ea typeface="Arial"/>
                <a:cs typeface="Arial"/>
              </a:defRPr>
            </a:defPPr>
            <a:lvl1pPr>
              <a:defRPr sz="2250" b="1">
                <a:solidFill>
                  <a:srgbClr val="2E6F73"/>
                </a:solidFill>
                <a:latin typeface="Arial"/>
                <a:ea typeface="Arial"/>
                <a:cs typeface="Arial"/>
              </a:defRPr>
            </a:lvl1pPr>
            <a:lvl2pPr>
              <a:defRPr sz="2250" b="1">
                <a:solidFill>
                  <a:srgbClr val="2E6F73"/>
                </a:solidFill>
                <a:latin typeface="Arial"/>
                <a:ea typeface="Arial"/>
                <a:cs typeface="Arial"/>
              </a:defRPr>
            </a:lvl2pPr>
            <a:lvl3pPr>
              <a:defRPr sz="2250" b="1">
                <a:solidFill>
                  <a:srgbClr val="2E6F73"/>
                </a:solidFill>
                <a:latin typeface="Arial"/>
                <a:ea typeface="Arial"/>
                <a:cs typeface="Arial"/>
              </a:defRPr>
            </a:lvl3pPr>
            <a:lvl4pPr>
              <a:defRPr sz="2250" b="1">
                <a:solidFill>
                  <a:srgbClr val="2E6F73"/>
                </a:solidFill>
                <a:latin typeface="Arial"/>
                <a:ea typeface="Arial"/>
                <a:cs typeface="Arial"/>
              </a:defRPr>
            </a:lvl4pPr>
            <a:lvl5pPr>
              <a:defRPr sz="2250" b="1">
                <a:solidFill>
                  <a:srgbClr val="2E6F73"/>
                </a:solidFill>
                <a:latin typeface="Arial"/>
                <a:ea typeface="Arial"/>
                <a:cs typeface="Arial"/>
              </a:defRPr>
            </a:lvl5pPr>
            <a:lvl6pPr>
              <a:defRPr sz="2250" b="1">
                <a:solidFill>
                  <a:srgbClr val="2E6F73"/>
                </a:solidFill>
                <a:latin typeface="Arial"/>
                <a:ea typeface="Arial"/>
                <a:cs typeface="Arial"/>
              </a:defRPr>
            </a:lvl6pPr>
            <a:lvl7pPr>
              <a:defRPr sz="2250" b="1">
                <a:solidFill>
                  <a:srgbClr val="2E6F73"/>
                </a:solidFill>
                <a:latin typeface="Arial"/>
                <a:ea typeface="Arial"/>
                <a:cs typeface="Arial"/>
              </a:defRPr>
            </a:lvl7pPr>
            <a:lvl8pPr>
              <a:defRPr sz="2250" b="1">
                <a:solidFill>
                  <a:srgbClr val="2E6F73"/>
                </a:solidFill>
                <a:latin typeface="Arial"/>
                <a:ea typeface="Arial"/>
                <a:cs typeface="Arial"/>
              </a:defRPr>
            </a:lvl8pPr>
            <a:lvl9pPr>
              <a:defRPr sz="2250" b="1">
                <a:solidFill>
                  <a:srgbClr val="2E6F73"/>
                </a:solidFill>
                <a:latin typeface="Arial"/>
                <a:ea typeface="Arial"/>
                <a:cs typeface="Arial"/>
              </a:defRPr>
            </a:lvl9pPr>
          </a:lstStyle>
          <a:p>
            <a:pPr>
              <a:defRPr sz="2250" b="1">
                <a:solidFill>
                  <a:srgbClr val="2E6F73"/>
                </a:solidFill>
                <a:latin typeface="Arial"/>
                <a:ea typeface="Arial"/>
                <a:cs typeface="Arial"/>
              </a:defRPr>
            </a:pPr>
            <a:r>
              <a:rPr sz="2250" b="1">
                <a:solidFill>
                  <a:srgbClr val="2E6F73"/>
                </a:solidFill>
                <a:latin typeface="Arial"/>
                <a:ea typeface="Arial"/>
                <a:cs typeface="Arial"/>
              </a:rPr>
              <a:t>Staggered adoption</a:t>
            </a:r>
          </a:p>
        </p:txBody>
      </p:sp>
      <p:sp>
        <p:nvSpPr>
          <p:cNvPr id="4" name="text-3">
            <a:extLst>
              <a:ext uri="{FF2B5EF4-FFF2-40B4-BE49-F238E27FC236}">
                <a16:creationId xmlns:a16="http://schemas.microsoft.com/office/drawing/2014/main" id="{E6488E26-048D-4801-B5EE-35C0DAEAA951}"/>
              </a:ext>
            </a:extLst>
          </p:cNvPr>
          <p:cNvSpPr>
            <a:spLocks noGrp="1"/>
          </p:cNvSpPr>
          <p:nvPr/>
        </p:nvSpPr>
        <p:spPr>
          <a:xfrm>
            <a:off x="552450" y="2143125"/>
            <a:ext cx="10763250" cy="571500"/>
          </a:xfrm>
          <a:prstGeom prst="rect">
            <a:avLst/>
          </a:prstGeom>
          <a:noFill/>
          <a:ln w="0">
            <a:noFill/>
            <a:prstDash val="solid"/>
          </a:ln>
        </p:spPr>
        <p:txBody>
          <a:bodyPr lIns="0" tIns="0" rIns="0" bIns="0" anchor="t"/>
          <a:lstStyle>
            <a:defPPr>
              <a:defRPr sz="2400" b="0">
                <a:solidFill>
                  <a:srgbClr val="1F2A36"/>
                </a:solidFill>
                <a:latin typeface="Arial"/>
                <a:ea typeface="Arial"/>
                <a:cs typeface="Arial"/>
              </a:defRPr>
            </a:defPPr>
            <a:lvl1pPr>
              <a:defRPr sz="2400" b="0">
                <a:solidFill>
                  <a:srgbClr val="1F2A36"/>
                </a:solidFill>
                <a:latin typeface="Arial"/>
                <a:ea typeface="Arial"/>
                <a:cs typeface="Arial"/>
              </a:defRPr>
            </a:lvl1pPr>
            <a:lvl2pPr>
              <a:defRPr sz="2400" b="0">
                <a:solidFill>
                  <a:srgbClr val="1F2A36"/>
                </a:solidFill>
                <a:latin typeface="Arial"/>
                <a:ea typeface="Arial"/>
                <a:cs typeface="Arial"/>
              </a:defRPr>
            </a:lvl2pPr>
            <a:lvl3pPr>
              <a:defRPr sz="2400" b="0">
                <a:solidFill>
                  <a:srgbClr val="1F2A36"/>
                </a:solidFill>
                <a:latin typeface="Arial"/>
                <a:ea typeface="Arial"/>
                <a:cs typeface="Arial"/>
              </a:defRPr>
            </a:lvl3pPr>
            <a:lvl4pPr>
              <a:defRPr sz="2400" b="0">
                <a:solidFill>
                  <a:srgbClr val="1F2A36"/>
                </a:solidFill>
                <a:latin typeface="Arial"/>
                <a:ea typeface="Arial"/>
                <a:cs typeface="Arial"/>
              </a:defRPr>
            </a:lvl4pPr>
            <a:lvl5pPr>
              <a:defRPr sz="2400" b="0">
                <a:solidFill>
                  <a:srgbClr val="1F2A36"/>
                </a:solidFill>
                <a:latin typeface="Arial"/>
                <a:ea typeface="Arial"/>
                <a:cs typeface="Arial"/>
              </a:defRPr>
            </a:lvl5pPr>
            <a:lvl6pPr>
              <a:defRPr sz="2400" b="0">
                <a:solidFill>
                  <a:srgbClr val="1F2A36"/>
                </a:solidFill>
                <a:latin typeface="Arial"/>
                <a:ea typeface="Arial"/>
                <a:cs typeface="Arial"/>
              </a:defRPr>
            </a:lvl6pPr>
            <a:lvl7pPr>
              <a:defRPr sz="2400" b="0">
                <a:solidFill>
                  <a:srgbClr val="1F2A36"/>
                </a:solidFill>
                <a:latin typeface="Arial"/>
                <a:ea typeface="Arial"/>
                <a:cs typeface="Arial"/>
              </a:defRPr>
            </a:lvl7pPr>
            <a:lvl8pPr>
              <a:defRPr sz="2400" b="0">
                <a:solidFill>
                  <a:srgbClr val="1F2A36"/>
                </a:solidFill>
                <a:latin typeface="Arial"/>
                <a:ea typeface="Arial"/>
                <a:cs typeface="Arial"/>
              </a:defRPr>
            </a:lvl8pPr>
            <a:lvl9pPr>
              <a:defRPr sz="2400" b="0">
                <a:solidFill>
                  <a:srgbClr val="1F2A36"/>
                </a:solidFill>
                <a:latin typeface="Arial"/>
                <a:ea typeface="Arial"/>
                <a:cs typeface="Arial"/>
              </a:defRPr>
            </a:lvl9pPr>
          </a:lstStyle>
          <a:p>
            <a:pPr>
              <a:defRPr sz="2400" b="0">
                <a:solidFill>
                  <a:srgbClr val="1F2A36"/>
                </a:solidFill>
                <a:latin typeface="Arial"/>
                <a:ea typeface="Arial"/>
                <a:cs typeface="Arial"/>
              </a:defRPr>
            </a:pPr>
            <a:r>
              <a:rPr sz="2400" b="0">
                <a:solidFill>
                  <a:srgbClr val="1F2A36"/>
                </a:solidFill>
                <a:latin typeface="Arial"/>
                <a:ea typeface="Arial"/>
                <a:cs typeface="Arial"/>
              </a:rPr>
              <a:t>Units begin treatment at different dates.</a:t>
            </a:r>
          </a:p>
        </p:txBody>
      </p:sp>
      <p:sp>
        <p:nvSpPr>
          <p:cNvPr id="5" name="text-4">
            <a:extLst>
              <a:ext uri="{FF2B5EF4-FFF2-40B4-BE49-F238E27FC236}">
                <a16:creationId xmlns:a16="http://schemas.microsoft.com/office/drawing/2014/main" id="{D647CDD4-B84E-49C3-9F45-426F0EBD63B2}"/>
              </a:ext>
            </a:extLst>
          </p:cNvPr>
          <p:cNvSpPr>
            <a:spLocks noGrp="1"/>
          </p:cNvSpPr>
          <p:nvPr/>
        </p:nvSpPr>
        <p:spPr>
          <a:xfrm>
            <a:off x="552450" y="3238500"/>
            <a:ext cx="10763250" cy="476250"/>
          </a:xfrm>
          <a:prstGeom prst="rect">
            <a:avLst/>
          </a:prstGeom>
          <a:noFill/>
          <a:ln w="0">
            <a:noFill/>
            <a:prstDash val="solid"/>
          </a:ln>
        </p:spPr>
        <p:txBody>
          <a:bodyPr lIns="0" tIns="0" rIns="0" bIns="0" anchor="t"/>
          <a:lstStyle>
            <a:defPPr>
              <a:defRPr sz="2250" b="1">
                <a:solidFill>
                  <a:srgbClr val="C8553D"/>
                </a:solidFill>
                <a:latin typeface="Arial"/>
                <a:ea typeface="Arial"/>
                <a:cs typeface="Arial"/>
              </a:defRPr>
            </a:defPPr>
            <a:lvl1pPr>
              <a:defRPr sz="2250" b="1">
                <a:solidFill>
                  <a:srgbClr val="C8553D"/>
                </a:solidFill>
                <a:latin typeface="Arial"/>
                <a:ea typeface="Arial"/>
                <a:cs typeface="Arial"/>
              </a:defRPr>
            </a:lvl1pPr>
            <a:lvl2pPr>
              <a:defRPr sz="2250" b="1">
                <a:solidFill>
                  <a:srgbClr val="C8553D"/>
                </a:solidFill>
                <a:latin typeface="Arial"/>
                <a:ea typeface="Arial"/>
                <a:cs typeface="Arial"/>
              </a:defRPr>
            </a:lvl2pPr>
            <a:lvl3pPr>
              <a:defRPr sz="2250" b="1">
                <a:solidFill>
                  <a:srgbClr val="C8553D"/>
                </a:solidFill>
                <a:latin typeface="Arial"/>
                <a:ea typeface="Arial"/>
                <a:cs typeface="Arial"/>
              </a:defRPr>
            </a:lvl3pPr>
            <a:lvl4pPr>
              <a:defRPr sz="2250" b="1">
                <a:solidFill>
                  <a:srgbClr val="C8553D"/>
                </a:solidFill>
                <a:latin typeface="Arial"/>
                <a:ea typeface="Arial"/>
                <a:cs typeface="Arial"/>
              </a:defRPr>
            </a:lvl4pPr>
            <a:lvl5pPr>
              <a:defRPr sz="2250" b="1">
                <a:solidFill>
                  <a:srgbClr val="C8553D"/>
                </a:solidFill>
                <a:latin typeface="Arial"/>
                <a:ea typeface="Arial"/>
                <a:cs typeface="Arial"/>
              </a:defRPr>
            </a:lvl5pPr>
            <a:lvl6pPr>
              <a:defRPr sz="2250" b="1">
                <a:solidFill>
                  <a:srgbClr val="C8553D"/>
                </a:solidFill>
                <a:latin typeface="Arial"/>
                <a:ea typeface="Arial"/>
                <a:cs typeface="Arial"/>
              </a:defRPr>
            </a:lvl6pPr>
            <a:lvl7pPr>
              <a:defRPr sz="2250" b="1">
                <a:solidFill>
                  <a:srgbClr val="C8553D"/>
                </a:solidFill>
                <a:latin typeface="Arial"/>
                <a:ea typeface="Arial"/>
                <a:cs typeface="Arial"/>
              </a:defRPr>
            </a:lvl7pPr>
            <a:lvl8pPr>
              <a:defRPr sz="2250" b="1">
                <a:solidFill>
                  <a:srgbClr val="C8553D"/>
                </a:solidFill>
                <a:latin typeface="Arial"/>
                <a:ea typeface="Arial"/>
                <a:cs typeface="Arial"/>
              </a:defRPr>
            </a:lvl8pPr>
            <a:lvl9pPr>
              <a:defRPr sz="2250" b="1">
                <a:solidFill>
                  <a:srgbClr val="C8553D"/>
                </a:solidFill>
                <a:latin typeface="Arial"/>
                <a:ea typeface="Arial"/>
                <a:cs typeface="Arial"/>
              </a:defRPr>
            </a:lvl9pPr>
          </a:lstStyle>
          <a:p>
            <a:pPr>
              <a:defRPr sz="2250" b="1">
                <a:solidFill>
                  <a:srgbClr val="C8553D"/>
                </a:solidFill>
                <a:latin typeface="Arial"/>
                <a:ea typeface="Arial"/>
                <a:cs typeface="Arial"/>
              </a:defRPr>
            </a:pPr>
            <a:r>
              <a:rPr sz="2250" b="1">
                <a:solidFill>
                  <a:srgbClr val="C8553D"/>
                </a:solidFill>
                <a:latin typeface="Arial"/>
                <a:ea typeface="Arial"/>
                <a:cs typeface="Arial"/>
              </a:rPr>
              <a:t>Additional complications in Operation Impact</a:t>
            </a:r>
          </a:p>
        </p:txBody>
      </p:sp>
      <p:sp>
        <p:nvSpPr>
          <p:cNvPr id="6" name="text-5">
            <a:extLst>
              <a:ext uri="{FF2B5EF4-FFF2-40B4-BE49-F238E27FC236}">
                <a16:creationId xmlns:a16="http://schemas.microsoft.com/office/drawing/2014/main" id="{C2DC8663-B23F-4CD7-98F2-FBB859C3094A}"/>
              </a:ext>
            </a:extLst>
          </p:cNvPr>
          <p:cNvSpPr>
            <a:spLocks noGrp="1"/>
          </p:cNvSpPr>
          <p:nvPr/>
        </p:nvSpPr>
        <p:spPr>
          <a:xfrm>
            <a:off x="552450" y="3857625"/>
            <a:ext cx="10763250" cy="714375"/>
          </a:xfrm>
          <a:prstGeom prst="rect">
            <a:avLst/>
          </a:prstGeom>
          <a:noFill/>
          <a:ln w="0">
            <a:noFill/>
            <a:prstDash val="solid"/>
          </a:ln>
        </p:spPr>
        <p:txBody>
          <a:bodyPr lIns="0" tIns="0" rIns="0" bIns="0" anchor="t"/>
          <a:lstStyle>
            <a:defPPr>
              <a:defRPr sz="2400" b="0">
                <a:solidFill>
                  <a:srgbClr val="1F2A36"/>
                </a:solidFill>
                <a:latin typeface="Arial"/>
                <a:ea typeface="Arial"/>
                <a:cs typeface="Arial"/>
              </a:defRPr>
            </a:defPPr>
            <a:lvl1pPr>
              <a:defRPr sz="2400" b="0">
                <a:solidFill>
                  <a:srgbClr val="1F2A36"/>
                </a:solidFill>
                <a:latin typeface="Arial"/>
                <a:ea typeface="Arial"/>
                <a:cs typeface="Arial"/>
              </a:defRPr>
            </a:lvl1pPr>
            <a:lvl2pPr>
              <a:defRPr sz="2400" b="0">
                <a:solidFill>
                  <a:srgbClr val="1F2A36"/>
                </a:solidFill>
                <a:latin typeface="Arial"/>
                <a:ea typeface="Arial"/>
                <a:cs typeface="Arial"/>
              </a:defRPr>
            </a:lvl2pPr>
            <a:lvl3pPr>
              <a:defRPr sz="2400" b="0">
                <a:solidFill>
                  <a:srgbClr val="1F2A36"/>
                </a:solidFill>
                <a:latin typeface="Arial"/>
                <a:ea typeface="Arial"/>
                <a:cs typeface="Arial"/>
              </a:defRPr>
            </a:lvl3pPr>
            <a:lvl4pPr>
              <a:defRPr sz="2400" b="0">
                <a:solidFill>
                  <a:srgbClr val="1F2A36"/>
                </a:solidFill>
                <a:latin typeface="Arial"/>
                <a:ea typeface="Arial"/>
                <a:cs typeface="Arial"/>
              </a:defRPr>
            </a:lvl4pPr>
            <a:lvl5pPr>
              <a:defRPr sz="2400" b="0">
                <a:solidFill>
                  <a:srgbClr val="1F2A36"/>
                </a:solidFill>
                <a:latin typeface="Arial"/>
                <a:ea typeface="Arial"/>
                <a:cs typeface="Arial"/>
              </a:defRPr>
            </a:lvl5pPr>
            <a:lvl6pPr>
              <a:defRPr sz="2400" b="0">
                <a:solidFill>
                  <a:srgbClr val="1F2A36"/>
                </a:solidFill>
                <a:latin typeface="Arial"/>
                <a:ea typeface="Arial"/>
                <a:cs typeface="Arial"/>
              </a:defRPr>
            </a:lvl6pPr>
            <a:lvl7pPr>
              <a:defRPr sz="2400" b="0">
                <a:solidFill>
                  <a:srgbClr val="1F2A36"/>
                </a:solidFill>
                <a:latin typeface="Arial"/>
                <a:ea typeface="Arial"/>
                <a:cs typeface="Arial"/>
              </a:defRPr>
            </a:lvl7pPr>
            <a:lvl8pPr>
              <a:defRPr sz="2400" b="0">
                <a:solidFill>
                  <a:srgbClr val="1F2A36"/>
                </a:solidFill>
                <a:latin typeface="Arial"/>
                <a:ea typeface="Arial"/>
                <a:cs typeface="Arial"/>
              </a:defRPr>
            </a:lvl8pPr>
            <a:lvl9pPr>
              <a:defRPr sz="2400" b="0">
                <a:solidFill>
                  <a:srgbClr val="1F2A36"/>
                </a:solidFill>
                <a:latin typeface="Arial"/>
                <a:ea typeface="Arial"/>
                <a:cs typeface="Arial"/>
              </a:defRPr>
            </a:lvl9pPr>
          </a:lstStyle>
          <a:p>
            <a:pPr>
              <a:defRPr sz="2400" b="0">
                <a:solidFill>
                  <a:srgbClr val="1F2A36"/>
                </a:solidFill>
                <a:latin typeface="Arial"/>
                <a:ea typeface="Arial"/>
                <a:cs typeface="Arial"/>
              </a:defRPr>
            </a:pPr>
            <a:r>
              <a:rPr sz="2400" b="0">
                <a:solidFill>
                  <a:srgbClr val="1F2A36"/>
                </a:solidFill>
                <a:latin typeface="Arial"/>
                <a:ea typeface="Arial"/>
                <a:cs typeface="Arial"/>
              </a:rPr>
              <a:t>Zones can end or change. Exposure varies in duration.</a:t>
            </a:r>
          </a:p>
        </p:txBody>
      </p:sp>
      <p:sp>
        <p:nvSpPr>
          <p:cNvPr id="7" name="text-6">
            <a:extLst>
              <a:ext uri="{FF2B5EF4-FFF2-40B4-BE49-F238E27FC236}">
                <a16:creationId xmlns:a16="http://schemas.microsoft.com/office/drawing/2014/main" id="{B202510E-6BEB-4625-AACF-CA0D0F543D3C}"/>
              </a:ext>
            </a:extLst>
          </p:cNvPr>
          <p:cNvSpPr>
            <a:spLocks noGrp="1"/>
          </p:cNvSpPr>
          <p:nvPr/>
        </p:nvSpPr>
        <p:spPr>
          <a:xfrm>
            <a:off x="552450" y="5048250"/>
            <a:ext cx="10763250" cy="952500"/>
          </a:xfrm>
          <a:prstGeom prst="rect">
            <a:avLst/>
          </a:prstGeom>
          <a:noFill/>
          <a:ln w="0">
            <a:noFill/>
            <a:prstDash val="solid"/>
          </a:ln>
        </p:spPr>
        <p:txBody>
          <a:bodyPr lIns="0" tIns="0" rIns="0" bIns="0" anchor="t"/>
          <a:lstStyle>
            <a:defPPr>
              <a:defRPr sz="2175" b="1">
                <a:solidFill>
                  <a:srgbClr val="1F2A36"/>
                </a:solidFill>
                <a:latin typeface="Arial"/>
                <a:ea typeface="Arial"/>
                <a:cs typeface="Arial"/>
              </a:defRPr>
            </a:defPPr>
            <a:lvl1pPr>
              <a:defRPr sz="2175" b="1">
                <a:solidFill>
                  <a:srgbClr val="1F2A36"/>
                </a:solidFill>
                <a:latin typeface="Arial"/>
                <a:ea typeface="Arial"/>
                <a:cs typeface="Arial"/>
              </a:defRPr>
            </a:lvl1pPr>
            <a:lvl2pPr>
              <a:defRPr sz="2175" b="1">
                <a:solidFill>
                  <a:srgbClr val="1F2A36"/>
                </a:solidFill>
                <a:latin typeface="Arial"/>
                <a:ea typeface="Arial"/>
                <a:cs typeface="Arial"/>
              </a:defRPr>
            </a:lvl2pPr>
            <a:lvl3pPr>
              <a:defRPr sz="2175" b="1">
                <a:solidFill>
                  <a:srgbClr val="1F2A36"/>
                </a:solidFill>
                <a:latin typeface="Arial"/>
                <a:ea typeface="Arial"/>
                <a:cs typeface="Arial"/>
              </a:defRPr>
            </a:lvl3pPr>
            <a:lvl4pPr>
              <a:defRPr sz="2175" b="1">
                <a:solidFill>
                  <a:srgbClr val="1F2A36"/>
                </a:solidFill>
                <a:latin typeface="Arial"/>
                <a:ea typeface="Arial"/>
                <a:cs typeface="Arial"/>
              </a:defRPr>
            </a:lvl4pPr>
            <a:lvl5pPr>
              <a:defRPr sz="2175" b="1">
                <a:solidFill>
                  <a:srgbClr val="1F2A36"/>
                </a:solidFill>
                <a:latin typeface="Arial"/>
                <a:ea typeface="Arial"/>
                <a:cs typeface="Arial"/>
              </a:defRPr>
            </a:lvl5pPr>
            <a:lvl6pPr>
              <a:defRPr sz="2175" b="1">
                <a:solidFill>
                  <a:srgbClr val="1F2A36"/>
                </a:solidFill>
                <a:latin typeface="Arial"/>
                <a:ea typeface="Arial"/>
                <a:cs typeface="Arial"/>
              </a:defRPr>
            </a:lvl6pPr>
            <a:lvl7pPr>
              <a:defRPr sz="2175" b="1">
                <a:solidFill>
                  <a:srgbClr val="1F2A36"/>
                </a:solidFill>
                <a:latin typeface="Arial"/>
                <a:ea typeface="Arial"/>
                <a:cs typeface="Arial"/>
              </a:defRPr>
            </a:lvl7pPr>
            <a:lvl8pPr>
              <a:defRPr sz="2175" b="1">
                <a:solidFill>
                  <a:srgbClr val="1F2A36"/>
                </a:solidFill>
                <a:latin typeface="Arial"/>
                <a:ea typeface="Arial"/>
                <a:cs typeface="Arial"/>
              </a:defRPr>
            </a:lvl8pPr>
            <a:lvl9pPr>
              <a:defRPr sz="2175" b="1">
                <a:solidFill>
                  <a:srgbClr val="1F2A36"/>
                </a:solidFill>
                <a:latin typeface="Arial"/>
                <a:ea typeface="Arial"/>
                <a:cs typeface="Arial"/>
              </a:defRPr>
            </a:lvl9pPr>
          </a:lstStyle>
          <a:p>
            <a:pPr>
              <a:defRPr sz="2175" b="1">
                <a:solidFill>
                  <a:srgbClr val="1F2A36"/>
                </a:solidFill>
                <a:latin typeface="Arial"/>
                <a:ea typeface="Arial"/>
                <a:cs typeface="Arial"/>
              </a:defRPr>
            </a:pPr>
            <a:r>
              <a:rPr sz="2175" b="1">
                <a:solidFill>
                  <a:srgbClr val="1F2A36"/>
                </a:solidFill>
                <a:latin typeface="Arial"/>
                <a:ea typeface="Arial"/>
                <a:cs typeface="Arial"/>
              </a:rPr>
              <a:t>A “first treatment year” alone does not capture that history.</a:t>
            </a:r>
          </a:p>
          <a:p>
            <a:pPr>
              <a:defRPr sz="2175" b="1">
                <a:solidFill>
                  <a:srgbClr val="1F2A36"/>
                </a:solidFill>
                <a:latin typeface="Arial"/>
                <a:ea typeface="Arial"/>
                <a:cs typeface="Arial"/>
              </a:defRPr>
            </a:pPr>
            <a:r>
              <a:rPr sz="2175" b="1">
                <a:solidFill>
                  <a:srgbClr val="1F2A36"/>
                </a:solidFill>
                <a:latin typeface="Arial"/>
                <a:ea typeface="Arial"/>
                <a:cs typeface="Arial"/>
              </a:rPr>
              <a:t>The estimator must match the exposure and causal question.</a:t>
            </a:r>
          </a:p>
        </p:txBody>
      </p:sp>
    </p:spTree>
    <p:extLst>
      <p:ext uri="{BB962C8B-B14F-4D97-AF65-F5344CB8AC3E}">
        <p14:creationId xmlns:p14="http://schemas.microsoft.com/office/powerpoint/2010/main" val="17717826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ext-0">
            <a:extLst>
              <a:ext uri="{FF2B5EF4-FFF2-40B4-BE49-F238E27FC236}">
                <a16:creationId xmlns:a16="http://schemas.microsoft.com/office/drawing/2014/main" id="{D57CA994-09C2-4DE5-8DDB-0DECA0492F4F}"/>
              </a:ext>
            </a:extLst>
          </p:cNvPr>
          <p:cNvSpPr>
            <a:spLocks noGrp="1"/>
          </p:cNvSpPr>
          <p:nvPr/>
        </p:nvSpPr>
        <p:spPr>
          <a:xfrm>
            <a:off x="552450" y="361950"/>
            <a:ext cx="11087100" cy="857250"/>
          </a:xfrm>
          <a:prstGeom prst="rect">
            <a:avLst/>
          </a:prstGeom>
          <a:noFill/>
          <a:ln w="0">
            <a:noFill/>
            <a:prstDash val="solid"/>
          </a:ln>
        </p:spPr>
        <p:txBody>
          <a:bodyPr lIns="0" tIns="0" rIns="0" bIns="0" anchor="t"/>
          <a:lstStyle>
            <a:defPPr>
              <a:defRPr sz="3000" b="1">
                <a:solidFill>
                  <a:srgbClr val="1F2A36"/>
                </a:solidFill>
                <a:latin typeface="Arial"/>
                <a:ea typeface="Arial"/>
                <a:cs typeface="Arial"/>
              </a:defRPr>
            </a:defPPr>
            <a:lvl1pPr>
              <a:defRPr sz="3000" b="1">
                <a:solidFill>
                  <a:srgbClr val="1F2A36"/>
                </a:solidFill>
                <a:latin typeface="Arial"/>
                <a:ea typeface="Arial"/>
                <a:cs typeface="Arial"/>
              </a:defRPr>
            </a:lvl1pPr>
            <a:lvl2pPr>
              <a:defRPr sz="3000" b="1">
                <a:solidFill>
                  <a:srgbClr val="1F2A36"/>
                </a:solidFill>
                <a:latin typeface="Arial"/>
                <a:ea typeface="Arial"/>
                <a:cs typeface="Arial"/>
              </a:defRPr>
            </a:lvl2pPr>
            <a:lvl3pPr>
              <a:defRPr sz="3000" b="1">
                <a:solidFill>
                  <a:srgbClr val="1F2A36"/>
                </a:solidFill>
                <a:latin typeface="Arial"/>
                <a:ea typeface="Arial"/>
                <a:cs typeface="Arial"/>
              </a:defRPr>
            </a:lvl3pPr>
            <a:lvl4pPr>
              <a:defRPr sz="3000" b="1">
                <a:solidFill>
                  <a:srgbClr val="1F2A36"/>
                </a:solidFill>
                <a:latin typeface="Arial"/>
                <a:ea typeface="Arial"/>
                <a:cs typeface="Arial"/>
              </a:defRPr>
            </a:lvl4pPr>
            <a:lvl5pPr>
              <a:defRPr sz="3000" b="1">
                <a:solidFill>
                  <a:srgbClr val="1F2A36"/>
                </a:solidFill>
                <a:latin typeface="Arial"/>
                <a:ea typeface="Arial"/>
                <a:cs typeface="Arial"/>
              </a:defRPr>
            </a:lvl5pPr>
            <a:lvl6pPr>
              <a:defRPr sz="3000" b="1">
                <a:solidFill>
                  <a:srgbClr val="1F2A36"/>
                </a:solidFill>
                <a:latin typeface="Arial"/>
                <a:ea typeface="Arial"/>
                <a:cs typeface="Arial"/>
              </a:defRPr>
            </a:lvl6pPr>
            <a:lvl7pPr>
              <a:defRPr sz="3000" b="1">
                <a:solidFill>
                  <a:srgbClr val="1F2A36"/>
                </a:solidFill>
                <a:latin typeface="Arial"/>
                <a:ea typeface="Arial"/>
                <a:cs typeface="Arial"/>
              </a:defRPr>
            </a:lvl7pPr>
            <a:lvl8pPr>
              <a:defRPr sz="3000" b="1">
                <a:solidFill>
                  <a:srgbClr val="1F2A36"/>
                </a:solidFill>
                <a:latin typeface="Arial"/>
                <a:ea typeface="Arial"/>
                <a:cs typeface="Arial"/>
              </a:defRPr>
            </a:lvl8pPr>
            <a:lvl9pPr>
              <a:defRPr sz="3000" b="1">
                <a:solidFill>
                  <a:srgbClr val="1F2A36"/>
                </a:solidFill>
                <a:latin typeface="Arial"/>
                <a:ea typeface="Arial"/>
                <a:cs typeface="Arial"/>
              </a:defRPr>
            </a:lvl9pPr>
          </a:lstStyle>
          <a:p>
            <a:pPr>
              <a:defRPr sz="3000" b="1">
                <a:solidFill>
                  <a:srgbClr val="1F2A36"/>
                </a:solidFill>
                <a:latin typeface="Arial"/>
                <a:ea typeface="Arial"/>
                <a:cs typeface="Arial"/>
              </a:defRPr>
            </a:pPr>
            <a:r>
              <a:rPr sz="3000" b="1">
                <a:solidFill>
                  <a:srgbClr val="1F2A36"/>
                </a:solidFill>
                <a:latin typeface="Arial"/>
                <a:ea typeface="Arial"/>
                <a:cs typeface="Arial"/>
              </a:rPr>
              <a:t>Exit ticket: explain the comparison</a:t>
            </a:r>
          </a:p>
        </p:txBody>
      </p:sp>
      <p:sp>
        <p:nvSpPr>
          <p:cNvPr id="2" name="text-1">
            <a:extLst>
              <a:ext uri="{FF2B5EF4-FFF2-40B4-BE49-F238E27FC236}">
                <a16:creationId xmlns:a16="http://schemas.microsoft.com/office/drawing/2014/main" id="{E1B956CC-0959-4485-879C-3F9106448B6A}"/>
              </a:ext>
            </a:extLst>
          </p:cNvPr>
          <p:cNvSpPr>
            <a:spLocks noGrp="1"/>
          </p:cNvSpPr>
          <p:nvPr/>
        </p:nvSpPr>
        <p:spPr>
          <a:xfrm>
            <a:off x="11239500" y="6400800"/>
            <a:ext cx="476250" cy="266700"/>
          </a:xfrm>
          <a:prstGeom prst="rect">
            <a:avLst/>
          </a:prstGeom>
          <a:noFill/>
          <a:ln w="0">
            <a:noFill/>
            <a:prstDash val="solid"/>
          </a:ln>
        </p:spPr>
        <p:txBody>
          <a:bodyPr lIns="0" tIns="0" rIns="0" bIns="0" anchor="t"/>
          <a:lstStyle>
            <a:defPPr>
              <a:defRPr sz="1350" b="0">
                <a:solidFill>
                  <a:srgbClr val="5B6B78"/>
                </a:solidFill>
                <a:latin typeface="Arial"/>
                <a:ea typeface="Arial"/>
                <a:cs typeface="Arial"/>
              </a:defRPr>
            </a:defPPr>
            <a:lvl1pPr>
              <a:defRPr sz="1350" b="0">
                <a:solidFill>
                  <a:srgbClr val="5B6B78"/>
                </a:solidFill>
                <a:latin typeface="Arial"/>
                <a:ea typeface="Arial"/>
                <a:cs typeface="Arial"/>
              </a:defRPr>
            </a:lvl1pPr>
            <a:lvl2pPr>
              <a:defRPr sz="1350" b="0">
                <a:solidFill>
                  <a:srgbClr val="5B6B78"/>
                </a:solidFill>
                <a:latin typeface="Arial"/>
                <a:ea typeface="Arial"/>
                <a:cs typeface="Arial"/>
              </a:defRPr>
            </a:lvl2pPr>
            <a:lvl3pPr>
              <a:defRPr sz="1350" b="0">
                <a:solidFill>
                  <a:srgbClr val="5B6B78"/>
                </a:solidFill>
                <a:latin typeface="Arial"/>
                <a:ea typeface="Arial"/>
                <a:cs typeface="Arial"/>
              </a:defRPr>
            </a:lvl3pPr>
            <a:lvl4pPr>
              <a:defRPr sz="1350" b="0">
                <a:solidFill>
                  <a:srgbClr val="5B6B78"/>
                </a:solidFill>
                <a:latin typeface="Arial"/>
                <a:ea typeface="Arial"/>
                <a:cs typeface="Arial"/>
              </a:defRPr>
            </a:lvl4pPr>
            <a:lvl5pPr>
              <a:defRPr sz="1350" b="0">
                <a:solidFill>
                  <a:srgbClr val="5B6B78"/>
                </a:solidFill>
                <a:latin typeface="Arial"/>
                <a:ea typeface="Arial"/>
                <a:cs typeface="Arial"/>
              </a:defRPr>
            </a:lvl5pPr>
            <a:lvl6pPr>
              <a:defRPr sz="1350" b="0">
                <a:solidFill>
                  <a:srgbClr val="5B6B78"/>
                </a:solidFill>
                <a:latin typeface="Arial"/>
                <a:ea typeface="Arial"/>
                <a:cs typeface="Arial"/>
              </a:defRPr>
            </a:lvl6pPr>
            <a:lvl7pPr>
              <a:defRPr sz="1350" b="0">
                <a:solidFill>
                  <a:srgbClr val="5B6B78"/>
                </a:solidFill>
                <a:latin typeface="Arial"/>
                <a:ea typeface="Arial"/>
                <a:cs typeface="Arial"/>
              </a:defRPr>
            </a:lvl7pPr>
            <a:lvl8pPr>
              <a:defRPr sz="1350" b="0">
                <a:solidFill>
                  <a:srgbClr val="5B6B78"/>
                </a:solidFill>
                <a:latin typeface="Arial"/>
                <a:ea typeface="Arial"/>
                <a:cs typeface="Arial"/>
              </a:defRPr>
            </a:lvl8pPr>
            <a:lvl9pPr>
              <a:defRPr sz="1350" b="0">
                <a:solidFill>
                  <a:srgbClr val="5B6B78"/>
                </a:solidFill>
                <a:latin typeface="Arial"/>
                <a:ea typeface="Arial"/>
                <a:cs typeface="Arial"/>
              </a:defRPr>
            </a:lvl9pPr>
          </a:lstStyle>
          <a:p>
            <a:pPr>
              <a:defRPr sz="1350" b="0">
                <a:solidFill>
                  <a:srgbClr val="5B6B78"/>
                </a:solidFill>
                <a:latin typeface="Arial"/>
                <a:ea typeface="Arial"/>
                <a:cs typeface="Arial"/>
              </a:defRPr>
            </a:pPr>
            <a:r>
              <a:rPr sz="1350" b="0">
                <a:solidFill>
                  <a:srgbClr val="5B6B78"/>
                </a:solidFill>
                <a:latin typeface="Arial"/>
                <a:ea typeface="Arial"/>
                <a:cs typeface="Arial"/>
              </a:rPr>
              <a:t>19</a:t>
            </a:r>
          </a:p>
        </p:txBody>
      </p:sp>
      <p:sp>
        <p:nvSpPr>
          <p:cNvPr id="3" name="text-2">
            <a:extLst>
              <a:ext uri="{FF2B5EF4-FFF2-40B4-BE49-F238E27FC236}">
                <a16:creationId xmlns:a16="http://schemas.microsoft.com/office/drawing/2014/main" id="{0AD23C81-501F-471A-BB50-3FDF87D7A0A8}"/>
              </a:ext>
            </a:extLst>
          </p:cNvPr>
          <p:cNvSpPr>
            <a:spLocks noGrp="1"/>
          </p:cNvSpPr>
          <p:nvPr/>
        </p:nvSpPr>
        <p:spPr>
          <a:xfrm>
            <a:off x="552450" y="1571625"/>
            <a:ext cx="10668000" cy="381000"/>
          </a:xfrm>
          <a:prstGeom prst="rect">
            <a:avLst/>
          </a:prstGeom>
          <a:noFill/>
          <a:ln w="0">
            <a:noFill/>
            <a:prstDash val="solid"/>
          </a:ln>
        </p:spPr>
        <p:txBody>
          <a:bodyPr lIns="0" tIns="0" rIns="0" bIns="0" anchor="t"/>
          <a:lstStyle>
            <a:defPPr>
              <a:defRPr sz="2100" b="1">
                <a:solidFill>
                  <a:srgbClr val="2E6F73"/>
                </a:solidFill>
                <a:latin typeface="Arial"/>
                <a:ea typeface="Arial"/>
                <a:cs typeface="Arial"/>
              </a:defRPr>
            </a:defPPr>
            <a:lvl1pPr>
              <a:defRPr sz="2100" b="1">
                <a:solidFill>
                  <a:srgbClr val="2E6F73"/>
                </a:solidFill>
                <a:latin typeface="Arial"/>
                <a:ea typeface="Arial"/>
                <a:cs typeface="Arial"/>
              </a:defRPr>
            </a:lvl1pPr>
            <a:lvl2pPr>
              <a:defRPr sz="2100" b="1">
                <a:solidFill>
                  <a:srgbClr val="2E6F73"/>
                </a:solidFill>
                <a:latin typeface="Arial"/>
                <a:ea typeface="Arial"/>
                <a:cs typeface="Arial"/>
              </a:defRPr>
            </a:lvl2pPr>
            <a:lvl3pPr>
              <a:defRPr sz="2100" b="1">
                <a:solidFill>
                  <a:srgbClr val="2E6F73"/>
                </a:solidFill>
                <a:latin typeface="Arial"/>
                <a:ea typeface="Arial"/>
                <a:cs typeface="Arial"/>
              </a:defRPr>
            </a:lvl3pPr>
            <a:lvl4pPr>
              <a:defRPr sz="2100" b="1">
                <a:solidFill>
                  <a:srgbClr val="2E6F73"/>
                </a:solidFill>
                <a:latin typeface="Arial"/>
                <a:ea typeface="Arial"/>
                <a:cs typeface="Arial"/>
              </a:defRPr>
            </a:lvl4pPr>
            <a:lvl5pPr>
              <a:defRPr sz="2100" b="1">
                <a:solidFill>
                  <a:srgbClr val="2E6F73"/>
                </a:solidFill>
                <a:latin typeface="Arial"/>
                <a:ea typeface="Arial"/>
                <a:cs typeface="Arial"/>
              </a:defRPr>
            </a:lvl5pPr>
            <a:lvl6pPr>
              <a:defRPr sz="2100" b="1">
                <a:solidFill>
                  <a:srgbClr val="2E6F73"/>
                </a:solidFill>
                <a:latin typeface="Arial"/>
                <a:ea typeface="Arial"/>
                <a:cs typeface="Arial"/>
              </a:defRPr>
            </a:lvl6pPr>
            <a:lvl7pPr>
              <a:defRPr sz="2100" b="1">
                <a:solidFill>
                  <a:srgbClr val="2E6F73"/>
                </a:solidFill>
                <a:latin typeface="Arial"/>
                <a:ea typeface="Arial"/>
                <a:cs typeface="Arial"/>
              </a:defRPr>
            </a:lvl7pPr>
            <a:lvl8pPr>
              <a:defRPr sz="2100" b="1">
                <a:solidFill>
                  <a:srgbClr val="2E6F73"/>
                </a:solidFill>
                <a:latin typeface="Arial"/>
                <a:ea typeface="Arial"/>
                <a:cs typeface="Arial"/>
              </a:defRPr>
            </a:lvl8pPr>
            <a:lvl9pPr>
              <a:defRPr sz="2100" b="1">
                <a:solidFill>
                  <a:srgbClr val="2E6F73"/>
                </a:solidFill>
                <a:latin typeface="Arial"/>
                <a:ea typeface="Arial"/>
                <a:cs typeface="Arial"/>
              </a:defRPr>
            </a:lvl9pPr>
          </a:lstStyle>
          <a:p>
            <a:pPr>
              <a:defRPr sz="2100" b="1">
                <a:solidFill>
                  <a:srgbClr val="2E6F73"/>
                </a:solidFill>
                <a:latin typeface="Arial"/>
                <a:ea typeface="Arial"/>
                <a:cs typeface="Arial"/>
              </a:defRPr>
            </a:pPr>
            <a:r>
              <a:rPr sz="2100" b="1">
                <a:solidFill>
                  <a:srgbClr val="2E6F73"/>
                </a:solidFill>
                <a:latin typeface="Arial"/>
                <a:ea typeface="Arial"/>
                <a:cs typeface="Arial"/>
              </a:rPr>
              <a:t>1. Parallel trends</a:t>
            </a:r>
          </a:p>
        </p:txBody>
      </p:sp>
      <p:sp>
        <p:nvSpPr>
          <p:cNvPr id="4" name="text-3">
            <a:extLst>
              <a:ext uri="{FF2B5EF4-FFF2-40B4-BE49-F238E27FC236}">
                <a16:creationId xmlns:a16="http://schemas.microsoft.com/office/drawing/2014/main" id="{E74E9CF0-D7C7-4066-AB35-F728305CF3E1}"/>
              </a:ext>
            </a:extLst>
          </p:cNvPr>
          <p:cNvSpPr>
            <a:spLocks noGrp="1"/>
          </p:cNvSpPr>
          <p:nvPr/>
        </p:nvSpPr>
        <p:spPr>
          <a:xfrm>
            <a:off x="552450" y="1981200"/>
            <a:ext cx="10668000" cy="781050"/>
          </a:xfrm>
          <a:prstGeom prst="rect">
            <a:avLst/>
          </a:prstGeom>
          <a:noFill/>
          <a:ln w="0">
            <a:noFill/>
            <a:prstDash val="solid"/>
          </a:ln>
        </p:spPr>
        <p:txBody>
          <a:bodyPr lIns="0" tIns="0" rIns="0" bIns="0" anchor="t"/>
          <a:lstStyle>
            <a:defPPr>
              <a:defRPr sz="2025" b="0">
                <a:solidFill>
                  <a:srgbClr val="1F2A36"/>
                </a:solidFill>
                <a:latin typeface="Arial"/>
                <a:ea typeface="Arial"/>
                <a:cs typeface="Arial"/>
              </a:defRPr>
            </a:defPPr>
            <a:lvl1pPr>
              <a:defRPr sz="2025" b="0">
                <a:solidFill>
                  <a:srgbClr val="1F2A36"/>
                </a:solidFill>
                <a:latin typeface="Arial"/>
                <a:ea typeface="Arial"/>
                <a:cs typeface="Arial"/>
              </a:defRPr>
            </a:lvl1pPr>
            <a:lvl2pPr>
              <a:defRPr sz="2025" b="0">
                <a:solidFill>
                  <a:srgbClr val="1F2A36"/>
                </a:solidFill>
                <a:latin typeface="Arial"/>
                <a:ea typeface="Arial"/>
                <a:cs typeface="Arial"/>
              </a:defRPr>
            </a:lvl2pPr>
            <a:lvl3pPr>
              <a:defRPr sz="2025" b="0">
                <a:solidFill>
                  <a:srgbClr val="1F2A36"/>
                </a:solidFill>
                <a:latin typeface="Arial"/>
                <a:ea typeface="Arial"/>
                <a:cs typeface="Arial"/>
              </a:defRPr>
            </a:lvl3pPr>
            <a:lvl4pPr>
              <a:defRPr sz="2025" b="0">
                <a:solidFill>
                  <a:srgbClr val="1F2A36"/>
                </a:solidFill>
                <a:latin typeface="Arial"/>
                <a:ea typeface="Arial"/>
                <a:cs typeface="Arial"/>
              </a:defRPr>
            </a:lvl4pPr>
            <a:lvl5pPr>
              <a:defRPr sz="2025" b="0">
                <a:solidFill>
                  <a:srgbClr val="1F2A36"/>
                </a:solidFill>
                <a:latin typeface="Arial"/>
                <a:ea typeface="Arial"/>
                <a:cs typeface="Arial"/>
              </a:defRPr>
            </a:lvl5pPr>
            <a:lvl6pPr>
              <a:defRPr sz="2025" b="0">
                <a:solidFill>
                  <a:srgbClr val="1F2A36"/>
                </a:solidFill>
                <a:latin typeface="Arial"/>
                <a:ea typeface="Arial"/>
                <a:cs typeface="Arial"/>
              </a:defRPr>
            </a:lvl6pPr>
            <a:lvl7pPr>
              <a:defRPr sz="2025" b="0">
                <a:solidFill>
                  <a:srgbClr val="1F2A36"/>
                </a:solidFill>
                <a:latin typeface="Arial"/>
                <a:ea typeface="Arial"/>
                <a:cs typeface="Arial"/>
              </a:defRPr>
            </a:lvl7pPr>
            <a:lvl8pPr>
              <a:defRPr sz="2025" b="0">
                <a:solidFill>
                  <a:srgbClr val="1F2A36"/>
                </a:solidFill>
                <a:latin typeface="Arial"/>
                <a:ea typeface="Arial"/>
                <a:cs typeface="Arial"/>
              </a:defRPr>
            </a:lvl8pPr>
            <a:lvl9pPr>
              <a:defRPr sz="2025" b="0">
                <a:solidFill>
                  <a:srgbClr val="1F2A36"/>
                </a:solidFill>
                <a:latin typeface="Arial"/>
                <a:ea typeface="Arial"/>
                <a:cs typeface="Arial"/>
              </a:defRPr>
            </a:lvl9pPr>
          </a:lstStyle>
          <a:p>
            <a:pPr>
              <a:defRPr sz="2025" b="0">
                <a:solidFill>
                  <a:srgbClr val="1F2A36"/>
                </a:solidFill>
                <a:latin typeface="Arial"/>
                <a:ea typeface="Arial"/>
                <a:cs typeface="Arial"/>
              </a:defRPr>
            </a:pPr>
            <a:r>
              <a:rPr sz="2025" b="0">
                <a:solidFill>
                  <a:srgbClr val="1F2A36"/>
                </a:solidFill>
                <a:latin typeface="Arial"/>
                <a:ea typeface="Arial"/>
                <a:cs typeface="Arial"/>
              </a:rPr>
              <a:t>Why can different starting test scores still be compatible with DiD?</a:t>
            </a:r>
          </a:p>
        </p:txBody>
      </p:sp>
      <p:sp>
        <p:nvSpPr>
          <p:cNvPr id="5" name="text-4">
            <a:extLst>
              <a:ext uri="{FF2B5EF4-FFF2-40B4-BE49-F238E27FC236}">
                <a16:creationId xmlns:a16="http://schemas.microsoft.com/office/drawing/2014/main" id="{7BE62A45-4861-4F0D-880E-943597877BA9}"/>
              </a:ext>
            </a:extLst>
          </p:cNvPr>
          <p:cNvSpPr>
            <a:spLocks noGrp="1"/>
          </p:cNvSpPr>
          <p:nvPr/>
        </p:nvSpPr>
        <p:spPr>
          <a:xfrm>
            <a:off x="552450" y="2857500"/>
            <a:ext cx="10668000" cy="381000"/>
          </a:xfrm>
          <a:prstGeom prst="rect">
            <a:avLst/>
          </a:prstGeom>
          <a:noFill/>
          <a:ln w="0">
            <a:noFill/>
            <a:prstDash val="solid"/>
          </a:ln>
        </p:spPr>
        <p:txBody>
          <a:bodyPr lIns="0" tIns="0" rIns="0" bIns="0" anchor="t"/>
          <a:lstStyle>
            <a:defPPr>
              <a:defRPr sz="2100" b="1">
                <a:solidFill>
                  <a:srgbClr val="2E6F73"/>
                </a:solidFill>
                <a:latin typeface="Arial"/>
                <a:ea typeface="Arial"/>
                <a:cs typeface="Arial"/>
              </a:defRPr>
            </a:defPPr>
            <a:lvl1pPr>
              <a:defRPr sz="2100" b="1">
                <a:solidFill>
                  <a:srgbClr val="2E6F73"/>
                </a:solidFill>
                <a:latin typeface="Arial"/>
                <a:ea typeface="Arial"/>
                <a:cs typeface="Arial"/>
              </a:defRPr>
            </a:lvl1pPr>
            <a:lvl2pPr>
              <a:defRPr sz="2100" b="1">
                <a:solidFill>
                  <a:srgbClr val="2E6F73"/>
                </a:solidFill>
                <a:latin typeface="Arial"/>
                <a:ea typeface="Arial"/>
                <a:cs typeface="Arial"/>
              </a:defRPr>
            </a:lvl2pPr>
            <a:lvl3pPr>
              <a:defRPr sz="2100" b="1">
                <a:solidFill>
                  <a:srgbClr val="2E6F73"/>
                </a:solidFill>
                <a:latin typeface="Arial"/>
                <a:ea typeface="Arial"/>
                <a:cs typeface="Arial"/>
              </a:defRPr>
            </a:lvl3pPr>
            <a:lvl4pPr>
              <a:defRPr sz="2100" b="1">
                <a:solidFill>
                  <a:srgbClr val="2E6F73"/>
                </a:solidFill>
                <a:latin typeface="Arial"/>
                <a:ea typeface="Arial"/>
                <a:cs typeface="Arial"/>
              </a:defRPr>
            </a:lvl4pPr>
            <a:lvl5pPr>
              <a:defRPr sz="2100" b="1">
                <a:solidFill>
                  <a:srgbClr val="2E6F73"/>
                </a:solidFill>
                <a:latin typeface="Arial"/>
                <a:ea typeface="Arial"/>
                <a:cs typeface="Arial"/>
              </a:defRPr>
            </a:lvl5pPr>
            <a:lvl6pPr>
              <a:defRPr sz="2100" b="1">
                <a:solidFill>
                  <a:srgbClr val="2E6F73"/>
                </a:solidFill>
                <a:latin typeface="Arial"/>
                <a:ea typeface="Arial"/>
                <a:cs typeface="Arial"/>
              </a:defRPr>
            </a:lvl6pPr>
            <a:lvl7pPr>
              <a:defRPr sz="2100" b="1">
                <a:solidFill>
                  <a:srgbClr val="2E6F73"/>
                </a:solidFill>
                <a:latin typeface="Arial"/>
                <a:ea typeface="Arial"/>
                <a:cs typeface="Arial"/>
              </a:defRPr>
            </a:lvl7pPr>
            <a:lvl8pPr>
              <a:defRPr sz="2100" b="1">
                <a:solidFill>
                  <a:srgbClr val="2E6F73"/>
                </a:solidFill>
                <a:latin typeface="Arial"/>
                <a:ea typeface="Arial"/>
                <a:cs typeface="Arial"/>
              </a:defRPr>
            </a:lvl8pPr>
            <a:lvl9pPr>
              <a:defRPr sz="2100" b="1">
                <a:solidFill>
                  <a:srgbClr val="2E6F73"/>
                </a:solidFill>
                <a:latin typeface="Arial"/>
                <a:ea typeface="Arial"/>
                <a:cs typeface="Arial"/>
              </a:defRPr>
            </a:lvl9pPr>
          </a:lstStyle>
          <a:p>
            <a:pPr>
              <a:defRPr sz="2100" b="1">
                <a:solidFill>
                  <a:srgbClr val="2E6F73"/>
                </a:solidFill>
                <a:latin typeface="Arial"/>
                <a:ea typeface="Arial"/>
                <a:cs typeface="Arial"/>
              </a:defRPr>
            </a:pPr>
            <a:r>
              <a:rPr sz="2100" b="1">
                <a:solidFill>
                  <a:srgbClr val="2E6F73"/>
                </a:solidFill>
                <a:latin typeface="Arial"/>
                <a:ea typeface="Arial"/>
                <a:cs typeface="Arial"/>
              </a:rPr>
              <a:t>2. Evidence</a:t>
            </a:r>
          </a:p>
        </p:txBody>
      </p:sp>
      <p:sp>
        <p:nvSpPr>
          <p:cNvPr id="6" name="text-5">
            <a:extLst>
              <a:ext uri="{FF2B5EF4-FFF2-40B4-BE49-F238E27FC236}">
                <a16:creationId xmlns:a16="http://schemas.microsoft.com/office/drawing/2014/main" id="{77F22F7A-7A14-42C0-969C-82C9234BA48C}"/>
              </a:ext>
            </a:extLst>
          </p:cNvPr>
          <p:cNvSpPr>
            <a:spLocks noGrp="1"/>
          </p:cNvSpPr>
          <p:nvPr/>
        </p:nvSpPr>
        <p:spPr>
          <a:xfrm>
            <a:off x="552450" y="3267075"/>
            <a:ext cx="10668000" cy="781050"/>
          </a:xfrm>
          <a:prstGeom prst="rect">
            <a:avLst/>
          </a:prstGeom>
          <a:noFill/>
          <a:ln w="0">
            <a:noFill/>
            <a:prstDash val="solid"/>
          </a:ln>
        </p:spPr>
        <p:txBody>
          <a:bodyPr lIns="0" tIns="0" rIns="0" bIns="0" anchor="t"/>
          <a:lstStyle>
            <a:defPPr>
              <a:defRPr sz="2025" b="0">
                <a:solidFill>
                  <a:srgbClr val="1F2A36"/>
                </a:solidFill>
                <a:latin typeface="Arial"/>
                <a:ea typeface="Arial"/>
                <a:cs typeface="Arial"/>
              </a:defRPr>
            </a:defPPr>
            <a:lvl1pPr>
              <a:defRPr sz="2025" b="0">
                <a:solidFill>
                  <a:srgbClr val="1F2A36"/>
                </a:solidFill>
                <a:latin typeface="Arial"/>
                <a:ea typeface="Arial"/>
                <a:cs typeface="Arial"/>
              </a:defRPr>
            </a:lvl1pPr>
            <a:lvl2pPr>
              <a:defRPr sz="2025" b="0">
                <a:solidFill>
                  <a:srgbClr val="1F2A36"/>
                </a:solidFill>
                <a:latin typeface="Arial"/>
                <a:ea typeface="Arial"/>
                <a:cs typeface="Arial"/>
              </a:defRPr>
            </a:lvl2pPr>
            <a:lvl3pPr>
              <a:defRPr sz="2025" b="0">
                <a:solidFill>
                  <a:srgbClr val="1F2A36"/>
                </a:solidFill>
                <a:latin typeface="Arial"/>
                <a:ea typeface="Arial"/>
                <a:cs typeface="Arial"/>
              </a:defRPr>
            </a:lvl3pPr>
            <a:lvl4pPr>
              <a:defRPr sz="2025" b="0">
                <a:solidFill>
                  <a:srgbClr val="1F2A36"/>
                </a:solidFill>
                <a:latin typeface="Arial"/>
                <a:ea typeface="Arial"/>
                <a:cs typeface="Arial"/>
              </a:defRPr>
            </a:lvl4pPr>
            <a:lvl5pPr>
              <a:defRPr sz="2025" b="0">
                <a:solidFill>
                  <a:srgbClr val="1F2A36"/>
                </a:solidFill>
                <a:latin typeface="Arial"/>
                <a:ea typeface="Arial"/>
                <a:cs typeface="Arial"/>
              </a:defRPr>
            </a:lvl5pPr>
            <a:lvl6pPr>
              <a:defRPr sz="2025" b="0">
                <a:solidFill>
                  <a:srgbClr val="1F2A36"/>
                </a:solidFill>
                <a:latin typeface="Arial"/>
                <a:ea typeface="Arial"/>
                <a:cs typeface="Arial"/>
              </a:defRPr>
            </a:lvl6pPr>
            <a:lvl7pPr>
              <a:defRPr sz="2025" b="0">
                <a:solidFill>
                  <a:srgbClr val="1F2A36"/>
                </a:solidFill>
                <a:latin typeface="Arial"/>
                <a:ea typeface="Arial"/>
                <a:cs typeface="Arial"/>
              </a:defRPr>
            </a:lvl7pPr>
            <a:lvl8pPr>
              <a:defRPr sz="2025" b="0">
                <a:solidFill>
                  <a:srgbClr val="1F2A36"/>
                </a:solidFill>
                <a:latin typeface="Arial"/>
                <a:ea typeface="Arial"/>
                <a:cs typeface="Arial"/>
              </a:defRPr>
            </a:lvl8pPr>
            <a:lvl9pPr>
              <a:defRPr sz="2025" b="0">
                <a:solidFill>
                  <a:srgbClr val="1F2A36"/>
                </a:solidFill>
                <a:latin typeface="Arial"/>
                <a:ea typeface="Arial"/>
                <a:cs typeface="Arial"/>
              </a:defRPr>
            </a:lvl9pPr>
          </a:lstStyle>
          <a:p>
            <a:pPr>
              <a:defRPr sz="2025" b="0">
                <a:solidFill>
                  <a:srgbClr val="1F2A36"/>
                </a:solidFill>
                <a:latin typeface="Arial"/>
                <a:ea typeface="Arial"/>
                <a:cs typeface="Arial"/>
              </a:defRPr>
            </a:pPr>
            <a:r>
              <a:rPr sz="2025" b="0">
                <a:solidFill>
                  <a:srgbClr val="1F2A36"/>
                </a:solidFill>
                <a:latin typeface="Arial"/>
                <a:ea typeface="Arial"/>
                <a:cs typeface="Arial"/>
              </a:rPr>
              <a:t>Why does a non-significant pre-trend test not prove the assumption?</a:t>
            </a:r>
          </a:p>
        </p:txBody>
      </p:sp>
      <p:sp>
        <p:nvSpPr>
          <p:cNvPr id="7" name="text-6">
            <a:extLst>
              <a:ext uri="{FF2B5EF4-FFF2-40B4-BE49-F238E27FC236}">
                <a16:creationId xmlns:a16="http://schemas.microsoft.com/office/drawing/2014/main" id="{A70891FE-8898-4CA3-807C-DED13CE344DF}"/>
              </a:ext>
            </a:extLst>
          </p:cNvPr>
          <p:cNvSpPr>
            <a:spLocks noGrp="1"/>
          </p:cNvSpPr>
          <p:nvPr/>
        </p:nvSpPr>
        <p:spPr>
          <a:xfrm>
            <a:off x="552450" y="4143375"/>
            <a:ext cx="10668000" cy="381000"/>
          </a:xfrm>
          <a:prstGeom prst="rect">
            <a:avLst/>
          </a:prstGeom>
          <a:noFill/>
          <a:ln w="0">
            <a:noFill/>
            <a:prstDash val="solid"/>
          </a:ln>
        </p:spPr>
        <p:txBody>
          <a:bodyPr lIns="0" tIns="0" rIns="0" bIns="0" anchor="t"/>
          <a:lstStyle>
            <a:defPPr>
              <a:defRPr sz="2100" b="1">
                <a:solidFill>
                  <a:srgbClr val="2E6F73"/>
                </a:solidFill>
                <a:latin typeface="Arial"/>
                <a:ea typeface="Arial"/>
                <a:cs typeface="Arial"/>
              </a:defRPr>
            </a:defPPr>
            <a:lvl1pPr>
              <a:defRPr sz="2100" b="1">
                <a:solidFill>
                  <a:srgbClr val="2E6F73"/>
                </a:solidFill>
                <a:latin typeface="Arial"/>
                <a:ea typeface="Arial"/>
                <a:cs typeface="Arial"/>
              </a:defRPr>
            </a:lvl1pPr>
            <a:lvl2pPr>
              <a:defRPr sz="2100" b="1">
                <a:solidFill>
                  <a:srgbClr val="2E6F73"/>
                </a:solidFill>
                <a:latin typeface="Arial"/>
                <a:ea typeface="Arial"/>
                <a:cs typeface="Arial"/>
              </a:defRPr>
            </a:lvl2pPr>
            <a:lvl3pPr>
              <a:defRPr sz="2100" b="1">
                <a:solidFill>
                  <a:srgbClr val="2E6F73"/>
                </a:solidFill>
                <a:latin typeface="Arial"/>
                <a:ea typeface="Arial"/>
                <a:cs typeface="Arial"/>
              </a:defRPr>
            </a:lvl3pPr>
            <a:lvl4pPr>
              <a:defRPr sz="2100" b="1">
                <a:solidFill>
                  <a:srgbClr val="2E6F73"/>
                </a:solidFill>
                <a:latin typeface="Arial"/>
                <a:ea typeface="Arial"/>
                <a:cs typeface="Arial"/>
              </a:defRPr>
            </a:lvl4pPr>
            <a:lvl5pPr>
              <a:defRPr sz="2100" b="1">
                <a:solidFill>
                  <a:srgbClr val="2E6F73"/>
                </a:solidFill>
                <a:latin typeface="Arial"/>
                <a:ea typeface="Arial"/>
                <a:cs typeface="Arial"/>
              </a:defRPr>
            </a:lvl5pPr>
            <a:lvl6pPr>
              <a:defRPr sz="2100" b="1">
                <a:solidFill>
                  <a:srgbClr val="2E6F73"/>
                </a:solidFill>
                <a:latin typeface="Arial"/>
                <a:ea typeface="Arial"/>
                <a:cs typeface="Arial"/>
              </a:defRPr>
            </a:lvl6pPr>
            <a:lvl7pPr>
              <a:defRPr sz="2100" b="1">
                <a:solidFill>
                  <a:srgbClr val="2E6F73"/>
                </a:solidFill>
                <a:latin typeface="Arial"/>
                <a:ea typeface="Arial"/>
                <a:cs typeface="Arial"/>
              </a:defRPr>
            </a:lvl7pPr>
            <a:lvl8pPr>
              <a:defRPr sz="2100" b="1">
                <a:solidFill>
                  <a:srgbClr val="2E6F73"/>
                </a:solidFill>
                <a:latin typeface="Arial"/>
                <a:ea typeface="Arial"/>
                <a:cs typeface="Arial"/>
              </a:defRPr>
            </a:lvl8pPr>
            <a:lvl9pPr>
              <a:defRPr sz="2100" b="1">
                <a:solidFill>
                  <a:srgbClr val="2E6F73"/>
                </a:solidFill>
                <a:latin typeface="Arial"/>
                <a:ea typeface="Arial"/>
                <a:cs typeface="Arial"/>
              </a:defRPr>
            </a:lvl9pPr>
          </a:lstStyle>
          <a:p>
            <a:pPr>
              <a:defRPr sz="2100" b="1">
                <a:solidFill>
                  <a:srgbClr val="2E6F73"/>
                </a:solidFill>
                <a:latin typeface="Arial"/>
                <a:ea typeface="Arial"/>
                <a:cs typeface="Arial"/>
              </a:defRPr>
            </a:pPr>
            <a:r>
              <a:rPr sz="2100" b="1">
                <a:solidFill>
                  <a:srgbClr val="2E6F73"/>
                </a:solidFill>
                <a:latin typeface="Arial"/>
                <a:ea typeface="Arial"/>
                <a:cs typeface="Arial"/>
              </a:rPr>
              <a:t>3. Timing</a:t>
            </a:r>
          </a:p>
        </p:txBody>
      </p:sp>
      <p:sp>
        <p:nvSpPr>
          <p:cNvPr id="8" name="text-7">
            <a:extLst>
              <a:ext uri="{FF2B5EF4-FFF2-40B4-BE49-F238E27FC236}">
                <a16:creationId xmlns:a16="http://schemas.microsoft.com/office/drawing/2014/main" id="{528F145E-22CE-483F-9E43-33A7BB8D0B7A}"/>
              </a:ext>
            </a:extLst>
          </p:cNvPr>
          <p:cNvSpPr>
            <a:spLocks noGrp="1"/>
          </p:cNvSpPr>
          <p:nvPr/>
        </p:nvSpPr>
        <p:spPr>
          <a:xfrm>
            <a:off x="552450" y="4552950"/>
            <a:ext cx="10668000" cy="781050"/>
          </a:xfrm>
          <a:prstGeom prst="rect">
            <a:avLst/>
          </a:prstGeom>
          <a:noFill/>
          <a:ln w="0">
            <a:noFill/>
            <a:prstDash val="solid"/>
          </a:ln>
        </p:spPr>
        <p:txBody>
          <a:bodyPr lIns="0" tIns="0" rIns="0" bIns="0" anchor="t"/>
          <a:lstStyle>
            <a:defPPr>
              <a:defRPr sz="2025" b="0">
                <a:solidFill>
                  <a:srgbClr val="1F2A36"/>
                </a:solidFill>
                <a:latin typeface="Arial"/>
                <a:ea typeface="Arial"/>
                <a:cs typeface="Arial"/>
              </a:defRPr>
            </a:defPPr>
            <a:lvl1pPr>
              <a:defRPr sz="2025" b="0">
                <a:solidFill>
                  <a:srgbClr val="1F2A36"/>
                </a:solidFill>
                <a:latin typeface="Arial"/>
                <a:ea typeface="Arial"/>
                <a:cs typeface="Arial"/>
              </a:defRPr>
            </a:lvl1pPr>
            <a:lvl2pPr>
              <a:defRPr sz="2025" b="0">
                <a:solidFill>
                  <a:srgbClr val="1F2A36"/>
                </a:solidFill>
                <a:latin typeface="Arial"/>
                <a:ea typeface="Arial"/>
                <a:cs typeface="Arial"/>
              </a:defRPr>
            </a:lvl2pPr>
            <a:lvl3pPr>
              <a:defRPr sz="2025" b="0">
                <a:solidFill>
                  <a:srgbClr val="1F2A36"/>
                </a:solidFill>
                <a:latin typeface="Arial"/>
                <a:ea typeface="Arial"/>
                <a:cs typeface="Arial"/>
              </a:defRPr>
            </a:lvl3pPr>
            <a:lvl4pPr>
              <a:defRPr sz="2025" b="0">
                <a:solidFill>
                  <a:srgbClr val="1F2A36"/>
                </a:solidFill>
                <a:latin typeface="Arial"/>
                <a:ea typeface="Arial"/>
                <a:cs typeface="Arial"/>
              </a:defRPr>
            </a:lvl4pPr>
            <a:lvl5pPr>
              <a:defRPr sz="2025" b="0">
                <a:solidFill>
                  <a:srgbClr val="1F2A36"/>
                </a:solidFill>
                <a:latin typeface="Arial"/>
                <a:ea typeface="Arial"/>
                <a:cs typeface="Arial"/>
              </a:defRPr>
            </a:lvl5pPr>
            <a:lvl6pPr>
              <a:defRPr sz="2025" b="0">
                <a:solidFill>
                  <a:srgbClr val="1F2A36"/>
                </a:solidFill>
                <a:latin typeface="Arial"/>
                <a:ea typeface="Arial"/>
                <a:cs typeface="Arial"/>
              </a:defRPr>
            </a:lvl6pPr>
            <a:lvl7pPr>
              <a:defRPr sz="2025" b="0">
                <a:solidFill>
                  <a:srgbClr val="1F2A36"/>
                </a:solidFill>
                <a:latin typeface="Arial"/>
                <a:ea typeface="Arial"/>
                <a:cs typeface="Arial"/>
              </a:defRPr>
            </a:lvl7pPr>
            <a:lvl8pPr>
              <a:defRPr sz="2025" b="0">
                <a:solidFill>
                  <a:srgbClr val="1F2A36"/>
                </a:solidFill>
                <a:latin typeface="Arial"/>
                <a:ea typeface="Arial"/>
                <a:cs typeface="Arial"/>
              </a:defRPr>
            </a:lvl8pPr>
            <a:lvl9pPr>
              <a:defRPr sz="2025" b="0">
                <a:solidFill>
                  <a:srgbClr val="1F2A36"/>
                </a:solidFill>
                <a:latin typeface="Arial"/>
                <a:ea typeface="Arial"/>
                <a:cs typeface="Arial"/>
              </a:defRPr>
            </a:lvl9pPr>
          </a:lstStyle>
          <a:p>
            <a:pPr>
              <a:defRPr sz="2025" b="0">
                <a:solidFill>
                  <a:srgbClr val="1F2A36"/>
                </a:solidFill>
                <a:latin typeface="Arial"/>
                <a:ea typeface="Arial"/>
                <a:cs typeface="Arial"/>
              </a:defRPr>
            </a:pPr>
            <a:r>
              <a:rPr sz="2025" b="0">
                <a:solidFill>
                  <a:srgbClr val="1F2A36"/>
                </a:solidFill>
                <a:latin typeface="Arial"/>
                <a:ea typeface="Arial"/>
                <a:cs typeface="Arial"/>
              </a:rPr>
              <a:t>Why might an already-treated or formerly-treated area be a poor control?</a:t>
            </a:r>
          </a:p>
        </p:txBody>
      </p:sp>
    </p:spTree>
    <p:extLst>
      <p:ext uri="{BB962C8B-B14F-4D97-AF65-F5344CB8AC3E}">
        <p14:creationId xmlns:p14="http://schemas.microsoft.com/office/powerpoint/2010/main" val="1535300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ext-0">
            <a:extLst>
              <a:ext uri="{FF2B5EF4-FFF2-40B4-BE49-F238E27FC236}">
                <a16:creationId xmlns:a16="http://schemas.microsoft.com/office/drawing/2014/main" id="{AFA04A23-B933-45B0-A2AD-C101841F6368}"/>
              </a:ext>
            </a:extLst>
          </p:cNvPr>
          <p:cNvSpPr>
            <a:spLocks noGrp="1"/>
          </p:cNvSpPr>
          <p:nvPr/>
        </p:nvSpPr>
        <p:spPr>
          <a:xfrm>
            <a:off x="552450" y="361950"/>
            <a:ext cx="11087100" cy="857250"/>
          </a:xfrm>
          <a:prstGeom prst="rect">
            <a:avLst/>
          </a:prstGeom>
          <a:noFill/>
          <a:ln w="0">
            <a:noFill/>
            <a:prstDash val="solid"/>
          </a:ln>
        </p:spPr>
        <p:txBody>
          <a:bodyPr lIns="0" tIns="0" rIns="0" bIns="0" anchor="t"/>
          <a:lstStyle>
            <a:defPPr>
              <a:defRPr sz="3000" b="1">
                <a:solidFill>
                  <a:srgbClr val="1F2A36"/>
                </a:solidFill>
                <a:latin typeface="Arial"/>
                <a:ea typeface="Arial"/>
                <a:cs typeface="Arial"/>
              </a:defRPr>
            </a:defPPr>
            <a:lvl1pPr>
              <a:defRPr sz="3000" b="1">
                <a:solidFill>
                  <a:srgbClr val="1F2A36"/>
                </a:solidFill>
                <a:latin typeface="Arial"/>
                <a:ea typeface="Arial"/>
                <a:cs typeface="Arial"/>
              </a:defRPr>
            </a:lvl1pPr>
            <a:lvl2pPr>
              <a:defRPr sz="3000" b="1">
                <a:solidFill>
                  <a:srgbClr val="1F2A36"/>
                </a:solidFill>
                <a:latin typeface="Arial"/>
                <a:ea typeface="Arial"/>
                <a:cs typeface="Arial"/>
              </a:defRPr>
            </a:lvl2pPr>
            <a:lvl3pPr>
              <a:defRPr sz="3000" b="1">
                <a:solidFill>
                  <a:srgbClr val="1F2A36"/>
                </a:solidFill>
                <a:latin typeface="Arial"/>
                <a:ea typeface="Arial"/>
                <a:cs typeface="Arial"/>
              </a:defRPr>
            </a:lvl3pPr>
            <a:lvl4pPr>
              <a:defRPr sz="3000" b="1">
                <a:solidFill>
                  <a:srgbClr val="1F2A36"/>
                </a:solidFill>
                <a:latin typeface="Arial"/>
                <a:ea typeface="Arial"/>
                <a:cs typeface="Arial"/>
              </a:defRPr>
            </a:lvl4pPr>
            <a:lvl5pPr>
              <a:defRPr sz="3000" b="1">
                <a:solidFill>
                  <a:srgbClr val="1F2A36"/>
                </a:solidFill>
                <a:latin typeface="Arial"/>
                <a:ea typeface="Arial"/>
                <a:cs typeface="Arial"/>
              </a:defRPr>
            </a:lvl5pPr>
            <a:lvl6pPr>
              <a:defRPr sz="3000" b="1">
                <a:solidFill>
                  <a:srgbClr val="1F2A36"/>
                </a:solidFill>
                <a:latin typeface="Arial"/>
                <a:ea typeface="Arial"/>
                <a:cs typeface="Arial"/>
              </a:defRPr>
            </a:lvl6pPr>
            <a:lvl7pPr>
              <a:defRPr sz="3000" b="1">
                <a:solidFill>
                  <a:srgbClr val="1F2A36"/>
                </a:solidFill>
                <a:latin typeface="Arial"/>
                <a:ea typeface="Arial"/>
                <a:cs typeface="Arial"/>
              </a:defRPr>
            </a:lvl7pPr>
            <a:lvl8pPr>
              <a:defRPr sz="3000" b="1">
                <a:solidFill>
                  <a:srgbClr val="1F2A36"/>
                </a:solidFill>
                <a:latin typeface="Arial"/>
                <a:ea typeface="Arial"/>
                <a:cs typeface="Arial"/>
              </a:defRPr>
            </a:lvl8pPr>
            <a:lvl9pPr>
              <a:defRPr sz="3000" b="1">
                <a:solidFill>
                  <a:srgbClr val="1F2A36"/>
                </a:solidFill>
                <a:latin typeface="Arial"/>
                <a:ea typeface="Arial"/>
                <a:cs typeface="Arial"/>
              </a:defRPr>
            </a:lvl9pPr>
          </a:lstStyle>
          <a:p>
            <a:pPr>
              <a:defRPr sz="3000" b="1">
                <a:solidFill>
                  <a:srgbClr val="1F2A36"/>
                </a:solidFill>
                <a:latin typeface="Arial"/>
                <a:ea typeface="Arial"/>
                <a:cs typeface="Arial"/>
              </a:defRPr>
            </a:pPr>
            <a:r>
              <a:rPr sz="3000" b="1">
                <a:solidFill>
                  <a:srgbClr val="1F2A36"/>
                </a:solidFill>
                <a:latin typeface="Arial"/>
                <a:ea typeface="Arial"/>
                <a:cs typeface="Arial"/>
              </a:rPr>
              <a:t>Backup: reading an event study</a:t>
            </a:r>
          </a:p>
        </p:txBody>
      </p:sp>
      <p:sp>
        <p:nvSpPr>
          <p:cNvPr id="2" name="text-1">
            <a:extLst>
              <a:ext uri="{FF2B5EF4-FFF2-40B4-BE49-F238E27FC236}">
                <a16:creationId xmlns:a16="http://schemas.microsoft.com/office/drawing/2014/main" id="{B5A2A396-3B7F-46E1-9CEC-6D7E181A1C5F}"/>
              </a:ext>
            </a:extLst>
          </p:cNvPr>
          <p:cNvSpPr>
            <a:spLocks noGrp="1"/>
          </p:cNvSpPr>
          <p:nvPr/>
        </p:nvSpPr>
        <p:spPr>
          <a:xfrm>
            <a:off x="11239500" y="6400800"/>
            <a:ext cx="476250" cy="266700"/>
          </a:xfrm>
          <a:prstGeom prst="rect">
            <a:avLst/>
          </a:prstGeom>
          <a:noFill/>
          <a:ln w="0">
            <a:noFill/>
            <a:prstDash val="solid"/>
          </a:ln>
        </p:spPr>
        <p:txBody>
          <a:bodyPr lIns="0" tIns="0" rIns="0" bIns="0" anchor="t"/>
          <a:lstStyle>
            <a:defPPr>
              <a:defRPr sz="1350" b="0">
                <a:solidFill>
                  <a:srgbClr val="5B6B78"/>
                </a:solidFill>
                <a:latin typeface="Arial"/>
                <a:ea typeface="Arial"/>
                <a:cs typeface="Arial"/>
              </a:defRPr>
            </a:defPPr>
            <a:lvl1pPr>
              <a:defRPr sz="1350" b="0">
                <a:solidFill>
                  <a:srgbClr val="5B6B78"/>
                </a:solidFill>
                <a:latin typeface="Arial"/>
                <a:ea typeface="Arial"/>
                <a:cs typeface="Arial"/>
              </a:defRPr>
            </a:lvl1pPr>
            <a:lvl2pPr>
              <a:defRPr sz="1350" b="0">
                <a:solidFill>
                  <a:srgbClr val="5B6B78"/>
                </a:solidFill>
                <a:latin typeface="Arial"/>
                <a:ea typeface="Arial"/>
                <a:cs typeface="Arial"/>
              </a:defRPr>
            </a:lvl2pPr>
            <a:lvl3pPr>
              <a:defRPr sz="1350" b="0">
                <a:solidFill>
                  <a:srgbClr val="5B6B78"/>
                </a:solidFill>
                <a:latin typeface="Arial"/>
                <a:ea typeface="Arial"/>
                <a:cs typeface="Arial"/>
              </a:defRPr>
            </a:lvl3pPr>
            <a:lvl4pPr>
              <a:defRPr sz="1350" b="0">
                <a:solidFill>
                  <a:srgbClr val="5B6B78"/>
                </a:solidFill>
                <a:latin typeface="Arial"/>
                <a:ea typeface="Arial"/>
                <a:cs typeface="Arial"/>
              </a:defRPr>
            </a:lvl4pPr>
            <a:lvl5pPr>
              <a:defRPr sz="1350" b="0">
                <a:solidFill>
                  <a:srgbClr val="5B6B78"/>
                </a:solidFill>
                <a:latin typeface="Arial"/>
                <a:ea typeface="Arial"/>
                <a:cs typeface="Arial"/>
              </a:defRPr>
            </a:lvl5pPr>
            <a:lvl6pPr>
              <a:defRPr sz="1350" b="0">
                <a:solidFill>
                  <a:srgbClr val="5B6B78"/>
                </a:solidFill>
                <a:latin typeface="Arial"/>
                <a:ea typeface="Arial"/>
                <a:cs typeface="Arial"/>
              </a:defRPr>
            </a:lvl6pPr>
            <a:lvl7pPr>
              <a:defRPr sz="1350" b="0">
                <a:solidFill>
                  <a:srgbClr val="5B6B78"/>
                </a:solidFill>
                <a:latin typeface="Arial"/>
                <a:ea typeface="Arial"/>
                <a:cs typeface="Arial"/>
              </a:defRPr>
            </a:lvl7pPr>
            <a:lvl8pPr>
              <a:defRPr sz="1350" b="0">
                <a:solidFill>
                  <a:srgbClr val="5B6B78"/>
                </a:solidFill>
                <a:latin typeface="Arial"/>
                <a:ea typeface="Arial"/>
                <a:cs typeface="Arial"/>
              </a:defRPr>
            </a:lvl8pPr>
            <a:lvl9pPr>
              <a:defRPr sz="1350" b="0">
                <a:solidFill>
                  <a:srgbClr val="5B6B78"/>
                </a:solidFill>
                <a:latin typeface="Arial"/>
                <a:ea typeface="Arial"/>
                <a:cs typeface="Arial"/>
              </a:defRPr>
            </a:lvl9pPr>
          </a:lstStyle>
          <a:p>
            <a:pPr>
              <a:defRPr sz="1350" b="0">
                <a:solidFill>
                  <a:srgbClr val="5B6B78"/>
                </a:solidFill>
                <a:latin typeface="Arial"/>
                <a:ea typeface="Arial"/>
                <a:cs typeface="Arial"/>
              </a:defRPr>
            </a:pPr>
            <a:r>
              <a:rPr sz="1350" b="0">
                <a:solidFill>
                  <a:srgbClr val="5B6B78"/>
                </a:solidFill>
                <a:latin typeface="Arial"/>
                <a:ea typeface="Arial"/>
                <a:cs typeface="Arial"/>
              </a:rPr>
              <a:t>20</a:t>
            </a:r>
          </a:p>
        </p:txBody>
      </p:sp>
      <p:sp>
        <p:nvSpPr>
          <p:cNvPr id="3" name="text-2">
            <a:extLst>
              <a:ext uri="{FF2B5EF4-FFF2-40B4-BE49-F238E27FC236}">
                <a16:creationId xmlns:a16="http://schemas.microsoft.com/office/drawing/2014/main" id="{E245D9F8-6814-4D9D-A2F0-03672C3C182F}"/>
              </a:ext>
            </a:extLst>
          </p:cNvPr>
          <p:cNvSpPr>
            <a:spLocks noGrp="1"/>
          </p:cNvSpPr>
          <p:nvPr/>
        </p:nvSpPr>
        <p:spPr>
          <a:xfrm>
            <a:off x="552450" y="1571625"/>
            <a:ext cx="10668000" cy="381000"/>
          </a:xfrm>
          <a:prstGeom prst="rect">
            <a:avLst/>
          </a:prstGeom>
          <a:noFill/>
          <a:ln w="0">
            <a:noFill/>
            <a:prstDash val="solid"/>
          </a:ln>
        </p:spPr>
        <p:txBody>
          <a:bodyPr lIns="0" tIns="0" rIns="0" bIns="0" anchor="t"/>
          <a:lstStyle>
            <a:defPPr>
              <a:defRPr sz="2100" b="1">
                <a:solidFill>
                  <a:srgbClr val="2E6F73"/>
                </a:solidFill>
                <a:latin typeface="Arial"/>
                <a:ea typeface="Arial"/>
                <a:cs typeface="Arial"/>
              </a:defRPr>
            </a:defPPr>
            <a:lvl1pPr>
              <a:defRPr sz="2100" b="1">
                <a:solidFill>
                  <a:srgbClr val="2E6F73"/>
                </a:solidFill>
                <a:latin typeface="Arial"/>
                <a:ea typeface="Arial"/>
                <a:cs typeface="Arial"/>
              </a:defRPr>
            </a:lvl1pPr>
            <a:lvl2pPr>
              <a:defRPr sz="2100" b="1">
                <a:solidFill>
                  <a:srgbClr val="2E6F73"/>
                </a:solidFill>
                <a:latin typeface="Arial"/>
                <a:ea typeface="Arial"/>
                <a:cs typeface="Arial"/>
              </a:defRPr>
            </a:lvl2pPr>
            <a:lvl3pPr>
              <a:defRPr sz="2100" b="1">
                <a:solidFill>
                  <a:srgbClr val="2E6F73"/>
                </a:solidFill>
                <a:latin typeface="Arial"/>
                <a:ea typeface="Arial"/>
                <a:cs typeface="Arial"/>
              </a:defRPr>
            </a:lvl3pPr>
            <a:lvl4pPr>
              <a:defRPr sz="2100" b="1">
                <a:solidFill>
                  <a:srgbClr val="2E6F73"/>
                </a:solidFill>
                <a:latin typeface="Arial"/>
                <a:ea typeface="Arial"/>
                <a:cs typeface="Arial"/>
              </a:defRPr>
            </a:lvl4pPr>
            <a:lvl5pPr>
              <a:defRPr sz="2100" b="1">
                <a:solidFill>
                  <a:srgbClr val="2E6F73"/>
                </a:solidFill>
                <a:latin typeface="Arial"/>
                <a:ea typeface="Arial"/>
                <a:cs typeface="Arial"/>
              </a:defRPr>
            </a:lvl5pPr>
            <a:lvl6pPr>
              <a:defRPr sz="2100" b="1">
                <a:solidFill>
                  <a:srgbClr val="2E6F73"/>
                </a:solidFill>
                <a:latin typeface="Arial"/>
                <a:ea typeface="Arial"/>
                <a:cs typeface="Arial"/>
              </a:defRPr>
            </a:lvl6pPr>
            <a:lvl7pPr>
              <a:defRPr sz="2100" b="1">
                <a:solidFill>
                  <a:srgbClr val="2E6F73"/>
                </a:solidFill>
                <a:latin typeface="Arial"/>
                <a:ea typeface="Arial"/>
                <a:cs typeface="Arial"/>
              </a:defRPr>
            </a:lvl7pPr>
            <a:lvl8pPr>
              <a:defRPr sz="2100" b="1">
                <a:solidFill>
                  <a:srgbClr val="2E6F73"/>
                </a:solidFill>
                <a:latin typeface="Arial"/>
                <a:ea typeface="Arial"/>
                <a:cs typeface="Arial"/>
              </a:defRPr>
            </a:lvl8pPr>
            <a:lvl9pPr>
              <a:defRPr sz="2100" b="1">
                <a:solidFill>
                  <a:srgbClr val="2E6F73"/>
                </a:solidFill>
                <a:latin typeface="Arial"/>
                <a:ea typeface="Arial"/>
                <a:cs typeface="Arial"/>
              </a:defRPr>
            </a:lvl9pPr>
          </a:lstStyle>
          <a:p>
            <a:pPr>
              <a:defRPr sz="2100" b="1">
                <a:solidFill>
                  <a:srgbClr val="2E6F73"/>
                </a:solidFill>
                <a:latin typeface="Arial"/>
                <a:ea typeface="Arial"/>
                <a:cs typeface="Arial"/>
              </a:defRPr>
            </a:pPr>
            <a:r>
              <a:rPr sz="2100" b="1">
                <a:solidFill>
                  <a:srgbClr val="2E6F73"/>
                </a:solidFill>
                <a:latin typeface="Arial"/>
                <a:ea typeface="Arial"/>
                <a:cs typeface="Arial"/>
              </a:rPr>
              <a:t>Leads</a:t>
            </a:r>
          </a:p>
        </p:txBody>
      </p:sp>
      <p:sp>
        <p:nvSpPr>
          <p:cNvPr id="4" name="text-3">
            <a:extLst>
              <a:ext uri="{FF2B5EF4-FFF2-40B4-BE49-F238E27FC236}">
                <a16:creationId xmlns:a16="http://schemas.microsoft.com/office/drawing/2014/main" id="{4B2FBEA6-1DE8-4996-A5F9-5FABC382B272}"/>
              </a:ext>
            </a:extLst>
          </p:cNvPr>
          <p:cNvSpPr>
            <a:spLocks noGrp="1"/>
          </p:cNvSpPr>
          <p:nvPr/>
        </p:nvSpPr>
        <p:spPr>
          <a:xfrm>
            <a:off x="552450" y="1981200"/>
            <a:ext cx="10668000" cy="781050"/>
          </a:xfrm>
          <a:prstGeom prst="rect">
            <a:avLst/>
          </a:prstGeom>
          <a:noFill/>
          <a:ln w="0">
            <a:noFill/>
            <a:prstDash val="solid"/>
          </a:ln>
        </p:spPr>
        <p:txBody>
          <a:bodyPr lIns="0" tIns="0" rIns="0" bIns="0" anchor="t"/>
          <a:lstStyle>
            <a:defPPr>
              <a:defRPr sz="2025" b="0">
                <a:solidFill>
                  <a:srgbClr val="1F2A36"/>
                </a:solidFill>
                <a:latin typeface="Arial"/>
                <a:ea typeface="Arial"/>
                <a:cs typeface="Arial"/>
              </a:defRPr>
            </a:defPPr>
            <a:lvl1pPr>
              <a:defRPr sz="2025" b="0">
                <a:solidFill>
                  <a:srgbClr val="1F2A36"/>
                </a:solidFill>
                <a:latin typeface="Arial"/>
                <a:ea typeface="Arial"/>
                <a:cs typeface="Arial"/>
              </a:defRPr>
            </a:lvl1pPr>
            <a:lvl2pPr>
              <a:defRPr sz="2025" b="0">
                <a:solidFill>
                  <a:srgbClr val="1F2A36"/>
                </a:solidFill>
                <a:latin typeface="Arial"/>
                <a:ea typeface="Arial"/>
                <a:cs typeface="Arial"/>
              </a:defRPr>
            </a:lvl2pPr>
            <a:lvl3pPr>
              <a:defRPr sz="2025" b="0">
                <a:solidFill>
                  <a:srgbClr val="1F2A36"/>
                </a:solidFill>
                <a:latin typeface="Arial"/>
                <a:ea typeface="Arial"/>
                <a:cs typeface="Arial"/>
              </a:defRPr>
            </a:lvl3pPr>
            <a:lvl4pPr>
              <a:defRPr sz="2025" b="0">
                <a:solidFill>
                  <a:srgbClr val="1F2A36"/>
                </a:solidFill>
                <a:latin typeface="Arial"/>
                <a:ea typeface="Arial"/>
                <a:cs typeface="Arial"/>
              </a:defRPr>
            </a:lvl4pPr>
            <a:lvl5pPr>
              <a:defRPr sz="2025" b="0">
                <a:solidFill>
                  <a:srgbClr val="1F2A36"/>
                </a:solidFill>
                <a:latin typeface="Arial"/>
                <a:ea typeface="Arial"/>
                <a:cs typeface="Arial"/>
              </a:defRPr>
            </a:lvl5pPr>
            <a:lvl6pPr>
              <a:defRPr sz="2025" b="0">
                <a:solidFill>
                  <a:srgbClr val="1F2A36"/>
                </a:solidFill>
                <a:latin typeface="Arial"/>
                <a:ea typeface="Arial"/>
                <a:cs typeface="Arial"/>
              </a:defRPr>
            </a:lvl6pPr>
            <a:lvl7pPr>
              <a:defRPr sz="2025" b="0">
                <a:solidFill>
                  <a:srgbClr val="1F2A36"/>
                </a:solidFill>
                <a:latin typeface="Arial"/>
                <a:ea typeface="Arial"/>
                <a:cs typeface="Arial"/>
              </a:defRPr>
            </a:lvl7pPr>
            <a:lvl8pPr>
              <a:defRPr sz="2025" b="0">
                <a:solidFill>
                  <a:srgbClr val="1F2A36"/>
                </a:solidFill>
                <a:latin typeface="Arial"/>
                <a:ea typeface="Arial"/>
                <a:cs typeface="Arial"/>
              </a:defRPr>
            </a:lvl8pPr>
            <a:lvl9pPr>
              <a:defRPr sz="2025" b="0">
                <a:solidFill>
                  <a:srgbClr val="1F2A36"/>
                </a:solidFill>
                <a:latin typeface="Arial"/>
                <a:ea typeface="Arial"/>
                <a:cs typeface="Arial"/>
              </a:defRPr>
            </a:lvl9pPr>
          </a:lstStyle>
          <a:p>
            <a:pPr>
              <a:defRPr sz="2025" b="0">
                <a:solidFill>
                  <a:srgbClr val="1F2A36"/>
                </a:solidFill>
                <a:latin typeface="Arial"/>
                <a:ea typeface="Arial"/>
                <a:cs typeface="Arial"/>
              </a:defRPr>
            </a:pPr>
            <a:r>
              <a:rPr sz="2025" b="0">
                <a:solidFill>
                  <a:srgbClr val="1F2A36"/>
                </a:solidFill>
                <a:latin typeface="Arial"/>
                <a:ea typeface="Arial"/>
                <a:cs typeface="Arial"/>
              </a:rPr>
              <a:t>Pre-treatment contrasts relative to a stated reference period.</a:t>
            </a:r>
          </a:p>
        </p:txBody>
      </p:sp>
      <p:sp>
        <p:nvSpPr>
          <p:cNvPr id="5" name="text-4">
            <a:extLst>
              <a:ext uri="{FF2B5EF4-FFF2-40B4-BE49-F238E27FC236}">
                <a16:creationId xmlns:a16="http://schemas.microsoft.com/office/drawing/2014/main" id="{03C0ED7F-CE70-4244-8057-0F1DE9AE567B}"/>
              </a:ext>
            </a:extLst>
          </p:cNvPr>
          <p:cNvSpPr>
            <a:spLocks noGrp="1"/>
          </p:cNvSpPr>
          <p:nvPr/>
        </p:nvSpPr>
        <p:spPr>
          <a:xfrm>
            <a:off x="552450" y="2857500"/>
            <a:ext cx="10668000" cy="381000"/>
          </a:xfrm>
          <a:prstGeom prst="rect">
            <a:avLst/>
          </a:prstGeom>
          <a:noFill/>
          <a:ln w="0">
            <a:noFill/>
            <a:prstDash val="solid"/>
          </a:ln>
        </p:spPr>
        <p:txBody>
          <a:bodyPr lIns="0" tIns="0" rIns="0" bIns="0" anchor="t"/>
          <a:lstStyle>
            <a:defPPr>
              <a:defRPr sz="2100" b="1">
                <a:solidFill>
                  <a:srgbClr val="2E6F73"/>
                </a:solidFill>
                <a:latin typeface="Arial"/>
                <a:ea typeface="Arial"/>
                <a:cs typeface="Arial"/>
              </a:defRPr>
            </a:defPPr>
            <a:lvl1pPr>
              <a:defRPr sz="2100" b="1">
                <a:solidFill>
                  <a:srgbClr val="2E6F73"/>
                </a:solidFill>
                <a:latin typeface="Arial"/>
                <a:ea typeface="Arial"/>
                <a:cs typeface="Arial"/>
              </a:defRPr>
            </a:lvl1pPr>
            <a:lvl2pPr>
              <a:defRPr sz="2100" b="1">
                <a:solidFill>
                  <a:srgbClr val="2E6F73"/>
                </a:solidFill>
                <a:latin typeface="Arial"/>
                <a:ea typeface="Arial"/>
                <a:cs typeface="Arial"/>
              </a:defRPr>
            </a:lvl2pPr>
            <a:lvl3pPr>
              <a:defRPr sz="2100" b="1">
                <a:solidFill>
                  <a:srgbClr val="2E6F73"/>
                </a:solidFill>
                <a:latin typeface="Arial"/>
                <a:ea typeface="Arial"/>
                <a:cs typeface="Arial"/>
              </a:defRPr>
            </a:lvl3pPr>
            <a:lvl4pPr>
              <a:defRPr sz="2100" b="1">
                <a:solidFill>
                  <a:srgbClr val="2E6F73"/>
                </a:solidFill>
                <a:latin typeface="Arial"/>
                <a:ea typeface="Arial"/>
                <a:cs typeface="Arial"/>
              </a:defRPr>
            </a:lvl4pPr>
            <a:lvl5pPr>
              <a:defRPr sz="2100" b="1">
                <a:solidFill>
                  <a:srgbClr val="2E6F73"/>
                </a:solidFill>
                <a:latin typeface="Arial"/>
                <a:ea typeface="Arial"/>
                <a:cs typeface="Arial"/>
              </a:defRPr>
            </a:lvl5pPr>
            <a:lvl6pPr>
              <a:defRPr sz="2100" b="1">
                <a:solidFill>
                  <a:srgbClr val="2E6F73"/>
                </a:solidFill>
                <a:latin typeface="Arial"/>
                <a:ea typeface="Arial"/>
                <a:cs typeface="Arial"/>
              </a:defRPr>
            </a:lvl6pPr>
            <a:lvl7pPr>
              <a:defRPr sz="2100" b="1">
                <a:solidFill>
                  <a:srgbClr val="2E6F73"/>
                </a:solidFill>
                <a:latin typeface="Arial"/>
                <a:ea typeface="Arial"/>
                <a:cs typeface="Arial"/>
              </a:defRPr>
            </a:lvl7pPr>
            <a:lvl8pPr>
              <a:defRPr sz="2100" b="1">
                <a:solidFill>
                  <a:srgbClr val="2E6F73"/>
                </a:solidFill>
                <a:latin typeface="Arial"/>
                <a:ea typeface="Arial"/>
                <a:cs typeface="Arial"/>
              </a:defRPr>
            </a:lvl8pPr>
            <a:lvl9pPr>
              <a:defRPr sz="2100" b="1">
                <a:solidFill>
                  <a:srgbClr val="2E6F73"/>
                </a:solidFill>
                <a:latin typeface="Arial"/>
                <a:ea typeface="Arial"/>
                <a:cs typeface="Arial"/>
              </a:defRPr>
            </a:lvl9pPr>
          </a:lstStyle>
          <a:p>
            <a:pPr>
              <a:defRPr sz="2100" b="1">
                <a:solidFill>
                  <a:srgbClr val="2E6F73"/>
                </a:solidFill>
                <a:latin typeface="Arial"/>
                <a:ea typeface="Arial"/>
                <a:cs typeface="Arial"/>
              </a:defRPr>
            </a:pPr>
            <a:r>
              <a:rPr sz="2100" b="1">
                <a:solidFill>
                  <a:srgbClr val="2E6F73"/>
                </a:solidFill>
                <a:latin typeface="Arial"/>
                <a:ea typeface="Arial"/>
                <a:cs typeface="Arial"/>
              </a:rPr>
              <a:t>Lags</a:t>
            </a:r>
          </a:p>
        </p:txBody>
      </p:sp>
      <p:sp>
        <p:nvSpPr>
          <p:cNvPr id="6" name="text-5">
            <a:extLst>
              <a:ext uri="{FF2B5EF4-FFF2-40B4-BE49-F238E27FC236}">
                <a16:creationId xmlns:a16="http://schemas.microsoft.com/office/drawing/2014/main" id="{FD0A7CDE-1EBC-4249-AA09-7D1DD9AD71F2}"/>
              </a:ext>
            </a:extLst>
          </p:cNvPr>
          <p:cNvSpPr>
            <a:spLocks noGrp="1"/>
          </p:cNvSpPr>
          <p:nvPr/>
        </p:nvSpPr>
        <p:spPr>
          <a:xfrm>
            <a:off x="552450" y="3267075"/>
            <a:ext cx="10668000" cy="781050"/>
          </a:xfrm>
          <a:prstGeom prst="rect">
            <a:avLst/>
          </a:prstGeom>
          <a:noFill/>
          <a:ln w="0">
            <a:noFill/>
            <a:prstDash val="solid"/>
          </a:ln>
        </p:spPr>
        <p:txBody>
          <a:bodyPr lIns="0" tIns="0" rIns="0" bIns="0" anchor="t"/>
          <a:lstStyle>
            <a:defPPr>
              <a:defRPr sz="2025" b="0">
                <a:solidFill>
                  <a:srgbClr val="1F2A36"/>
                </a:solidFill>
                <a:latin typeface="Arial"/>
                <a:ea typeface="Arial"/>
                <a:cs typeface="Arial"/>
              </a:defRPr>
            </a:defPPr>
            <a:lvl1pPr>
              <a:defRPr sz="2025" b="0">
                <a:solidFill>
                  <a:srgbClr val="1F2A36"/>
                </a:solidFill>
                <a:latin typeface="Arial"/>
                <a:ea typeface="Arial"/>
                <a:cs typeface="Arial"/>
              </a:defRPr>
            </a:lvl1pPr>
            <a:lvl2pPr>
              <a:defRPr sz="2025" b="0">
                <a:solidFill>
                  <a:srgbClr val="1F2A36"/>
                </a:solidFill>
                <a:latin typeface="Arial"/>
                <a:ea typeface="Arial"/>
                <a:cs typeface="Arial"/>
              </a:defRPr>
            </a:lvl2pPr>
            <a:lvl3pPr>
              <a:defRPr sz="2025" b="0">
                <a:solidFill>
                  <a:srgbClr val="1F2A36"/>
                </a:solidFill>
                <a:latin typeface="Arial"/>
                <a:ea typeface="Arial"/>
                <a:cs typeface="Arial"/>
              </a:defRPr>
            </a:lvl3pPr>
            <a:lvl4pPr>
              <a:defRPr sz="2025" b="0">
                <a:solidFill>
                  <a:srgbClr val="1F2A36"/>
                </a:solidFill>
                <a:latin typeface="Arial"/>
                <a:ea typeface="Arial"/>
                <a:cs typeface="Arial"/>
              </a:defRPr>
            </a:lvl4pPr>
            <a:lvl5pPr>
              <a:defRPr sz="2025" b="0">
                <a:solidFill>
                  <a:srgbClr val="1F2A36"/>
                </a:solidFill>
                <a:latin typeface="Arial"/>
                <a:ea typeface="Arial"/>
                <a:cs typeface="Arial"/>
              </a:defRPr>
            </a:lvl5pPr>
            <a:lvl6pPr>
              <a:defRPr sz="2025" b="0">
                <a:solidFill>
                  <a:srgbClr val="1F2A36"/>
                </a:solidFill>
                <a:latin typeface="Arial"/>
                <a:ea typeface="Arial"/>
                <a:cs typeface="Arial"/>
              </a:defRPr>
            </a:lvl6pPr>
            <a:lvl7pPr>
              <a:defRPr sz="2025" b="0">
                <a:solidFill>
                  <a:srgbClr val="1F2A36"/>
                </a:solidFill>
                <a:latin typeface="Arial"/>
                <a:ea typeface="Arial"/>
                <a:cs typeface="Arial"/>
              </a:defRPr>
            </a:lvl7pPr>
            <a:lvl8pPr>
              <a:defRPr sz="2025" b="0">
                <a:solidFill>
                  <a:srgbClr val="1F2A36"/>
                </a:solidFill>
                <a:latin typeface="Arial"/>
                <a:ea typeface="Arial"/>
                <a:cs typeface="Arial"/>
              </a:defRPr>
            </a:lvl8pPr>
            <a:lvl9pPr>
              <a:defRPr sz="2025" b="0">
                <a:solidFill>
                  <a:srgbClr val="1F2A36"/>
                </a:solidFill>
                <a:latin typeface="Arial"/>
                <a:ea typeface="Arial"/>
                <a:cs typeface="Arial"/>
              </a:defRPr>
            </a:lvl9pPr>
          </a:lstStyle>
          <a:p>
            <a:pPr>
              <a:defRPr sz="2025" b="0">
                <a:solidFill>
                  <a:srgbClr val="1F2A36"/>
                </a:solidFill>
                <a:latin typeface="Arial"/>
                <a:ea typeface="Arial"/>
                <a:cs typeface="Arial"/>
              </a:defRPr>
            </a:pPr>
            <a:r>
              <a:rPr sz="2025" b="0">
                <a:solidFill>
                  <a:srgbClr val="1F2A36"/>
                </a:solidFill>
                <a:latin typeface="Arial"/>
                <a:ea typeface="Arial"/>
                <a:cs typeface="Arial"/>
              </a:rPr>
              <a:t>Post-treatment dynamics, defined for the treatment history being studied.</a:t>
            </a:r>
          </a:p>
        </p:txBody>
      </p:sp>
      <p:sp>
        <p:nvSpPr>
          <p:cNvPr id="7" name="text-6">
            <a:extLst>
              <a:ext uri="{FF2B5EF4-FFF2-40B4-BE49-F238E27FC236}">
                <a16:creationId xmlns:a16="http://schemas.microsoft.com/office/drawing/2014/main" id="{9FCCDC85-FC16-4C2D-84BE-E45BAA32C765}"/>
              </a:ext>
            </a:extLst>
          </p:cNvPr>
          <p:cNvSpPr>
            <a:spLocks noGrp="1"/>
          </p:cNvSpPr>
          <p:nvPr/>
        </p:nvSpPr>
        <p:spPr>
          <a:xfrm>
            <a:off x="552450" y="4143375"/>
            <a:ext cx="10668000" cy="381000"/>
          </a:xfrm>
          <a:prstGeom prst="rect">
            <a:avLst/>
          </a:prstGeom>
          <a:noFill/>
          <a:ln w="0">
            <a:noFill/>
            <a:prstDash val="solid"/>
          </a:ln>
        </p:spPr>
        <p:txBody>
          <a:bodyPr lIns="0" tIns="0" rIns="0" bIns="0" anchor="t"/>
          <a:lstStyle>
            <a:defPPr>
              <a:defRPr sz="2100" b="1">
                <a:solidFill>
                  <a:srgbClr val="2E6F73"/>
                </a:solidFill>
                <a:latin typeface="Arial"/>
                <a:ea typeface="Arial"/>
                <a:cs typeface="Arial"/>
              </a:defRPr>
            </a:defPPr>
            <a:lvl1pPr>
              <a:defRPr sz="2100" b="1">
                <a:solidFill>
                  <a:srgbClr val="2E6F73"/>
                </a:solidFill>
                <a:latin typeface="Arial"/>
                <a:ea typeface="Arial"/>
                <a:cs typeface="Arial"/>
              </a:defRPr>
            </a:lvl1pPr>
            <a:lvl2pPr>
              <a:defRPr sz="2100" b="1">
                <a:solidFill>
                  <a:srgbClr val="2E6F73"/>
                </a:solidFill>
                <a:latin typeface="Arial"/>
                <a:ea typeface="Arial"/>
                <a:cs typeface="Arial"/>
              </a:defRPr>
            </a:lvl2pPr>
            <a:lvl3pPr>
              <a:defRPr sz="2100" b="1">
                <a:solidFill>
                  <a:srgbClr val="2E6F73"/>
                </a:solidFill>
                <a:latin typeface="Arial"/>
                <a:ea typeface="Arial"/>
                <a:cs typeface="Arial"/>
              </a:defRPr>
            </a:lvl3pPr>
            <a:lvl4pPr>
              <a:defRPr sz="2100" b="1">
                <a:solidFill>
                  <a:srgbClr val="2E6F73"/>
                </a:solidFill>
                <a:latin typeface="Arial"/>
                <a:ea typeface="Arial"/>
                <a:cs typeface="Arial"/>
              </a:defRPr>
            </a:lvl4pPr>
            <a:lvl5pPr>
              <a:defRPr sz="2100" b="1">
                <a:solidFill>
                  <a:srgbClr val="2E6F73"/>
                </a:solidFill>
                <a:latin typeface="Arial"/>
                <a:ea typeface="Arial"/>
                <a:cs typeface="Arial"/>
              </a:defRPr>
            </a:lvl5pPr>
            <a:lvl6pPr>
              <a:defRPr sz="2100" b="1">
                <a:solidFill>
                  <a:srgbClr val="2E6F73"/>
                </a:solidFill>
                <a:latin typeface="Arial"/>
                <a:ea typeface="Arial"/>
                <a:cs typeface="Arial"/>
              </a:defRPr>
            </a:lvl6pPr>
            <a:lvl7pPr>
              <a:defRPr sz="2100" b="1">
                <a:solidFill>
                  <a:srgbClr val="2E6F73"/>
                </a:solidFill>
                <a:latin typeface="Arial"/>
                <a:ea typeface="Arial"/>
                <a:cs typeface="Arial"/>
              </a:defRPr>
            </a:lvl7pPr>
            <a:lvl8pPr>
              <a:defRPr sz="2100" b="1">
                <a:solidFill>
                  <a:srgbClr val="2E6F73"/>
                </a:solidFill>
                <a:latin typeface="Arial"/>
                <a:ea typeface="Arial"/>
                <a:cs typeface="Arial"/>
              </a:defRPr>
            </a:lvl8pPr>
            <a:lvl9pPr>
              <a:defRPr sz="2100" b="1">
                <a:solidFill>
                  <a:srgbClr val="2E6F73"/>
                </a:solidFill>
                <a:latin typeface="Arial"/>
                <a:ea typeface="Arial"/>
                <a:cs typeface="Arial"/>
              </a:defRPr>
            </a:lvl9pPr>
          </a:lstStyle>
          <a:p>
            <a:pPr>
              <a:defRPr sz="2100" b="1">
                <a:solidFill>
                  <a:srgbClr val="2E6F73"/>
                </a:solidFill>
                <a:latin typeface="Arial"/>
                <a:ea typeface="Arial"/>
                <a:cs typeface="Arial"/>
              </a:defRPr>
            </a:pPr>
            <a:r>
              <a:rPr sz="2100" b="1">
                <a:solidFill>
                  <a:srgbClr val="2E6F73"/>
                </a:solidFill>
                <a:latin typeface="Arial"/>
                <a:ea typeface="Arial"/>
                <a:cs typeface="Arial"/>
              </a:rPr>
              <a:t>Estimator matters</a:t>
            </a:r>
          </a:p>
        </p:txBody>
      </p:sp>
      <p:sp>
        <p:nvSpPr>
          <p:cNvPr id="8" name="text-7">
            <a:extLst>
              <a:ext uri="{FF2B5EF4-FFF2-40B4-BE49-F238E27FC236}">
                <a16:creationId xmlns:a16="http://schemas.microsoft.com/office/drawing/2014/main" id="{8AB94D57-86C3-4E2E-B81B-EAD9CC483ABC}"/>
              </a:ext>
            </a:extLst>
          </p:cNvPr>
          <p:cNvSpPr>
            <a:spLocks noGrp="1"/>
          </p:cNvSpPr>
          <p:nvPr/>
        </p:nvSpPr>
        <p:spPr>
          <a:xfrm>
            <a:off x="552450" y="4552950"/>
            <a:ext cx="10668000" cy="781050"/>
          </a:xfrm>
          <a:prstGeom prst="rect">
            <a:avLst/>
          </a:prstGeom>
          <a:noFill/>
          <a:ln w="0">
            <a:noFill/>
            <a:prstDash val="solid"/>
          </a:ln>
        </p:spPr>
        <p:txBody>
          <a:bodyPr lIns="0" tIns="0" rIns="0" bIns="0" anchor="t"/>
          <a:lstStyle>
            <a:defPPr>
              <a:defRPr sz="2025" b="0">
                <a:solidFill>
                  <a:srgbClr val="1F2A36"/>
                </a:solidFill>
                <a:latin typeface="Arial"/>
                <a:ea typeface="Arial"/>
                <a:cs typeface="Arial"/>
              </a:defRPr>
            </a:defPPr>
            <a:lvl1pPr>
              <a:defRPr sz="2025" b="0">
                <a:solidFill>
                  <a:srgbClr val="1F2A36"/>
                </a:solidFill>
                <a:latin typeface="Arial"/>
                <a:ea typeface="Arial"/>
                <a:cs typeface="Arial"/>
              </a:defRPr>
            </a:lvl1pPr>
            <a:lvl2pPr>
              <a:defRPr sz="2025" b="0">
                <a:solidFill>
                  <a:srgbClr val="1F2A36"/>
                </a:solidFill>
                <a:latin typeface="Arial"/>
                <a:ea typeface="Arial"/>
                <a:cs typeface="Arial"/>
              </a:defRPr>
            </a:lvl2pPr>
            <a:lvl3pPr>
              <a:defRPr sz="2025" b="0">
                <a:solidFill>
                  <a:srgbClr val="1F2A36"/>
                </a:solidFill>
                <a:latin typeface="Arial"/>
                <a:ea typeface="Arial"/>
                <a:cs typeface="Arial"/>
              </a:defRPr>
            </a:lvl3pPr>
            <a:lvl4pPr>
              <a:defRPr sz="2025" b="0">
                <a:solidFill>
                  <a:srgbClr val="1F2A36"/>
                </a:solidFill>
                <a:latin typeface="Arial"/>
                <a:ea typeface="Arial"/>
                <a:cs typeface="Arial"/>
              </a:defRPr>
            </a:lvl4pPr>
            <a:lvl5pPr>
              <a:defRPr sz="2025" b="0">
                <a:solidFill>
                  <a:srgbClr val="1F2A36"/>
                </a:solidFill>
                <a:latin typeface="Arial"/>
                <a:ea typeface="Arial"/>
                <a:cs typeface="Arial"/>
              </a:defRPr>
            </a:lvl5pPr>
            <a:lvl6pPr>
              <a:defRPr sz="2025" b="0">
                <a:solidFill>
                  <a:srgbClr val="1F2A36"/>
                </a:solidFill>
                <a:latin typeface="Arial"/>
                <a:ea typeface="Arial"/>
                <a:cs typeface="Arial"/>
              </a:defRPr>
            </a:lvl6pPr>
            <a:lvl7pPr>
              <a:defRPr sz="2025" b="0">
                <a:solidFill>
                  <a:srgbClr val="1F2A36"/>
                </a:solidFill>
                <a:latin typeface="Arial"/>
                <a:ea typeface="Arial"/>
                <a:cs typeface="Arial"/>
              </a:defRPr>
            </a:lvl7pPr>
            <a:lvl8pPr>
              <a:defRPr sz="2025" b="0">
                <a:solidFill>
                  <a:srgbClr val="1F2A36"/>
                </a:solidFill>
                <a:latin typeface="Arial"/>
                <a:ea typeface="Arial"/>
                <a:cs typeface="Arial"/>
              </a:defRPr>
            </a:lvl8pPr>
            <a:lvl9pPr>
              <a:defRPr sz="2025" b="0">
                <a:solidFill>
                  <a:srgbClr val="1F2A36"/>
                </a:solidFill>
                <a:latin typeface="Arial"/>
                <a:ea typeface="Arial"/>
                <a:cs typeface="Arial"/>
              </a:defRPr>
            </a:lvl9pPr>
          </a:lstStyle>
          <a:p>
            <a:pPr>
              <a:defRPr sz="2025" b="0">
                <a:solidFill>
                  <a:srgbClr val="1F2A36"/>
                </a:solidFill>
                <a:latin typeface="Arial"/>
                <a:ea typeface="Arial"/>
                <a:cs typeface="Arial"/>
              </a:defRPr>
            </a:pPr>
            <a:r>
              <a:rPr sz="2025" b="0">
                <a:solidFill>
                  <a:srgbClr val="1F2A36"/>
                </a:solidFill>
                <a:latin typeface="Arial"/>
                <a:ea typeface="Arial"/>
                <a:cs typeface="Arial"/>
              </a:rPr>
              <a:t>Conventional TWFE coefficients can mix effects across cohorts and periods.</a:t>
            </a:r>
          </a:p>
        </p:txBody>
      </p:sp>
    </p:spTree>
    <p:extLst>
      <p:ext uri="{BB962C8B-B14F-4D97-AF65-F5344CB8AC3E}">
        <p14:creationId xmlns:p14="http://schemas.microsoft.com/office/powerpoint/2010/main" val="14376175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text-0">
            <a:extLst>
              <a:ext uri="{FF2B5EF4-FFF2-40B4-BE49-F238E27FC236}">
                <a16:creationId xmlns:a16="http://schemas.microsoft.com/office/drawing/2014/main" id="{00364D3E-B69E-4EE2-ACA9-A9D436898B86}"/>
              </a:ext>
            </a:extLst>
          </p:cNvPr>
          <p:cNvSpPr>
            <a:spLocks noGrp="1"/>
          </p:cNvSpPr>
          <p:nvPr/>
        </p:nvSpPr>
        <p:spPr>
          <a:xfrm>
            <a:off x="552450" y="361950"/>
            <a:ext cx="11087100" cy="857250"/>
          </a:xfrm>
          <a:prstGeom prst="rect">
            <a:avLst/>
          </a:prstGeom>
          <a:noFill/>
          <a:ln w="0">
            <a:noFill/>
            <a:prstDash val="solid"/>
          </a:ln>
        </p:spPr>
        <p:txBody>
          <a:bodyPr lIns="0" tIns="0" rIns="0" bIns="0" anchor="t"/>
          <a:lstStyle>
            <a:defPPr>
              <a:defRPr sz="3000" b="1">
                <a:solidFill>
                  <a:srgbClr val="1F2A36"/>
                </a:solidFill>
                <a:latin typeface="Arial"/>
                <a:ea typeface="Arial"/>
                <a:cs typeface="Arial"/>
              </a:defRPr>
            </a:defPPr>
            <a:lvl1pPr>
              <a:defRPr sz="3000" b="1">
                <a:solidFill>
                  <a:srgbClr val="1F2A36"/>
                </a:solidFill>
                <a:latin typeface="Arial"/>
                <a:ea typeface="Arial"/>
                <a:cs typeface="Arial"/>
              </a:defRPr>
            </a:lvl1pPr>
            <a:lvl2pPr>
              <a:defRPr sz="3000" b="1">
                <a:solidFill>
                  <a:srgbClr val="1F2A36"/>
                </a:solidFill>
                <a:latin typeface="Arial"/>
                <a:ea typeface="Arial"/>
                <a:cs typeface="Arial"/>
              </a:defRPr>
            </a:lvl2pPr>
            <a:lvl3pPr>
              <a:defRPr sz="3000" b="1">
                <a:solidFill>
                  <a:srgbClr val="1F2A36"/>
                </a:solidFill>
                <a:latin typeface="Arial"/>
                <a:ea typeface="Arial"/>
                <a:cs typeface="Arial"/>
              </a:defRPr>
            </a:lvl3pPr>
            <a:lvl4pPr>
              <a:defRPr sz="3000" b="1">
                <a:solidFill>
                  <a:srgbClr val="1F2A36"/>
                </a:solidFill>
                <a:latin typeface="Arial"/>
                <a:ea typeface="Arial"/>
                <a:cs typeface="Arial"/>
              </a:defRPr>
            </a:lvl4pPr>
            <a:lvl5pPr>
              <a:defRPr sz="3000" b="1">
                <a:solidFill>
                  <a:srgbClr val="1F2A36"/>
                </a:solidFill>
                <a:latin typeface="Arial"/>
                <a:ea typeface="Arial"/>
                <a:cs typeface="Arial"/>
              </a:defRPr>
            </a:lvl5pPr>
            <a:lvl6pPr>
              <a:defRPr sz="3000" b="1">
                <a:solidFill>
                  <a:srgbClr val="1F2A36"/>
                </a:solidFill>
                <a:latin typeface="Arial"/>
                <a:ea typeface="Arial"/>
                <a:cs typeface="Arial"/>
              </a:defRPr>
            </a:lvl6pPr>
            <a:lvl7pPr>
              <a:defRPr sz="3000" b="1">
                <a:solidFill>
                  <a:srgbClr val="1F2A36"/>
                </a:solidFill>
                <a:latin typeface="Arial"/>
                <a:ea typeface="Arial"/>
                <a:cs typeface="Arial"/>
              </a:defRPr>
            </a:lvl7pPr>
            <a:lvl8pPr>
              <a:defRPr sz="3000" b="1">
                <a:solidFill>
                  <a:srgbClr val="1F2A36"/>
                </a:solidFill>
                <a:latin typeface="Arial"/>
                <a:ea typeface="Arial"/>
                <a:cs typeface="Arial"/>
              </a:defRPr>
            </a:lvl8pPr>
            <a:lvl9pPr>
              <a:defRPr sz="3000" b="1">
                <a:solidFill>
                  <a:srgbClr val="1F2A36"/>
                </a:solidFill>
                <a:latin typeface="Arial"/>
                <a:ea typeface="Arial"/>
                <a:cs typeface="Arial"/>
              </a:defRPr>
            </a:lvl9pPr>
          </a:lstStyle>
          <a:p>
            <a:pPr>
              <a:defRPr sz="3000" b="1">
                <a:solidFill>
                  <a:srgbClr val="1F2A36"/>
                </a:solidFill>
                <a:latin typeface="Arial"/>
                <a:ea typeface="Arial"/>
                <a:cs typeface="Arial"/>
              </a:defRPr>
            </a:pPr>
            <a:r>
              <a:rPr sz="3000" b="1">
                <a:solidFill>
                  <a:srgbClr val="1F2A36"/>
                </a:solidFill>
                <a:latin typeface="Arial"/>
                <a:ea typeface="Arial"/>
                <a:cs typeface="Arial"/>
              </a:rPr>
              <a:t>Backup: methods students may encounter</a:t>
            </a:r>
          </a:p>
        </p:txBody>
      </p:sp>
      <p:sp>
        <p:nvSpPr>
          <p:cNvPr id="2" name="text-1">
            <a:extLst>
              <a:ext uri="{FF2B5EF4-FFF2-40B4-BE49-F238E27FC236}">
                <a16:creationId xmlns:a16="http://schemas.microsoft.com/office/drawing/2014/main" id="{B26FCC57-771E-401F-9C7E-96239CBAD0C6}"/>
              </a:ext>
            </a:extLst>
          </p:cNvPr>
          <p:cNvSpPr>
            <a:spLocks noGrp="1"/>
          </p:cNvSpPr>
          <p:nvPr/>
        </p:nvSpPr>
        <p:spPr>
          <a:xfrm>
            <a:off x="11239500" y="6400800"/>
            <a:ext cx="476250" cy="266700"/>
          </a:xfrm>
          <a:prstGeom prst="rect">
            <a:avLst/>
          </a:prstGeom>
          <a:noFill/>
          <a:ln w="0">
            <a:noFill/>
            <a:prstDash val="solid"/>
          </a:ln>
        </p:spPr>
        <p:txBody>
          <a:bodyPr lIns="0" tIns="0" rIns="0" bIns="0" anchor="t"/>
          <a:lstStyle>
            <a:defPPr>
              <a:defRPr sz="1350" b="0">
                <a:solidFill>
                  <a:srgbClr val="5B6B78"/>
                </a:solidFill>
                <a:latin typeface="Arial"/>
                <a:ea typeface="Arial"/>
                <a:cs typeface="Arial"/>
              </a:defRPr>
            </a:defPPr>
            <a:lvl1pPr>
              <a:defRPr sz="1350" b="0">
                <a:solidFill>
                  <a:srgbClr val="5B6B78"/>
                </a:solidFill>
                <a:latin typeface="Arial"/>
                <a:ea typeface="Arial"/>
                <a:cs typeface="Arial"/>
              </a:defRPr>
            </a:lvl1pPr>
            <a:lvl2pPr>
              <a:defRPr sz="1350" b="0">
                <a:solidFill>
                  <a:srgbClr val="5B6B78"/>
                </a:solidFill>
                <a:latin typeface="Arial"/>
                <a:ea typeface="Arial"/>
                <a:cs typeface="Arial"/>
              </a:defRPr>
            </a:lvl2pPr>
            <a:lvl3pPr>
              <a:defRPr sz="1350" b="0">
                <a:solidFill>
                  <a:srgbClr val="5B6B78"/>
                </a:solidFill>
                <a:latin typeface="Arial"/>
                <a:ea typeface="Arial"/>
                <a:cs typeface="Arial"/>
              </a:defRPr>
            </a:lvl3pPr>
            <a:lvl4pPr>
              <a:defRPr sz="1350" b="0">
                <a:solidFill>
                  <a:srgbClr val="5B6B78"/>
                </a:solidFill>
                <a:latin typeface="Arial"/>
                <a:ea typeface="Arial"/>
                <a:cs typeface="Arial"/>
              </a:defRPr>
            </a:lvl4pPr>
            <a:lvl5pPr>
              <a:defRPr sz="1350" b="0">
                <a:solidFill>
                  <a:srgbClr val="5B6B78"/>
                </a:solidFill>
                <a:latin typeface="Arial"/>
                <a:ea typeface="Arial"/>
                <a:cs typeface="Arial"/>
              </a:defRPr>
            </a:lvl5pPr>
            <a:lvl6pPr>
              <a:defRPr sz="1350" b="0">
                <a:solidFill>
                  <a:srgbClr val="5B6B78"/>
                </a:solidFill>
                <a:latin typeface="Arial"/>
                <a:ea typeface="Arial"/>
                <a:cs typeface="Arial"/>
              </a:defRPr>
            </a:lvl6pPr>
            <a:lvl7pPr>
              <a:defRPr sz="1350" b="0">
                <a:solidFill>
                  <a:srgbClr val="5B6B78"/>
                </a:solidFill>
                <a:latin typeface="Arial"/>
                <a:ea typeface="Arial"/>
                <a:cs typeface="Arial"/>
              </a:defRPr>
            </a:lvl7pPr>
            <a:lvl8pPr>
              <a:defRPr sz="1350" b="0">
                <a:solidFill>
                  <a:srgbClr val="5B6B78"/>
                </a:solidFill>
                <a:latin typeface="Arial"/>
                <a:ea typeface="Arial"/>
                <a:cs typeface="Arial"/>
              </a:defRPr>
            </a:lvl8pPr>
            <a:lvl9pPr>
              <a:defRPr sz="1350" b="0">
                <a:solidFill>
                  <a:srgbClr val="5B6B78"/>
                </a:solidFill>
                <a:latin typeface="Arial"/>
                <a:ea typeface="Arial"/>
                <a:cs typeface="Arial"/>
              </a:defRPr>
            </a:lvl9pPr>
          </a:lstStyle>
          <a:p>
            <a:pPr>
              <a:defRPr sz="1350" b="0">
                <a:solidFill>
                  <a:srgbClr val="5B6B78"/>
                </a:solidFill>
                <a:latin typeface="Arial"/>
                <a:ea typeface="Arial"/>
                <a:cs typeface="Arial"/>
              </a:defRPr>
            </a:pPr>
            <a:r>
              <a:rPr sz="1350" b="0">
                <a:solidFill>
                  <a:srgbClr val="5B6B78"/>
                </a:solidFill>
                <a:latin typeface="Arial"/>
                <a:ea typeface="Arial"/>
                <a:cs typeface="Arial"/>
              </a:rPr>
              <a:t>21</a:t>
            </a:r>
          </a:p>
        </p:txBody>
      </p:sp>
      <p:graphicFrame>
        <p:nvGraphicFramePr>
          <p:cNvPr id="3" name="Table 2">
            <a:extLst>
              <a:ext uri="{FF2B5EF4-FFF2-40B4-BE49-F238E27FC236}">
                <a16:creationId xmlns:a16="http://schemas.microsoft.com/office/drawing/2014/main" id="{89A72FA4-9FDF-4444-B2DA-FA63B76528CA}"/>
              </a:ext>
            </a:extLst>
          </p:cNvPr>
          <p:cNvGraphicFramePr/>
          <p:nvPr/>
        </p:nvGraphicFramePr>
        <p:xfrm>
          <a:off x="552450" y="1619250"/>
          <a:ext cx="10953750" cy="3333750"/>
        </p:xfrm>
        <a:graphic>
          <a:graphicData uri="http://schemas.openxmlformats.org/drawingml/2006/table">
            <a:tbl>
              <a:tblPr/>
              <a:tblGrid>
                <a:gridCol w="5810250">
                  <a:extLst>
                    <a:ext uri="{9D8B030D-6E8A-4147-A177-3AD203B41FA5}">
                      <a16:colId xmlns:a16="http://schemas.microsoft.com/office/drawing/2014/main" val="20000"/>
                    </a:ext>
                  </a:extLst>
                </a:gridCol>
                <a:gridCol w="5143500">
                  <a:extLst>
                    <a:ext uri="{9D8B030D-6E8A-4147-A177-3AD203B41FA5}">
                      <a16:colId xmlns:a16="http://schemas.microsoft.com/office/drawing/2014/main" val="20001"/>
                    </a:ext>
                  </a:extLst>
                </a:gridCol>
              </a:tblGrid>
              <a:tr h="666750">
                <a:tc>
                  <a:txBody>
                    <a:bodyPr/>
                    <a:lstStyle/>
                    <a:p>
                      <a:r>
                        <a:rPr sz="1800" b="1">
                          <a:solidFill>
                            <a:srgbClr val="FFFFFF"/>
                          </a:solidFill>
                          <a:latin typeface="Arial"/>
                          <a:ea typeface="Arial"/>
                          <a:cs typeface="Arial"/>
                        </a:rPr>
                        <a:t>Question</a:t>
                      </a:r>
                    </a:p>
                  </a:txBody>
                  <a:tcPr>
                    <a:solidFill>
                      <a:srgbClr val="2E6F73"/>
                    </a:solidFill>
                  </a:tcPr>
                </a:tc>
                <a:tc>
                  <a:txBody>
                    <a:bodyPr/>
                    <a:lstStyle/>
                    <a:p>
                      <a:r>
                        <a:rPr sz="1800" b="1">
                          <a:solidFill>
                            <a:srgbClr val="FFFFFF"/>
                          </a:solidFill>
                          <a:latin typeface="Arial"/>
                          <a:ea typeface="Arial"/>
                          <a:cs typeface="Arial"/>
                        </a:rPr>
                        <a:t>Starting point</a:t>
                      </a:r>
                    </a:p>
                  </a:txBody>
                  <a:tcPr>
                    <a:solidFill>
                      <a:srgbClr val="2E6F73"/>
                    </a:solidFill>
                  </a:tcPr>
                </a:tc>
                <a:extLst>
                  <a:ext uri="{0D108BD9-81ED-4DB2-BD59-A6C34878D82A}">
                    <a16:rowId xmlns:a16="http://schemas.microsoft.com/office/drawing/2014/main" val="10000"/>
                  </a:ext>
                </a:extLst>
              </a:tr>
              <a:tr h="666750">
                <a:tc>
                  <a:txBody>
                    <a:bodyPr/>
                    <a:lstStyle/>
                    <a:p>
                      <a:r>
                        <a:rPr sz="1800" b="0">
                          <a:solidFill>
                            <a:srgbClr val="1F2A36"/>
                          </a:solidFill>
                          <a:latin typeface="Arial"/>
                          <a:ea typeface="Arial"/>
                          <a:cs typeface="Arial"/>
                        </a:rPr>
                        <a:t>Cohort-by-period effects</a:t>
                      </a:r>
                    </a:p>
                  </a:txBody>
                  <a:tcPr>
                    <a:solidFill>
                      <a:srgbClr val="FFFFFF"/>
                    </a:solidFill>
                  </a:tcPr>
                </a:tc>
                <a:tc>
                  <a:txBody>
                    <a:bodyPr/>
                    <a:lstStyle/>
                    <a:p>
                      <a:r>
                        <a:rPr sz="1800" b="0">
                          <a:solidFill>
                            <a:srgbClr val="1F2A36"/>
                          </a:solidFill>
                          <a:latin typeface="Arial"/>
                          <a:ea typeface="Arial"/>
                          <a:cs typeface="Arial"/>
                        </a:rPr>
                        <a:t>Callaway &amp; Sant’Anna</a:t>
                      </a:r>
                    </a:p>
                  </a:txBody>
                  <a:tcPr>
                    <a:solidFill>
                      <a:srgbClr val="FFFFFF"/>
                    </a:solidFill>
                  </a:tcPr>
                </a:tc>
                <a:extLst>
                  <a:ext uri="{0D108BD9-81ED-4DB2-BD59-A6C34878D82A}">
                    <a16:rowId xmlns:a16="http://schemas.microsoft.com/office/drawing/2014/main" val="10001"/>
                  </a:ext>
                </a:extLst>
              </a:tr>
              <a:tr h="666750">
                <a:tc>
                  <a:txBody>
                    <a:bodyPr/>
                    <a:lstStyle/>
                    <a:p>
                      <a:r>
                        <a:rPr sz="1800" b="0">
                          <a:solidFill>
                            <a:srgbClr val="1F2A36"/>
                          </a:solidFill>
                          <a:latin typeface="Arial"/>
                          <a:ea typeface="Arial"/>
                          <a:cs typeface="Arial"/>
                        </a:rPr>
                        <a:t>Dynamic effects with staggered adoption</a:t>
                      </a:r>
                    </a:p>
                  </a:txBody>
                  <a:tcPr>
                    <a:solidFill>
                      <a:srgbClr val="EEF1F3"/>
                    </a:solidFill>
                  </a:tcPr>
                </a:tc>
                <a:tc>
                  <a:txBody>
                    <a:bodyPr/>
                    <a:lstStyle/>
                    <a:p>
                      <a:r>
                        <a:rPr sz="1800" b="0">
                          <a:solidFill>
                            <a:srgbClr val="1F2A36"/>
                          </a:solidFill>
                          <a:latin typeface="Arial"/>
                          <a:ea typeface="Arial"/>
                          <a:cs typeface="Arial"/>
                        </a:rPr>
                        <a:t>Sun &amp; Abraham; Borusyak, Jaravel &amp; Spiess</a:t>
                      </a:r>
                    </a:p>
                  </a:txBody>
                  <a:tcPr>
                    <a:solidFill>
                      <a:srgbClr val="EEF1F3"/>
                    </a:solidFill>
                  </a:tcPr>
                </a:tc>
                <a:extLst>
                  <a:ext uri="{0D108BD9-81ED-4DB2-BD59-A6C34878D82A}">
                    <a16:rowId xmlns:a16="http://schemas.microsoft.com/office/drawing/2014/main" val="10002"/>
                  </a:ext>
                </a:extLst>
              </a:tr>
              <a:tr h="666750">
                <a:tc>
                  <a:txBody>
                    <a:bodyPr/>
                    <a:lstStyle/>
                    <a:p>
                      <a:r>
                        <a:rPr sz="1800" b="0">
                          <a:solidFill>
                            <a:srgbClr val="1F2A36"/>
                          </a:solidFill>
                          <a:latin typeface="Arial"/>
                          <a:ea typeface="Arial"/>
                          <a:cs typeface="Arial"/>
                        </a:rPr>
                        <a:t>Treatment changes or switches off</a:t>
                      </a:r>
                    </a:p>
                  </a:txBody>
                  <a:tcPr>
                    <a:solidFill>
                      <a:srgbClr val="FFFFFF"/>
                    </a:solidFill>
                  </a:tcPr>
                </a:tc>
                <a:tc>
                  <a:txBody>
                    <a:bodyPr/>
                    <a:lstStyle/>
                    <a:p>
                      <a:r>
                        <a:rPr sz="1800" b="0">
                          <a:solidFill>
                            <a:srgbClr val="1F2A36"/>
                          </a:solidFill>
                          <a:latin typeface="Arial"/>
                          <a:ea typeface="Arial"/>
                          <a:cs typeface="Arial"/>
                        </a:rPr>
                        <a:t>Methods allowing treatment changes and lagged effects</a:t>
                      </a:r>
                    </a:p>
                  </a:txBody>
                  <a:tcPr>
                    <a:solidFill>
                      <a:srgbClr val="FFFFFF"/>
                    </a:solidFill>
                  </a:tcPr>
                </a:tc>
                <a:extLst>
                  <a:ext uri="{0D108BD9-81ED-4DB2-BD59-A6C34878D82A}">
                    <a16:rowId xmlns:a16="http://schemas.microsoft.com/office/drawing/2014/main" val="10003"/>
                  </a:ext>
                </a:extLst>
              </a:tr>
              <a:tr h="666750">
                <a:tc>
                  <a:txBody>
                    <a:bodyPr/>
                    <a:lstStyle/>
                    <a:p>
                      <a:r>
                        <a:rPr sz="1800" b="0">
                          <a:solidFill>
                            <a:srgbClr val="1F2A36"/>
                          </a:solidFill>
                          <a:latin typeface="Arial"/>
                          <a:ea typeface="Arial"/>
                          <a:cs typeface="Arial"/>
                        </a:rPr>
                        <a:t>Sensitivity to departures from trends</a:t>
                      </a:r>
                    </a:p>
                  </a:txBody>
                  <a:tcPr>
                    <a:solidFill>
                      <a:srgbClr val="EEF1F3"/>
                    </a:solidFill>
                  </a:tcPr>
                </a:tc>
                <a:tc>
                  <a:txBody>
                    <a:bodyPr/>
                    <a:lstStyle/>
                    <a:p>
                      <a:r>
                        <a:rPr sz="1800" b="0">
                          <a:solidFill>
                            <a:srgbClr val="1F2A36"/>
                          </a:solidFill>
                          <a:latin typeface="Arial"/>
                          <a:ea typeface="Arial"/>
                          <a:cs typeface="Arial"/>
                        </a:rPr>
                        <a:t>Rambachan &amp; Roth / HonestDiD</a:t>
                      </a:r>
                    </a:p>
                  </a:txBody>
                  <a:tcPr>
                    <a:solidFill>
                      <a:srgbClr val="EEF1F3"/>
                    </a:solidFill>
                  </a:tcPr>
                </a:tc>
                <a:extLst>
                  <a:ext uri="{0D108BD9-81ED-4DB2-BD59-A6C34878D82A}">
                    <a16:rowId xmlns:a16="http://schemas.microsoft.com/office/drawing/2014/main" val="10004"/>
                  </a:ext>
                </a:extLst>
              </a:tr>
            </a:tbl>
          </a:graphicData>
        </a:graphic>
      </p:graphicFrame>
      <p:sp>
        <p:nvSpPr>
          <p:cNvPr id="4" name="text-2">
            <a:extLst>
              <a:ext uri="{FF2B5EF4-FFF2-40B4-BE49-F238E27FC236}">
                <a16:creationId xmlns:a16="http://schemas.microsoft.com/office/drawing/2014/main" id="{85BA306A-B459-46BA-BAEE-3F4ACA8FB2EE}"/>
              </a:ext>
            </a:extLst>
          </p:cNvPr>
          <p:cNvSpPr>
            <a:spLocks noGrp="1"/>
          </p:cNvSpPr>
          <p:nvPr/>
        </p:nvSpPr>
        <p:spPr>
          <a:xfrm>
            <a:off x="552450" y="5334000"/>
            <a:ext cx="10858500" cy="762000"/>
          </a:xfrm>
          <a:prstGeom prst="rect">
            <a:avLst/>
          </a:prstGeom>
          <a:noFill/>
          <a:ln w="0">
            <a:noFill/>
            <a:prstDash val="solid"/>
          </a:ln>
        </p:spPr>
        <p:txBody>
          <a:bodyPr lIns="0" tIns="0" rIns="0" bIns="0" anchor="t"/>
          <a:lstStyle>
            <a:defPPr>
              <a:defRPr sz="2250" b="1">
                <a:solidFill>
                  <a:srgbClr val="2E6F73"/>
                </a:solidFill>
                <a:latin typeface="Arial"/>
                <a:ea typeface="Arial"/>
                <a:cs typeface="Arial"/>
              </a:defRPr>
            </a:defPPr>
            <a:lvl1pPr>
              <a:defRPr sz="2250" b="1">
                <a:solidFill>
                  <a:srgbClr val="2E6F73"/>
                </a:solidFill>
                <a:latin typeface="Arial"/>
                <a:ea typeface="Arial"/>
                <a:cs typeface="Arial"/>
              </a:defRPr>
            </a:lvl1pPr>
            <a:lvl2pPr>
              <a:defRPr sz="2250" b="1">
                <a:solidFill>
                  <a:srgbClr val="2E6F73"/>
                </a:solidFill>
                <a:latin typeface="Arial"/>
                <a:ea typeface="Arial"/>
                <a:cs typeface="Arial"/>
              </a:defRPr>
            </a:lvl2pPr>
            <a:lvl3pPr>
              <a:defRPr sz="2250" b="1">
                <a:solidFill>
                  <a:srgbClr val="2E6F73"/>
                </a:solidFill>
                <a:latin typeface="Arial"/>
                <a:ea typeface="Arial"/>
                <a:cs typeface="Arial"/>
              </a:defRPr>
            </a:lvl3pPr>
            <a:lvl4pPr>
              <a:defRPr sz="2250" b="1">
                <a:solidFill>
                  <a:srgbClr val="2E6F73"/>
                </a:solidFill>
                <a:latin typeface="Arial"/>
                <a:ea typeface="Arial"/>
                <a:cs typeface="Arial"/>
              </a:defRPr>
            </a:lvl4pPr>
            <a:lvl5pPr>
              <a:defRPr sz="2250" b="1">
                <a:solidFill>
                  <a:srgbClr val="2E6F73"/>
                </a:solidFill>
                <a:latin typeface="Arial"/>
                <a:ea typeface="Arial"/>
                <a:cs typeface="Arial"/>
              </a:defRPr>
            </a:lvl5pPr>
            <a:lvl6pPr>
              <a:defRPr sz="2250" b="1">
                <a:solidFill>
                  <a:srgbClr val="2E6F73"/>
                </a:solidFill>
                <a:latin typeface="Arial"/>
                <a:ea typeface="Arial"/>
                <a:cs typeface="Arial"/>
              </a:defRPr>
            </a:lvl6pPr>
            <a:lvl7pPr>
              <a:defRPr sz="2250" b="1">
                <a:solidFill>
                  <a:srgbClr val="2E6F73"/>
                </a:solidFill>
                <a:latin typeface="Arial"/>
                <a:ea typeface="Arial"/>
                <a:cs typeface="Arial"/>
              </a:defRPr>
            </a:lvl7pPr>
            <a:lvl8pPr>
              <a:defRPr sz="2250" b="1">
                <a:solidFill>
                  <a:srgbClr val="2E6F73"/>
                </a:solidFill>
                <a:latin typeface="Arial"/>
                <a:ea typeface="Arial"/>
                <a:cs typeface="Arial"/>
              </a:defRPr>
            </a:lvl8pPr>
            <a:lvl9pPr>
              <a:defRPr sz="2250" b="1">
                <a:solidFill>
                  <a:srgbClr val="2E6F73"/>
                </a:solidFill>
                <a:latin typeface="Arial"/>
                <a:ea typeface="Arial"/>
                <a:cs typeface="Arial"/>
              </a:defRPr>
            </a:lvl9pPr>
          </a:lstStyle>
          <a:p>
            <a:pPr>
              <a:defRPr sz="2250" b="1">
                <a:solidFill>
                  <a:srgbClr val="2E6F73"/>
                </a:solidFill>
                <a:latin typeface="Arial"/>
                <a:ea typeface="Arial"/>
                <a:cs typeface="Arial"/>
              </a:defRPr>
            </a:pPr>
            <a:r>
              <a:rPr sz="2250" b="1">
                <a:solidFill>
                  <a:srgbClr val="2E6F73"/>
                </a:solidFill>
                <a:latin typeface="Arial"/>
                <a:ea typeface="Arial"/>
                <a:cs typeface="Arial"/>
              </a:rPr>
              <a:t>Modern estimation does not remove the need for a credible comparison.</a:t>
            </a:r>
          </a:p>
        </p:txBody>
      </p:sp>
    </p:spTree>
    <p:extLst>
      <p:ext uri="{BB962C8B-B14F-4D97-AF65-F5344CB8AC3E}">
        <p14:creationId xmlns:p14="http://schemas.microsoft.com/office/powerpoint/2010/main" val="16319386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ext-0">
            <a:extLst>
              <a:ext uri="{FF2B5EF4-FFF2-40B4-BE49-F238E27FC236}">
                <a16:creationId xmlns:a16="http://schemas.microsoft.com/office/drawing/2014/main" id="{424D50BF-3FE1-4951-91BD-C29FA97A3C4A}"/>
              </a:ext>
            </a:extLst>
          </p:cNvPr>
          <p:cNvSpPr>
            <a:spLocks noGrp="1"/>
          </p:cNvSpPr>
          <p:nvPr/>
        </p:nvSpPr>
        <p:spPr>
          <a:xfrm>
            <a:off x="552450" y="361950"/>
            <a:ext cx="11087100" cy="857250"/>
          </a:xfrm>
          <a:prstGeom prst="rect">
            <a:avLst/>
          </a:prstGeom>
          <a:noFill/>
          <a:ln w="0">
            <a:noFill/>
            <a:prstDash val="solid"/>
          </a:ln>
        </p:spPr>
        <p:txBody>
          <a:bodyPr lIns="0" tIns="0" rIns="0" bIns="0" anchor="t"/>
          <a:lstStyle>
            <a:defPPr>
              <a:defRPr sz="3000" b="1">
                <a:solidFill>
                  <a:srgbClr val="1F2A36"/>
                </a:solidFill>
                <a:latin typeface="Arial"/>
                <a:ea typeface="Arial"/>
                <a:cs typeface="Arial"/>
              </a:defRPr>
            </a:defPPr>
            <a:lvl1pPr>
              <a:defRPr sz="3000" b="1">
                <a:solidFill>
                  <a:srgbClr val="1F2A36"/>
                </a:solidFill>
                <a:latin typeface="Arial"/>
                <a:ea typeface="Arial"/>
                <a:cs typeface="Arial"/>
              </a:defRPr>
            </a:lvl1pPr>
            <a:lvl2pPr>
              <a:defRPr sz="3000" b="1">
                <a:solidFill>
                  <a:srgbClr val="1F2A36"/>
                </a:solidFill>
                <a:latin typeface="Arial"/>
                <a:ea typeface="Arial"/>
                <a:cs typeface="Arial"/>
              </a:defRPr>
            </a:lvl2pPr>
            <a:lvl3pPr>
              <a:defRPr sz="3000" b="1">
                <a:solidFill>
                  <a:srgbClr val="1F2A36"/>
                </a:solidFill>
                <a:latin typeface="Arial"/>
                <a:ea typeface="Arial"/>
                <a:cs typeface="Arial"/>
              </a:defRPr>
            </a:lvl3pPr>
            <a:lvl4pPr>
              <a:defRPr sz="3000" b="1">
                <a:solidFill>
                  <a:srgbClr val="1F2A36"/>
                </a:solidFill>
                <a:latin typeface="Arial"/>
                <a:ea typeface="Arial"/>
                <a:cs typeface="Arial"/>
              </a:defRPr>
            </a:lvl4pPr>
            <a:lvl5pPr>
              <a:defRPr sz="3000" b="1">
                <a:solidFill>
                  <a:srgbClr val="1F2A36"/>
                </a:solidFill>
                <a:latin typeface="Arial"/>
                <a:ea typeface="Arial"/>
                <a:cs typeface="Arial"/>
              </a:defRPr>
            </a:lvl5pPr>
            <a:lvl6pPr>
              <a:defRPr sz="3000" b="1">
                <a:solidFill>
                  <a:srgbClr val="1F2A36"/>
                </a:solidFill>
                <a:latin typeface="Arial"/>
                <a:ea typeface="Arial"/>
                <a:cs typeface="Arial"/>
              </a:defRPr>
            </a:lvl6pPr>
            <a:lvl7pPr>
              <a:defRPr sz="3000" b="1">
                <a:solidFill>
                  <a:srgbClr val="1F2A36"/>
                </a:solidFill>
                <a:latin typeface="Arial"/>
                <a:ea typeface="Arial"/>
                <a:cs typeface="Arial"/>
              </a:defRPr>
            </a:lvl7pPr>
            <a:lvl8pPr>
              <a:defRPr sz="3000" b="1">
                <a:solidFill>
                  <a:srgbClr val="1F2A36"/>
                </a:solidFill>
                <a:latin typeface="Arial"/>
                <a:ea typeface="Arial"/>
                <a:cs typeface="Arial"/>
              </a:defRPr>
            </a:lvl8pPr>
            <a:lvl9pPr>
              <a:defRPr sz="3000" b="1">
                <a:solidFill>
                  <a:srgbClr val="1F2A36"/>
                </a:solidFill>
                <a:latin typeface="Arial"/>
                <a:ea typeface="Arial"/>
                <a:cs typeface="Arial"/>
              </a:defRPr>
            </a:lvl9pPr>
          </a:lstStyle>
          <a:p>
            <a:pPr>
              <a:defRPr sz="3000" b="1">
                <a:solidFill>
                  <a:srgbClr val="1F2A36"/>
                </a:solidFill>
                <a:latin typeface="Arial"/>
                <a:ea typeface="Arial"/>
                <a:cs typeface="Arial"/>
              </a:defRPr>
            </a:pPr>
            <a:r>
              <a:rPr sz="3000" b="1">
                <a:solidFill>
                  <a:srgbClr val="1F2A36"/>
                </a:solidFill>
                <a:latin typeface="Arial"/>
                <a:ea typeface="Arial"/>
                <a:cs typeface="Arial"/>
              </a:rPr>
              <a:t>References and teaching materials</a:t>
            </a:r>
          </a:p>
        </p:txBody>
      </p:sp>
      <p:sp>
        <p:nvSpPr>
          <p:cNvPr id="2" name="text-1">
            <a:extLst>
              <a:ext uri="{FF2B5EF4-FFF2-40B4-BE49-F238E27FC236}">
                <a16:creationId xmlns:a16="http://schemas.microsoft.com/office/drawing/2014/main" id="{DA2D194B-9836-44C4-A1CA-BE8E4E2E00EF}"/>
              </a:ext>
            </a:extLst>
          </p:cNvPr>
          <p:cNvSpPr>
            <a:spLocks noGrp="1"/>
          </p:cNvSpPr>
          <p:nvPr/>
        </p:nvSpPr>
        <p:spPr>
          <a:xfrm>
            <a:off x="11239500" y="6400800"/>
            <a:ext cx="476250" cy="266700"/>
          </a:xfrm>
          <a:prstGeom prst="rect">
            <a:avLst/>
          </a:prstGeom>
          <a:noFill/>
          <a:ln w="0">
            <a:noFill/>
            <a:prstDash val="solid"/>
          </a:ln>
        </p:spPr>
        <p:txBody>
          <a:bodyPr lIns="0" tIns="0" rIns="0" bIns="0" anchor="t"/>
          <a:lstStyle>
            <a:defPPr>
              <a:defRPr sz="1350" b="0">
                <a:solidFill>
                  <a:srgbClr val="5B6B78"/>
                </a:solidFill>
                <a:latin typeface="Arial"/>
                <a:ea typeface="Arial"/>
                <a:cs typeface="Arial"/>
              </a:defRPr>
            </a:defPPr>
            <a:lvl1pPr>
              <a:defRPr sz="1350" b="0">
                <a:solidFill>
                  <a:srgbClr val="5B6B78"/>
                </a:solidFill>
                <a:latin typeface="Arial"/>
                <a:ea typeface="Arial"/>
                <a:cs typeface="Arial"/>
              </a:defRPr>
            </a:lvl1pPr>
            <a:lvl2pPr>
              <a:defRPr sz="1350" b="0">
                <a:solidFill>
                  <a:srgbClr val="5B6B78"/>
                </a:solidFill>
                <a:latin typeface="Arial"/>
                <a:ea typeface="Arial"/>
                <a:cs typeface="Arial"/>
              </a:defRPr>
            </a:lvl2pPr>
            <a:lvl3pPr>
              <a:defRPr sz="1350" b="0">
                <a:solidFill>
                  <a:srgbClr val="5B6B78"/>
                </a:solidFill>
                <a:latin typeface="Arial"/>
                <a:ea typeface="Arial"/>
                <a:cs typeface="Arial"/>
              </a:defRPr>
            </a:lvl3pPr>
            <a:lvl4pPr>
              <a:defRPr sz="1350" b="0">
                <a:solidFill>
                  <a:srgbClr val="5B6B78"/>
                </a:solidFill>
                <a:latin typeface="Arial"/>
                <a:ea typeface="Arial"/>
                <a:cs typeface="Arial"/>
              </a:defRPr>
            </a:lvl4pPr>
            <a:lvl5pPr>
              <a:defRPr sz="1350" b="0">
                <a:solidFill>
                  <a:srgbClr val="5B6B78"/>
                </a:solidFill>
                <a:latin typeface="Arial"/>
                <a:ea typeface="Arial"/>
                <a:cs typeface="Arial"/>
              </a:defRPr>
            </a:lvl5pPr>
            <a:lvl6pPr>
              <a:defRPr sz="1350" b="0">
                <a:solidFill>
                  <a:srgbClr val="5B6B78"/>
                </a:solidFill>
                <a:latin typeface="Arial"/>
                <a:ea typeface="Arial"/>
                <a:cs typeface="Arial"/>
              </a:defRPr>
            </a:lvl6pPr>
            <a:lvl7pPr>
              <a:defRPr sz="1350" b="0">
                <a:solidFill>
                  <a:srgbClr val="5B6B78"/>
                </a:solidFill>
                <a:latin typeface="Arial"/>
                <a:ea typeface="Arial"/>
                <a:cs typeface="Arial"/>
              </a:defRPr>
            </a:lvl7pPr>
            <a:lvl8pPr>
              <a:defRPr sz="1350" b="0">
                <a:solidFill>
                  <a:srgbClr val="5B6B78"/>
                </a:solidFill>
                <a:latin typeface="Arial"/>
                <a:ea typeface="Arial"/>
                <a:cs typeface="Arial"/>
              </a:defRPr>
            </a:lvl8pPr>
            <a:lvl9pPr>
              <a:defRPr sz="1350" b="0">
                <a:solidFill>
                  <a:srgbClr val="5B6B78"/>
                </a:solidFill>
                <a:latin typeface="Arial"/>
                <a:ea typeface="Arial"/>
                <a:cs typeface="Arial"/>
              </a:defRPr>
            </a:lvl9pPr>
          </a:lstStyle>
          <a:p>
            <a:pPr>
              <a:defRPr sz="1350" b="0">
                <a:solidFill>
                  <a:srgbClr val="5B6B78"/>
                </a:solidFill>
                <a:latin typeface="Arial"/>
                <a:ea typeface="Arial"/>
                <a:cs typeface="Arial"/>
              </a:defRPr>
            </a:pPr>
            <a:r>
              <a:rPr sz="1350" b="0">
                <a:solidFill>
                  <a:srgbClr val="5B6B78"/>
                </a:solidFill>
                <a:latin typeface="Arial"/>
                <a:ea typeface="Arial"/>
                <a:cs typeface="Arial"/>
              </a:rPr>
              <a:t>22</a:t>
            </a:r>
          </a:p>
        </p:txBody>
      </p:sp>
      <p:sp>
        <p:nvSpPr>
          <p:cNvPr id="3" name="text-2">
            <a:extLst>
              <a:ext uri="{FF2B5EF4-FFF2-40B4-BE49-F238E27FC236}">
                <a16:creationId xmlns:a16="http://schemas.microsoft.com/office/drawing/2014/main" id="{C29E5E54-0CA6-4465-9933-BDD8857B5DF2}"/>
              </a:ext>
            </a:extLst>
          </p:cNvPr>
          <p:cNvSpPr>
            <a:spLocks noGrp="1"/>
          </p:cNvSpPr>
          <p:nvPr/>
        </p:nvSpPr>
        <p:spPr>
          <a:xfrm>
            <a:off x="552450" y="1428750"/>
            <a:ext cx="10906125" cy="647700"/>
          </a:xfrm>
          <a:prstGeom prst="rect">
            <a:avLst/>
          </a:prstGeom>
          <a:noFill/>
          <a:ln w="0">
            <a:noFill/>
            <a:prstDash val="solid"/>
          </a:ln>
        </p:spPr>
        <p:txBody>
          <a:bodyPr lIns="0" tIns="0" rIns="0" bIns="0" anchor="t"/>
          <a:lstStyle>
            <a:defPPr>
              <a:defRPr sz="1650" b="0">
                <a:solidFill>
                  <a:srgbClr val="2E6F73"/>
                </a:solidFill>
                <a:latin typeface="Arial"/>
                <a:ea typeface="Arial"/>
                <a:cs typeface="Arial"/>
              </a:defRPr>
            </a:defPPr>
            <a:lvl1pPr>
              <a:defRPr sz="1650" b="0">
                <a:solidFill>
                  <a:srgbClr val="2E6F73"/>
                </a:solidFill>
                <a:latin typeface="Arial"/>
                <a:ea typeface="Arial"/>
                <a:cs typeface="Arial"/>
              </a:defRPr>
            </a:lvl1pPr>
            <a:lvl2pPr>
              <a:defRPr sz="1650" b="0">
                <a:solidFill>
                  <a:srgbClr val="2E6F73"/>
                </a:solidFill>
                <a:latin typeface="Arial"/>
                <a:ea typeface="Arial"/>
                <a:cs typeface="Arial"/>
              </a:defRPr>
            </a:lvl2pPr>
            <a:lvl3pPr>
              <a:defRPr sz="1650" b="0">
                <a:solidFill>
                  <a:srgbClr val="2E6F73"/>
                </a:solidFill>
                <a:latin typeface="Arial"/>
                <a:ea typeface="Arial"/>
                <a:cs typeface="Arial"/>
              </a:defRPr>
            </a:lvl3pPr>
            <a:lvl4pPr>
              <a:defRPr sz="1650" b="0">
                <a:solidFill>
                  <a:srgbClr val="2E6F73"/>
                </a:solidFill>
                <a:latin typeface="Arial"/>
                <a:ea typeface="Arial"/>
                <a:cs typeface="Arial"/>
              </a:defRPr>
            </a:lvl4pPr>
            <a:lvl5pPr>
              <a:defRPr sz="1650" b="0">
                <a:solidFill>
                  <a:srgbClr val="2E6F73"/>
                </a:solidFill>
                <a:latin typeface="Arial"/>
                <a:ea typeface="Arial"/>
                <a:cs typeface="Arial"/>
              </a:defRPr>
            </a:lvl5pPr>
            <a:lvl6pPr>
              <a:defRPr sz="1650" b="0">
                <a:solidFill>
                  <a:srgbClr val="2E6F73"/>
                </a:solidFill>
                <a:latin typeface="Arial"/>
                <a:ea typeface="Arial"/>
                <a:cs typeface="Arial"/>
              </a:defRPr>
            </a:lvl6pPr>
            <a:lvl7pPr>
              <a:defRPr sz="1650" b="0">
                <a:solidFill>
                  <a:srgbClr val="2E6F73"/>
                </a:solidFill>
                <a:latin typeface="Arial"/>
                <a:ea typeface="Arial"/>
                <a:cs typeface="Arial"/>
              </a:defRPr>
            </a:lvl7pPr>
            <a:lvl8pPr>
              <a:defRPr sz="1650" b="0">
                <a:solidFill>
                  <a:srgbClr val="2E6F73"/>
                </a:solidFill>
                <a:latin typeface="Arial"/>
                <a:ea typeface="Arial"/>
                <a:cs typeface="Arial"/>
              </a:defRPr>
            </a:lvl8pPr>
            <a:lvl9pPr>
              <a:defRPr sz="1650" b="0">
                <a:solidFill>
                  <a:srgbClr val="2E6F73"/>
                </a:solidFill>
                <a:latin typeface="Arial"/>
                <a:ea typeface="Arial"/>
                <a:cs typeface="Arial"/>
              </a:defRPr>
            </a:lvl9pPr>
          </a:lstStyle>
          <a:p>
            <a:pPr>
              <a:defRPr sz="1650" b="0">
                <a:solidFill>
                  <a:srgbClr val="2E6F73"/>
                </a:solidFill>
                <a:latin typeface="Arial"/>
                <a:ea typeface="Arial"/>
                <a:cs typeface="Arial"/>
              </a:defRPr>
            </a:pPr>
            <a:r>
              <a:rPr>
                <a:hlinkClick r:id="rId3"/>
              </a:rPr>
              <a:t>Legewie &amp; Fagan (2019). Aggressive Policing and the Educational Performance of Minority Youth.</a:t>
            </a:r>
          </a:p>
        </p:txBody>
      </p:sp>
      <p:sp>
        <p:nvSpPr>
          <p:cNvPr id="4" name="text-3">
            <a:extLst>
              <a:ext uri="{FF2B5EF4-FFF2-40B4-BE49-F238E27FC236}">
                <a16:creationId xmlns:a16="http://schemas.microsoft.com/office/drawing/2014/main" id="{5C301BBB-6A26-49CB-8221-5553438879EA}"/>
              </a:ext>
            </a:extLst>
          </p:cNvPr>
          <p:cNvSpPr>
            <a:spLocks noGrp="1"/>
          </p:cNvSpPr>
          <p:nvPr/>
        </p:nvSpPr>
        <p:spPr>
          <a:xfrm>
            <a:off x="552450" y="2171700"/>
            <a:ext cx="10906125" cy="647700"/>
          </a:xfrm>
          <a:prstGeom prst="rect">
            <a:avLst/>
          </a:prstGeom>
          <a:noFill/>
          <a:ln w="0">
            <a:noFill/>
            <a:prstDash val="solid"/>
          </a:ln>
        </p:spPr>
        <p:txBody>
          <a:bodyPr lIns="0" tIns="0" rIns="0" bIns="0" anchor="t"/>
          <a:lstStyle>
            <a:defPPr>
              <a:defRPr sz="1650" b="0">
                <a:solidFill>
                  <a:srgbClr val="5B6B78"/>
                </a:solidFill>
                <a:latin typeface="Arial"/>
                <a:ea typeface="Arial"/>
                <a:cs typeface="Arial"/>
              </a:defRPr>
            </a:defPPr>
            <a:lvl1pPr>
              <a:defRPr sz="1650" b="0">
                <a:solidFill>
                  <a:srgbClr val="5B6B78"/>
                </a:solidFill>
                <a:latin typeface="Arial"/>
                <a:ea typeface="Arial"/>
                <a:cs typeface="Arial"/>
              </a:defRPr>
            </a:lvl1pPr>
            <a:lvl2pPr>
              <a:defRPr sz="1650" b="0">
                <a:solidFill>
                  <a:srgbClr val="5B6B78"/>
                </a:solidFill>
                <a:latin typeface="Arial"/>
                <a:ea typeface="Arial"/>
                <a:cs typeface="Arial"/>
              </a:defRPr>
            </a:lvl2pPr>
            <a:lvl3pPr>
              <a:defRPr sz="1650" b="0">
                <a:solidFill>
                  <a:srgbClr val="5B6B78"/>
                </a:solidFill>
                <a:latin typeface="Arial"/>
                <a:ea typeface="Arial"/>
                <a:cs typeface="Arial"/>
              </a:defRPr>
            </a:lvl3pPr>
            <a:lvl4pPr>
              <a:defRPr sz="1650" b="0">
                <a:solidFill>
                  <a:srgbClr val="5B6B78"/>
                </a:solidFill>
                <a:latin typeface="Arial"/>
                <a:ea typeface="Arial"/>
                <a:cs typeface="Arial"/>
              </a:defRPr>
            </a:lvl4pPr>
            <a:lvl5pPr>
              <a:defRPr sz="1650" b="0">
                <a:solidFill>
                  <a:srgbClr val="5B6B78"/>
                </a:solidFill>
                <a:latin typeface="Arial"/>
                <a:ea typeface="Arial"/>
                <a:cs typeface="Arial"/>
              </a:defRPr>
            </a:lvl5pPr>
            <a:lvl6pPr>
              <a:defRPr sz="1650" b="0">
                <a:solidFill>
                  <a:srgbClr val="5B6B78"/>
                </a:solidFill>
                <a:latin typeface="Arial"/>
                <a:ea typeface="Arial"/>
                <a:cs typeface="Arial"/>
              </a:defRPr>
            </a:lvl6pPr>
            <a:lvl7pPr>
              <a:defRPr sz="1650" b="0">
                <a:solidFill>
                  <a:srgbClr val="5B6B78"/>
                </a:solidFill>
                <a:latin typeface="Arial"/>
                <a:ea typeface="Arial"/>
                <a:cs typeface="Arial"/>
              </a:defRPr>
            </a:lvl7pPr>
            <a:lvl8pPr>
              <a:defRPr sz="1650" b="0">
                <a:solidFill>
                  <a:srgbClr val="5B6B78"/>
                </a:solidFill>
                <a:latin typeface="Arial"/>
                <a:ea typeface="Arial"/>
                <a:cs typeface="Arial"/>
              </a:defRPr>
            </a:lvl8pPr>
            <a:lvl9pPr>
              <a:defRPr sz="1650" b="0">
                <a:solidFill>
                  <a:srgbClr val="5B6B78"/>
                </a:solidFill>
                <a:latin typeface="Arial"/>
                <a:ea typeface="Arial"/>
                <a:cs typeface="Arial"/>
              </a:defRPr>
            </a:lvl9pPr>
          </a:lstStyle>
          <a:p>
            <a:pPr>
              <a:defRPr sz="1650" b="0">
                <a:solidFill>
                  <a:srgbClr val="5B6B78"/>
                </a:solidFill>
                <a:latin typeface="Arial"/>
                <a:ea typeface="Arial"/>
                <a:cs typeface="Arial"/>
              </a:defRPr>
            </a:pPr>
            <a:r>
              <a:rPr>
                <a:hlinkClick r:id="rId4"/>
              </a:rPr>
              <a:t>Legewie, Farley &amp; Stewart (2019). NYU Research Alliance policy brief.</a:t>
            </a:r>
          </a:p>
        </p:txBody>
      </p:sp>
      <p:sp>
        <p:nvSpPr>
          <p:cNvPr id="5" name="text-4">
            <a:extLst>
              <a:ext uri="{FF2B5EF4-FFF2-40B4-BE49-F238E27FC236}">
                <a16:creationId xmlns:a16="http://schemas.microsoft.com/office/drawing/2014/main" id="{D1E1425D-194F-4F8F-AC93-7AE8EB9954E6}"/>
              </a:ext>
            </a:extLst>
          </p:cNvPr>
          <p:cNvSpPr>
            <a:spLocks noGrp="1"/>
          </p:cNvSpPr>
          <p:nvPr/>
        </p:nvSpPr>
        <p:spPr>
          <a:xfrm>
            <a:off x="552450" y="2914650"/>
            <a:ext cx="10906125" cy="647700"/>
          </a:xfrm>
          <a:prstGeom prst="rect">
            <a:avLst/>
          </a:prstGeom>
          <a:noFill/>
          <a:ln w="0">
            <a:noFill/>
            <a:prstDash val="solid"/>
          </a:ln>
        </p:spPr>
        <p:txBody>
          <a:bodyPr lIns="0" tIns="0" rIns="0" bIns="0" anchor="t"/>
          <a:lstStyle>
            <a:defPPr>
              <a:defRPr sz="1650" b="0">
                <a:solidFill>
                  <a:srgbClr val="2E6F73"/>
                </a:solidFill>
                <a:latin typeface="Arial"/>
                <a:ea typeface="Arial"/>
                <a:cs typeface="Arial"/>
              </a:defRPr>
            </a:defPPr>
            <a:lvl1pPr>
              <a:defRPr sz="1650" b="0">
                <a:solidFill>
                  <a:srgbClr val="2E6F73"/>
                </a:solidFill>
                <a:latin typeface="Arial"/>
                <a:ea typeface="Arial"/>
                <a:cs typeface="Arial"/>
              </a:defRPr>
            </a:lvl1pPr>
            <a:lvl2pPr>
              <a:defRPr sz="1650" b="0">
                <a:solidFill>
                  <a:srgbClr val="2E6F73"/>
                </a:solidFill>
                <a:latin typeface="Arial"/>
                <a:ea typeface="Arial"/>
                <a:cs typeface="Arial"/>
              </a:defRPr>
            </a:lvl2pPr>
            <a:lvl3pPr>
              <a:defRPr sz="1650" b="0">
                <a:solidFill>
                  <a:srgbClr val="2E6F73"/>
                </a:solidFill>
                <a:latin typeface="Arial"/>
                <a:ea typeface="Arial"/>
                <a:cs typeface="Arial"/>
              </a:defRPr>
            </a:lvl3pPr>
            <a:lvl4pPr>
              <a:defRPr sz="1650" b="0">
                <a:solidFill>
                  <a:srgbClr val="2E6F73"/>
                </a:solidFill>
                <a:latin typeface="Arial"/>
                <a:ea typeface="Arial"/>
                <a:cs typeface="Arial"/>
              </a:defRPr>
            </a:lvl4pPr>
            <a:lvl5pPr>
              <a:defRPr sz="1650" b="0">
                <a:solidFill>
                  <a:srgbClr val="2E6F73"/>
                </a:solidFill>
                <a:latin typeface="Arial"/>
                <a:ea typeface="Arial"/>
                <a:cs typeface="Arial"/>
              </a:defRPr>
            </a:lvl5pPr>
            <a:lvl6pPr>
              <a:defRPr sz="1650" b="0">
                <a:solidFill>
                  <a:srgbClr val="2E6F73"/>
                </a:solidFill>
                <a:latin typeface="Arial"/>
                <a:ea typeface="Arial"/>
                <a:cs typeface="Arial"/>
              </a:defRPr>
            </a:lvl6pPr>
            <a:lvl7pPr>
              <a:defRPr sz="1650" b="0">
                <a:solidFill>
                  <a:srgbClr val="2E6F73"/>
                </a:solidFill>
                <a:latin typeface="Arial"/>
                <a:ea typeface="Arial"/>
                <a:cs typeface="Arial"/>
              </a:defRPr>
            </a:lvl7pPr>
            <a:lvl8pPr>
              <a:defRPr sz="1650" b="0">
                <a:solidFill>
                  <a:srgbClr val="2E6F73"/>
                </a:solidFill>
                <a:latin typeface="Arial"/>
                <a:ea typeface="Arial"/>
                <a:cs typeface="Arial"/>
              </a:defRPr>
            </a:lvl8pPr>
            <a:lvl9pPr>
              <a:defRPr sz="1650" b="0">
                <a:solidFill>
                  <a:srgbClr val="2E6F73"/>
                </a:solidFill>
                <a:latin typeface="Arial"/>
                <a:ea typeface="Arial"/>
                <a:cs typeface="Arial"/>
              </a:defRPr>
            </a:lvl9pPr>
          </a:lstStyle>
          <a:p>
            <a:pPr>
              <a:defRPr sz="1650" b="0">
                <a:solidFill>
                  <a:srgbClr val="2E6F73"/>
                </a:solidFill>
                <a:latin typeface="Arial"/>
                <a:ea typeface="Arial"/>
                <a:cs typeface="Arial"/>
              </a:defRPr>
            </a:pPr>
            <a:r>
              <a:rPr>
                <a:hlinkClick r:id="rId5"/>
              </a:rPr>
              <a:t>Goodman-Bacon (2021). Difference-in-Differences with Variation in Treatment Timing.</a:t>
            </a:r>
          </a:p>
        </p:txBody>
      </p:sp>
      <p:sp>
        <p:nvSpPr>
          <p:cNvPr id="6" name="text-5">
            <a:extLst>
              <a:ext uri="{FF2B5EF4-FFF2-40B4-BE49-F238E27FC236}">
                <a16:creationId xmlns:a16="http://schemas.microsoft.com/office/drawing/2014/main" id="{8020E245-1EB3-473E-B155-53F460627F44}"/>
              </a:ext>
            </a:extLst>
          </p:cNvPr>
          <p:cNvSpPr>
            <a:spLocks noGrp="1"/>
          </p:cNvSpPr>
          <p:nvPr/>
        </p:nvSpPr>
        <p:spPr>
          <a:xfrm>
            <a:off x="552450" y="3657600"/>
            <a:ext cx="10906125" cy="647700"/>
          </a:xfrm>
          <a:prstGeom prst="rect">
            <a:avLst/>
          </a:prstGeom>
          <a:noFill/>
          <a:ln w="0">
            <a:noFill/>
            <a:prstDash val="solid"/>
          </a:ln>
        </p:spPr>
        <p:txBody>
          <a:bodyPr lIns="0" tIns="0" rIns="0" bIns="0" anchor="t"/>
          <a:lstStyle>
            <a:defPPr>
              <a:defRPr sz="1650" b="0">
                <a:solidFill>
                  <a:srgbClr val="5B6B78"/>
                </a:solidFill>
                <a:latin typeface="Arial"/>
                <a:ea typeface="Arial"/>
                <a:cs typeface="Arial"/>
              </a:defRPr>
            </a:defPPr>
            <a:lvl1pPr>
              <a:defRPr sz="1650" b="0">
                <a:solidFill>
                  <a:srgbClr val="5B6B78"/>
                </a:solidFill>
                <a:latin typeface="Arial"/>
                <a:ea typeface="Arial"/>
                <a:cs typeface="Arial"/>
              </a:defRPr>
            </a:lvl1pPr>
            <a:lvl2pPr>
              <a:defRPr sz="1650" b="0">
                <a:solidFill>
                  <a:srgbClr val="5B6B78"/>
                </a:solidFill>
                <a:latin typeface="Arial"/>
                <a:ea typeface="Arial"/>
                <a:cs typeface="Arial"/>
              </a:defRPr>
            </a:lvl2pPr>
            <a:lvl3pPr>
              <a:defRPr sz="1650" b="0">
                <a:solidFill>
                  <a:srgbClr val="5B6B78"/>
                </a:solidFill>
                <a:latin typeface="Arial"/>
                <a:ea typeface="Arial"/>
                <a:cs typeface="Arial"/>
              </a:defRPr>
            </a:lvl3pPr>
            <a:lvl4pPr>
              <a:defRPr sz="1650" b="0">
                <a:solidFill>
                  <a:srgbClr val="5B6B78"/>
                </a:solidFill>
                <a:latin typeface="Arial"/>
                <a:ea typeface="Arial"/>
                <a:cs typeface="Arial"/>
              </a:defRPr>
            </a:lvl4pPr>
            <a:lvl5pPr>
              <a:defRPr sz="1650" b="0">
                <a:solidFill>
                  <a:srgbClr val="5B6B78"/>
                </a:solidFill>
                <a:latin typeface="Arial"/>
                <a:ea typeface="Arial"/>
                <a:cs typeface="Arial"/>
              </a:defRPr>
            </a:lvl5pPr>
            <a:lvl6pPr>
              <a:defRPr sz="1650" b="0">
                <a:solidFill>
                  <a:srgbClr val="5B6B78"/>
                </a:solidFill>
                <a:latin typeface="Arial"/>
                <a:ea typeface="Arial"/>
                <a:cs typeface="Arial"/>
              </a:defRPr>
            </a:lvl6pPr>
            <a:lvl7pPr>
              <a:defRPr sz="1650" b="0">
                <a:solidFill>
                  <a:srgbClr val="5B6B78"/>
                </a:solidFill>
                <a:latin typeface="Arial"/>
                <a:ea typeface="Arial"/>
                <a:cs typeface="Arial"/>
              </a:defRPr>
            </a:lvl7pPr>
            <a:lvl8pPr>
              <a:defRPr sz="1650" b="0">
                <a:solidFill>
                  <a:srgbClr val="5B6B78"/>
                </a:solidFill>
                <a:latin typeface="Arial"/>
                <a:ea typeface="Arial"/>
                <a:cs typeface="Arial"/>
              </a:defRPr>
            </a:lvl8pPr>
            <a:lvl9pPr>
              <a:defRPr sz="1650" b="0">
                <a:solidFill>
                  <a:srgbClr val="5B6B78"/>
                </a:solidFill>
                <a:latin typeface="Arial"/>
                <a:ea typeface="Arial"/>
                <a:cs typeface="Arial"/>
              </a:defRPr>
            </a:lvl9pPr>
          </a:lstStyle>
          <a:p>
            <a:pPr>
              <a:defRPr sz="1650" b="0">
                <a:solidFill>
                  <a:srgbClr val="5B6B78"/>
                </a:solidFill>
                <a:latin typeface="Arial"/>
                <a:ea typeface="Arial"/>
                <a:cs typeface="Arial"/>
              </a:defRPr>
            </a:pPr>
            <a:r>
              <a:rPr>
                <a:hlinkClick r:id="rId6"/>
              </a:rPr>
              <a:t>Callaway &amp; Sant’Anna (2021). Difference-in-Differences with Multiple Time Periods.</a:t>
            </a:r>
          </a:p>
        </p:txBody>
      </p:sp>
      <p:sp>
        <p:nvSpPr>
          <p:cNvPr id="7" name="text-6">
            <a:extLst>
              <a:ext uri="{FF2B5EF4-FFF2-40B4-BE49-F238E27FC236}">
                <a16:creationId xmlns:a16="http://schemas.microsoft.com/office/drawing/2014/main" id="{A8AFE95D-0090-4BAC-A4C2-8D2758E2144B}"/>
              </a:ext>
            </a:extLst>
          </p:cNvPr>
          <p:cNvSpPr>
            <a:spLocks noGrp="1"/>
          </p:cNvSpPr>
          <p:nvPr/>
        </p:nvSpPr>
        <p:spPr>
          <a:xfrm>
            <a:off x="552450" y="4400550"/>
            <a:ext cx="10906125" cy="647700"/>
          </a:xfrm>
          <a:prstGeom prst="rect">
            <a:avLst/>
          </a:prstGeom>
          <a:noFill/>
          <a:ln w="0">
            <a:noFill/>
            <a:prstDash val="solid"/>
          </a:ln>
        </p:spPr>
        <p:txBody>
          <a:bodyPr lIns="0" tIns="0" rIns="0" bIns="0" anchor="t"/>
          <a:lstStyle>
            <a:defPPr>
              <a:defRPr sz="1650" b="0">
                <a:solidFill>
                  <a:srgbClr val="2E6F73"/>
                </a:solidFill>
                <a:latin typeface="Arial"/>
                <a:ea typeface="Arial"/>
                <a:cs typeface="Arial"/>
              </a:defRPr>
            </a:defPPr>
            <a:lvl1pPr>
              <a:defRPr sz="1650" b="0">
                <a:solidFill>
                  <a:srgbClr val="2E6F73"/>
                </a:solidFill>
                <a:latin typeface="Arial"/>
                <a:ea typeface="Arial"/>
                <a:cs typeface="Arial"/>
              </a:defRPr>
            </a:lvl1pPr>
            <a:lvl2pPr>
              <a:defRPr sz="1650" b="0">
                <a:solidFill>
                  <a:srgbClr val="2E6F73"/>
                </a:solidFill>
                <a:latin typeface="Arial"/>
                <a:ea typeface="Arial"/>
                <a:cs typeface="Arial"/>
              </a:defRPr>
            </a:lvl2pPr>
            <a:lvl3pPr>
              <a:defRPr sz="1650" b="0">
                <a:solidFill>
                  <a:srgbClr val="2E6F73"/>
                </a:solidFill>
                <a:latin typeface="Arial"/>
                <a:ea typeface="Arial"/>
                <a:cs typeface="Arial"/>
              </a:defRPr>
            </a:lvl3pPr>
            <a:lvl4pPr>
              <a:defRPr sz="1650" b="0">
                <a:solidFill>
                  <a:srgbClr val="2E6F73"/>
                </a:solidFill>
                <a:latin typeface="Arial"/>
                <a:ea typeface="Arial"/>
                <a:cs typeface="Arial"/>
              </a:defRPr>
            </a:lvl4pPr>
            <a:lvl5pPr>
              <a:defRPr sz="1650" b="0">
                <a:solidFill>
                  <a:srgbClr val="2E6F73"/>
                </a:solidFill>
                <a:latin typeface="Arial"/>
                <a:ea typeface="Arial"/>
                <a:cs typeface="Arial"/>
              </a:defRPr>
            </a:lvl5pPr>
            <a:lvl6pPr>
              <a:defRPr sz="1650" b="0">
                <a:solidFill>
                  <a:srgbClr val="2E6F73"/>
                </a:solidFill>
                <a:latin typeface="Arial"/>
                <a:ea typeface="Arial"/>
                <a:cs typeface="Arial"/>
              </a:defRPr>
            </a:lvl6pPr>
            <a:lvl7pPr>
              <a:defRPr sz="1650" b="0">
                <a:solidFill>
                  <a:srgbClr val="2E6F73"/>
                </a:solidFill>
                <a:latin typeface="Arial"/>
                <a:ea typeface="Arial"/>
                <a:cs typeface="Arial"/>
              </a:defRPr>
            </a:lvl7pPr>
            <a:lvl8pPr>
              <a:defRPr sz="1650" b="0">
                <a:solidFill>
                  <a:srgbClr val="2E6F73"/>
                </a:solidFill>
                <a:latin typeface="Arial"/>
                <a:ea typeface="Arial"/>
                <a:cs typeface="Arial"/>
              </a:defRPr>
            </a:lvl8pPr>
            <a:lvl9pPr>
              <a:defRPr sz="1650" b="0">
                <a:solidFill>
                  <a:srgbClr val="2E6F73"/>
                </a:solidFill>
                <a:latin typeface="Arial"/>
                <a:ea typeface="Arial"/>
                <a:cs typeface="Arial"/>
              </a:defRPr>
            </a:lvl9pPr>
          </a:lstStyle>
          <a:p>
            <a:pPr>
              <a:defRPr sz="1650" b="0">
                <a:solidFill>
                  <a:srgbClr val="2E6F73"/>
                </a:solidFill>
                <a:latin typeface="Arial"/>
                <a:ea typeface="Arial"/>
                <a:cs typeface="Arial"/>
              </a:defRPr>
            </a:pPr>
            <a:r>
              <a:rPr>
                <a:hlinkClick r:id="rId7"/>
              </a:rPr>
              <a:t>Sun &amp; Abraham (2021). Estimating Dynamic Treatment Effects in Event Studies.</a:t>
            </a:r>
          </a:p>
        </p:txBody>
      </p:sp>
      <p:sp>
        <p:nvSpPr>
          <p:cNvPr id="8" name="text-7">
            <a:extLst>
              <a:ext uri="{FF2B5EF4-FFF2-40B4-BE49-F238E27FC236}">
                <a16:creationId xmlns:a16="http://schemas.microsoft.com/office/drawing/2014/main" id="{344D865C-F01E-428E-BF63-86F888AC94B9}"/>
              </a:ext>
            </a:extLst>
          </p:cNvPr>
          <p:cNvSpPr>
            <a:spLocks noGrp="1"/>
          </p:cNvSpPr>
          <p:nvPr/>
        </p:nvSpPr>
        <p:spPr>
          <a:xfrm>
            <a:off x="552450" y="5143500"/>
            <a:ext cx="10906125" cy="647700"/>
          </a:xfrm>
          <a:prstGeom prst="rect">
            <a:avLst/>
          </a:prstGeom>
          <a:noFill/>
          <a:ln w="0">
            <a:noFill/>
            <a:prstDash val="solid"/>
          </a:ln>
        </p:spPr>
        <p:txBody>
          <a:bodyPr lIns="0" tIns="0" rIns="0" bIns="0" anchor="t"/>
          <a:lstStyle>
            <a:defPPr>
              <a:defRPr sz="1650" b="0">
                <a:solidFill>
                  <a:srgbClr val="5B6B78"/>
                </a:solidFill>
                <a:latin typeface="Arial"/>
                <a:ea typeface="Arial"/>
                <a:cs typeface="Arial"/>
              </a:defRPr>
            </a:defPPr>
            <a:lvl1pPr>
              <a:defRPr sz="1650" b="0">
                <a:solidFill>
                  <a:srgbClr val="5B6B78"/>
                </a:solidFill>
                <a:latin typeface="Arial"/>
                <a:ea typeface="Arial"/>
                <a:cs typeface="Arial"/>
              </a:defRPr>
            </a:lvl1pPr>
            <a:lvl2pPr>
              <a:defRPr sz="1650" b="0">
                <a:solidFill>
                  <a:srgbClr val="5B6B78"/>
                </a:solidFill>
                <a:latin typeface="Arial"/>
                <a:ea typeface="Arial"/>
                <a:cs typeface="Arial"/>
              </a:defRPr>
            </a:lvl2pPr>
            <a:lvl3pPr>
              <a:defRPr sz="1650" b="0">
                <a:solidFill>
                  <a:srgbClr val="5B6B78"/>
                </a:solidFill>
                <a:latin typeface="Arial"/>
                <a:ea typeface="Arial"/>
                <a:cs typeface="Arial"/>
              </a:defRPr>
            </a:lvl3pPr>
            <a:lvl4pPr>
              <a:defRPr sz="1650" b="0">
                <a:solidFill>
                  <a:srgbClr val="5B6B78"/>
                </a:solidFill>
                <a:latin typeface="Arial"/>
                <a:ea typeface="Arial"/>
                <a:cs typeface="Arial"/>
              </a:defRPr>
            </a:lvl4pPr>
            <a:lvl5pPr>
              <a:defRPr sz="1650" b="0">
                <a:solidFill>
                  <a:srgbClr val="5B6B78"/>
                </a:solidFill>
                <a:latin typeface="Arial"/>
                <a:ea typeface="Arial"/>
                <a:cs typeface="Arial"/>
              </a:defRPr>
            </a:lvl5pPr>
            <a:lvl6pPr>
              <a:defRPr sz="1650" b="0">
                <a:solidFill>
                  <a:srgbClr val="5B6B78"/>
                </a:solidFill>
                <a:latin typeface="Arial"/>
                <a:ea typeface="Arial"/>
                <a:cs typeface="Arial"/>
              </a:defRPr>
            </a:lvl6pPr>
            <a:lvl7pPr>
              <a:defRPr sz="1650" b="0">
                <a:solidFill>
                  <a:srgbClr val="5B6B78"/>
                </a:solidFill>
                <a:latin typeface="Arial"/>
                <a:ea typeface="Arial"/>
                <a:cs typeface="Arial"/>
              </a:defRPr>
            </a:lvl7pPr>
            <a:lvl8pPr>
              <a:defRPr sz="1650" b="0">
                <a:solidFill>
                  <a:srgbClr val="5B6B78"/>
                </a:solidFill>
                <a:latin typeface="Arial"/>
                <a:ea typeface="Arial"/>
                <a:cs typeface="Arial"/>
              </a:defRPr>
            </a:lvl8pPr>
            <a:lvl9pPr>
              <a:defRPr sz="1650" b="0">
                <a:solidFill>
                  <a:srgbClr val="5B6B78"/>
                </a:solidFill>
                <a:latin typeface="Arial"/>
                <a:ea typeface="Arial"/>
                <a:cs typeface="Arial"/>
              </a:defRPr>
            </a:lvl9pPr>
          </a:lstStyle>
          <a:p>
            <a:pPr>
              <a:defRPr sz="1650" b="0">
                <a:solidFill>
                  <a:srgbClr val="5B6B78"/>
                </a:solidFill>
                <a:latin typeface="Arial"/>
                <a:ea typeface="Arial"/>
                <a:cs typeface="Arial"/>
              </a:defRPr>
            </a:pPr>
            <a:r>
              <a:rPr>
                <a:hlinkClick r:id="rId8"/>
              </a:rPr>
              <a:t>Roth (2022). Pretest with Caution.</a:t>
            </a:r>
          </a:p>
        </p:txBody>
      </p:sp>
    </p:spTree>
    <p:extLst>
      <p:ext uri="{BB962C8B-B14F-4D97-AF65-F5344CB8AC3E}">
        <p14:creationId xmlns:p14="http://schemas.microsoft.com/office/powerpoint/2010/main" val="1477790324"/>
      </p:ext>
    </p:extLst>
  </p:cSld>
  <p:clrMapOvr>
    <a:masterClrMapping/>
  </p:clrMapOvr>
</p:sld>
</file>

<file path=ppt/theme/theme1.xml><?xml version="1.0" encoding="utf-8"?>
<a:theme xmlns:a="http://schemas.openxmlformats.org/drawingml/2006/main" name="Causal Analysis">
  <a:themeElements>
    <a:clrScheme name="Causal Analysis">
      <a:dk1>
        <a:srgbClr val="1F2A36"/>
      </a:dk1>
      <a:lt1>
        <a:srgbClr val="FFFFFF"/>
      </a:lt1>
      <a:dk2>
        <a:srgbClr val="2E3B4A"/>
      </a:dk2>
      <a:lt2>
        <a:srgbClr val="EEF1F3"/>
      </a:lt2>
      <a:accent1>
        <a:srgbClr val="2E6F73"/>
      </a:accent1>
      <a:accent2>
        <a:srgbClr val="C8553D"/>
      </a:accent2>
      <a:accent3>
        <a:srgbClr val="8A9BA8"/>
      </a:accent3>
      <a:accent4>
        <a:srgbClr val="D9E6E7"/>
      </a:accent4>
      <a:accent5>
        <a:srgbClr val="F3DCD6"/>
      </a:accent5>
      <a:accent6>
        <a:srgbClr val="5B6B78"/>
      </a:accent6>
      <a:hlink>
        <a:srgbClr val="2E6F73"/>
      </a:hlink>
      <a:folHlink>
        <a:srgbClr val="6D5A8C"/>
      </a:folHlink>
    </a:clrScheme>
    <a:fontScheme name="Causal Analysi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Causal Analysi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ausal Analysis">
  <a:themeElements>
    <a:clrScheme name="Causal Analysis">
      <a:dk1>
        <a:srgbClr val="1F2A36"/>
      </a:dk1>
      <a:lt1>
        <a:srgbClr val="FFFFFF"/>
      </a:lt1>
      <a:dk2>
        <a:srgbClr val="2E3B4A"/>
      </a:dk2>
      <a:lt2>
        <a:srgbClr val="EEF1F3"/>
      </a:lt2>
      <a:accent1>
        <a:srgbClr val="2E6F73"/>
      </a:accent1>
      <a:accent2>
        <a:srgbClr val="C8553D"/>
      </a:accent2>
      <a:accent3>
        <a:srgbClr val="8A9BA8"/>
      </a:accent3>
      <a:accent4>
        <a:srgbClr val="D9E6E7"/>
      </a:accent4>
      <a:accent5>
        <a:srgbClr val="F3DCD6"/>
      </a:accent5>
      <a:accent6>
        <a:srgbClr val="5B6B78"/>
      </a:accent6>
      <a:hlink>
        <a:srgbClr val="2E6F73"/>
      </a:hlink>
      <a:folHlink>
        <a:srgbClr val="6D5A8C"/>
      </a:folHlink>
    </a:clrScheme>
    <a:fontScheme name="Causal Analysi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Causal Analysi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2547</Words>
  <Application>Microsoft Macintosh PowerPoint</Application>
  <DocSecurity>0</DocSecurity>
  <PresentationFormat>Widescreen</PresentationFormat>
  <Paragraphs>247</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Causal Analysis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Edwin Grimsley</cp:lastModifiedBy>
  <cp:revision>1</cp:revision>
  <dcterms:created xsi:type="dcterms:W3CDTF">2026-10-29T19:19:26Z</dcterms:created>
  <dcterms:modified xsi:type="dcterms:W3CDTF">2026-10-29T22:11:10Z</dcterms:modified>
</cp:coreProperties>
</file>