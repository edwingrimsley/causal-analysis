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80" r:id="rId12"/>
    <p:sldId id="278" r:id="rId13"/>
    <p:sldId id="266" r:id="rId14"/>
    <p:sldId id="267" r:id="rId15"/>
    <p:sldId id="268" r:id="rId16"/>
    <p:sldId id="269" r:id="rId17"/>
    <p:sldId id="270" r:id="rId18"/>
    <p:sldId id="271" r:id="rId19"/>
    <p:sldId id="272" r:id="rId20"/>
    <p:sldId id="273" r:id="rId21"/>
    <p:sldId id="274"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xed effects" id="{A587C5CB-2BDB-70CB-19B1-7AE331C4F31C}">
          <p14:sldIdLst>
            <p14:sldId id="256"/>
            <p14:sldId id="257"/>
            <p14:sldId id="258"/>
            <p14:sldId id="259"/>
          </p14:sldIdLst>
        </p14:section>
        <p14:section name="The idea" id="{B2A40A64-19A4-3495-926E-29D03F42ED30}">
          <p14:sldIdLst>
            <p14:sldId id="260"/>
            <p14:sldId id="261"/>
          </p14:sldIdLst>
        </p14:section>
        <p14:section name="The 2 × 2" id="{20104399-B58C-3D91-D720-BA985E211061}">
          <p14:sldIdLst>
            <p14:sldId id="262"/>
            <p14:sldId id="263"/>
          </p14:sldIdLst>
        </p14:section>
        <p14:section name="Card &amp; Krueger" id="{F17E8566-D616-E349-9E0B-FC4BF4B61CD6}">
          <p14:sldIdLst>
            <p14:sldId id="264"/>
            <p14:sldId id="265"/>
            <p14:sldId id="280"/>
            <p14:sldId id="278"/>
          </p14:sldIdLst>
        </p14:section>
        <p14:section name="Parallel trends" id="{7C5E4FF6-76A6-25A3-5DE8-4186512C9093}">
          <p14:sldIdLst>
            <p14:sldId id="266"/>
            <p14:sldId id="267"/>
          </p14:sldIdLst>
        </p14:section>
        <p14:section name="Checking" id="{6DD414C7-1E6C-8480-DDE6-43188A149370}">
          <p14:sldIdLst>
            <p14:sldId id="268"/>
          </p14:sldIdLst>
        </p14:section>
        <p14:section name="Organ donation" id="{7A3F899F-327D-3F4E-17EC-150BC27DA5C5}">
          <p14:sldIdLst>
            <p14:sldId id="269"/>
            <p14:sldId id="270"/>
          </p14:sldIdLst>
        </p14:section>
        <p14:section name="Practice" id="{2ECD46EC-1B9A-EDAD-8572-582A6E3E8DAE}">
          <p14:sldIdLst>
            <p14:sldId id="271"/>
          </p14:sldIdLst>
        </p14:section>
        <p14:section name="Looking ahead" id="{731C9EB7-A9AB-5577-8801-84D310D2BC4D}">
          <p14:sldIdLst>
            <p14:sldId id="272"/>
            <p14:sldId id="273"/>
          </p14:sldIdLst>
        </p14:section>
        <p14:section name="Default-1" id="{57C9CF0E-A28D-430B-2EC1-D710E12097AB}">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B6178"/>
                </a:solidFill>
                <a:latin typeface="+mn-lt"/>
              </a:defRPr>
            </a:pPr>
            <a:r>
              <a:rPr lang="en-US" sz="1300" b="0" i="0" u="none" strike="noStrike">
                <a:solidFill>
                  <a:srgbClr val="5B6178"/>
                </a:solidFill>
                <a:latin typeface="+mn-lt"/>
              </a:rPr>
              <a:t>Mean full-time-equivalent employment per store</a:t>
            </a:r>
          </a:p>
        </c:rich>
      </c:tx>
      <c:overlay val="0"/>
    </c:title>
    <c:autoTitleDeleted val="0"/>
    <c:plotArea>
      <c:layout/>
      <c:lineChart>
        <c:grouping val="standard"/>
        <c:varyColors val="0"/>
        <c:ser>
          <c:idx val="0"/>
          <c:order val="0"/>
          <c:tx>
            <c:strRef>
              <c:f>Sheet1!$B$1</c:f>
              <c:strCache>
                <c:ptCount val="1"/>
                <c:pt idx="0">
                  <c:v>New Jersey (minimum $4.25 → $5.05)</c:v>
                </c:pt>
              </c:strCache>
            </c:strRef>
          </c:tx>
          <c:spPr>
            <a:ln w="38100" cap="flat">
              <a:solidFill>
                <a:srgbClr val="1B4F8C"/>
              </a:solidFill>
              <a:prstDash val="solid"/>
              <a:round/>
            </a:ln>
            <a:effectLst/>
          </c:spPr>
          <c:marker>
            <c:symbol val="circle"/>
            <c:size val="9"/>
            <c:spPr>
              <a:solidFill>
                <a:srgbClr val="1B4F8C"/>
              </a:solidFill>
              <a:ln w="9525" cap="flat">
                <a:solidFill>
                  <a:srgbClr val="1B4F8C"/>
                </a:solidFill>
                <a:prstDash val="solid"/>
                <a:round/>
              </a:ln>
              <a:effectLst/>
            </c:spPr>
          </c:marker>
          <c:cat>
            <c:strRef>
              <c:f>Sheet1!$A$2:$A$3</c:f>
              <c:strCache>
                <c:ptCount val="2"/>
                <c:pt idx="0">
                  <c:v>Feb 1992</c:v>
                </c:pt>
                <c:pt idx="1">
                  <c:v>Nov 1992</c:v>
                </c:pt>
              </c:strCache>
            </c:strRef>
          </c:cat>
          <c:val>
            <c:numRef>
              <c:f>Sheet1!$B$2:$B$3</c:f>
              <c:numCache>
                <c:formatCode>General</c:formatCode>
                <c:ptCount val="2"/>
                <c:pt idx="0">
                  <c:v>20.440000000000001</c:v>
                </c:pt>
                <c:pt idx="1">
                  <c:v>21.03</c:v>
                </c:pt>
              </c:numCache>
            </c:numRef>
          </c:val>
          <c:smooth val="0"/>
          <c:extLst>
            <c:ext xmlns:c16="http://schemas.microsoft.com/office/drawing/2014/chart" uri="{C3380CC4-5D6E-409C-BE32-E72D297353CC}">
              <c16:uniqueId val="{00000000-19BC-064F-82AB-78DC4C296E28}"/>
            </c:ext>
          </c:extLst>
        </c:ser>
        <c:ser>
          <c:idx val="1"/>
          <c:order val="1"/>
          <c:tx>
            <c:strRef>
              <c:f>Sheet1!$C$1</c:f>
              <c:strCache>
                <c:ptCount val="1"/>
                <c:pt idx="0">
                  <c:v>Pennsylvania (stayed at $4.25)</c:v>
                </c:pt>
              </c:strCache>
            </c:strRef>
          </c:tx>
          <c:spPr>
            <a:ln w="38100" cap="flat">
              <a:solidFill>
                <a:srgbClr val="B23B3B"/>
              </a:solidFill>
              <a:prstDash val="solid"/>
              <a:round/>
            </a:ln>
            <a:effectLst/>
          </c:spPr>
          <c:marker>
            <c:symbol val="circle"/>
            <c:size val="9"/>
            <c:spPr>
              <a:solidFill>
                <a:srgbClr val="B23B3B"/>
              </a:solidFill>
              <a:ln w="9525" cap="flat">
                <a:solidFill>
                  <a:srgbClr val="B23B3B"/>
                </a:solidFill>
                <a:prstDash val="solid"/>
                <a:round/>
              </a:ln>
              <a:effectLst/>
            </c:spPr>
          </c:marker>
          <c:cat>
            <c:strRef>
              <c:f>Sheet1!$A$2:$A$3</c:f>
              <c:strCache>
                <c:ptCount val="2"/>
                <c:pt idx="0">
                  <c:v>Feb 1992</c:v>
                </c:pt>
                <c:pt idx="1">
                  <c:v>Nov 1992</c:v>
                </c:pt>
              </c:strCache>
            </c:strRef>
          </c:cat>
          <c:val>
            <c:numRef>
              <c:f>Sheet1!$C$2:$C$3</c:f>
              <c:numCache>
                <c:formatCode>General</c:formatCode>
                <c:ptCount val="2"/>
                <c:pt idx="0">
                  <c:v>23.33</c:v>
                </c:pt>
                <c:pt idx="1">
                  <c:v>21.17</c:v>
                </c:pt>
              </c:numCache>
            </c:numRef>
          </c:val>
          <c:smooth val="0"/>
          <c:extLst>
            <c:ext xmlns:c16="http://schemas.microsoft.com/office/drawing/2014/chart" uri="{C3380CC4-5D6E-409C-BE32-E72D297353CC}">
              <c16:uniqueId val="{00000001-19BC-064F-82AB-78DC4C296E2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178"/>
                </a:solidFill>
                <a:latin typeface="+mn-lt"/>
              </a:defRPr>
            </a:pPr>
            <a:endParaRPr lang="en-US"/>
          </a:p>
        </c:txPr>
        <c:crossAx val="2094734552"/>
        <c:crosses val="autoZero"/>
        <c:auto val="1"/>
        <c:lblAlgn val="ctr"/>
        <c:lblOffset val="100"/>
        <c:noMultiLvlLbl val="1"/>
      </c:catAx>
      <c:valAx>
        <c:axId val="2094734552"/>
        <c:scaling>
          <c:orientation val="minMax"/>
          <c:max val="25"/>
          <c:min val="18"/>
        </c:scaling>
        <c:delete val="0"/>
        <c:axPos val="l"/>
        <c:majorGridlines>
          <c:spPr>
            <a:ln w="9525"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178"/>
                </a:solidFill>
                <a:latin typeface="+mn-lt"/>
              </a:defRPr>
            </a:pPr>
            <a:endParaRPr lang="en-US"/>
          </a:p>
        </c:txPr>
        <c:crossAx val="2094734554"/>
        <c:crosses val="autoZero"/>
        <c:crossBetween val="between"/>
        <c:majorUnit val="1"/>
      </c:valAx>
      <c:spPr>
        <a:noFill/>
        <a:ln>
          <a:noFill/>
        </a:ln>
        <a:effectLst/>
      </c:spPr>
    </c:plotArea>
    <c:legend>
      <c:legendPos val="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DiD estimate</c:v>
                </c:pt>
              </c:strCache>
            </c:strRef>
          </c:tx>
          <c:spPr>
            <a:solidFill>
              <a:srgbClr val="1B4F8C"/>
            </a:solidFill>
            <a:effectLst/>
          </c:spPr>
          <c:invertIfNegative val="0"/>
          <c:dLbls>
            <c:numFmt formatCode="0.00" sourceLinked="0"/>
            <c:spPr>
              <a:noFill/>
              <a:ln>
                <a:noFill/>
              </a:ln>
              <a:effectLst/>
            </c:spPr>
            <c:txPr>
              <a:bodyPr/>
              <a:lstStyle/>
              <a:p>
                <a:pPr>
                  <a:defRPr sz="12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NJ vs. Pennsylvania</c:v>
                </c:pt>
                <c:pt idx="1">
                  <c:v>NJ $4.25 stores vs. NJ $5.00+ stores</c:v>
                </c:pt>
              </c:strCache>
            </c:strRef>
          </c:cat>
          <c:val>
            <c:numRef>
              <c:f>Sheet1!$B$2:$B$3</c:f>
              <c:numCache>
                <c:formatCode>General</c:formatCode>
                <c:ptCount val="2"/>
                <c:pt idx="0">
                  <c:v>2.75</c:v>
                </c:pt>
                <c:pt idx="1">
                  <c:v>3.36</c:v>
                </c:pt>
              </c:numCache>
            </c:numRef>
          </c:val>
          <c:extLst>
            <c:ext xmlns:c16="http://schemas.microsoft.com/office/drawing/2014/chart" uri="{C3380CC4-5D6E-409C-BE32-E72D297353CC}">
              <c16:uniqueId val="{00000000-8AAB-CF48-A835-43947A10351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178"/>
                </a:solidFill>
                <a:latin typeface="+mn-lt"/>
              </a:defRPr>
            </a:pPr>
            <a:endParaRPr lang="en-US"/>
          </a:p>
        </c:txPr>
        <c:crossAx val="2094734552"/>
        <c:crosses val="autoZero"/>
        <c:auto val="1"/>
        <c:lblAlgn val="ctr"/>
        <c:lblOffset val="100"/>
        <c:noMultiLvlLbl val="1"/>
      </c:catAx>
      <c:valAx>
        <c:axId val="2094734552"/>
        <c:scaling>
          <c:orientation val="minMax"/>
          <c:max val="4"/>
          <c:min val="0"/>
        </c:scaling>
        <c:delete val="0"/>
        <c:axPos val="b"/>
        <c:majorGridlines>
          <c:spPr>
            <a:ln w="9525" cap="flat">
              <a:solidFill>
                <a:srgbClr val="E3E7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178"/>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B6178"/>
                </a:solidFill>
                <a:latin typeface="+mn-lt"/>
              </a:defRPr>
            </a:pPr>
            <a:r>
              <a:rPr sz="1300" b="0" i="0" u="none" strike="noStrike">
                <a:solidFill>
                  <a:srgbClr val="5B6178"/>
                </a:solidFill>
                <a:latin typeface="+mn-lt"/>
              </a:rPr>
              <a:t>Organ-donor registration rate</a:t>
            </a:r>
          </a:p>
        </c:rich>
      </c:tx>
      <c:overlay val="0"/>
    </c:title>
    <c:autoTitleDeleted val="0"/>
    <c:plotArea>
      <c:layout/>
      <c:lineChart>
        <c:grouping val="standard"/>
        <c:varyColors val="0"/>
        <c:ser>
          <c:idx val="0"/>
          <c:order val="0"/>
          <c:tx>
            <c:strRef>
              <c:f>Sheet1!$B$1</c:f>
              <c:strCache>
                <c:ptCount val="1"/>
                <c:pt idx="0">
                  <c:v>California (active choice from July 2011)</c:v>
                </c:pt>
              </c:strCache>
            </c:strRef>
          </c:tx>
          <c:spPr>
            <a:ln w="38100" cap="flat">
              <a:solidFill>
                <a:srgbClr val="B23B3B"/>
              </a:solidFill>
              <a:prstDash val="solid"/>
              <a:round/>
            </a:ln>
            <a:effectLst/>
          </c:spPr>
          <c:marker>
            <c:symbol val="circle"/>
            <c:size val="7"/>
            <c:spPr>
              <a:solidFill>
                <a:srgbClr val="B23B3B"/>
              </a:solidFill>
              <a:ln w="9525" cap="flat">
                <a:solidFill>
                  <a:srgbClr val="B23B3B"/>
                </a:solidFill>
                <a:prstDash val="solid"/>
                <a:round/>
              </a:ln>
              <a:effectLst/>
            </c:spPr>
          </c:marker>
          <c:cat>
            <c:strRef>
              <c:f>Sheet1!$A$2:$A$7</c:f>
              <c:strCache>
                <c:ptCount val="6"/>
                <c:pt idx="0">
                  <c:v>Q4 2010</c:v>
                </c:pt>
                <c:pt idx="1">
                  <c:v>Q1 2011</c:v>
                </c:pt>
                <c:pt idx="2">
                  <c:v>Q2 2011</c:v>
                </c:pt>
                <c:pt idx="3">
                  <c:v>Q3 2011</c:v>
                </c:pt>
                <c:pt idx="4">
                  <c:v>Q4 2011</c:v>
                </c:pt>
                <c:pt idx="5">
                  <c:v>Q1 2012</c:v>
                </c:pt>
              </c:strCache>
            </c:strRef>
          </c:cat>
          <c:val>
            <c:numRef>
              <c:f>Sheet1!$B$2:$B$7</c:f>
              <c:numCache>
                <c:formatCode>General</c:formatCode>
                <c:ptCount val="6"/>
                <c:pt idx="0">
                  <c:v>0.2666</c:v>
                </c:pt>
                <c:pt idx="1">
                  <c:v>0.27310000000000001</c:v>
                </c:pt>
                <c:pt idx="2">
                  <c:v>0.27429999999999999</c:v>
                </c:pt>
                <c:pt idx="3">
                  <c:v>0.2636</c:v>
                </c:pt>
                <c:pt idx="4">
                  <c:v>0.26069999999999999</c:v>
                </c:pt>
                <c:pt idx="5">
                  <c:v>0.2641</c:v>
                </c:pt>
              </c:numCache>
            </c:numRef>
          </c:val>
          <c:smooth val="0"/>
          <c:extLst>
            <c:ext xmlns:c16="http://schemas.microsoft.com/office/drawing/2014/chart" uri="{C3380CC4-5D6E-409C-BE32-E72D297353CC}">
              <c16:uniqueId val="{00000000-A776-F544-B3B5-D55D54A35652}"/>
            </c:ext>
          </c:extLst>
        </c:ser>
        <c:ser>
          <c:idx val="1"/>
          <c:order val="1"/>
          <c:tx>
            <c:strRef>
              <c:f>Sheet1!$C$1</c:f>
              <c:strCache>
                <c:ptCount val="1"/>
                <c:pt idx="0">
                  <c:v>26 comparison states (average)</c:v>
                </c:pt>
              </c:strCache>
            </c:strRef>
          </c:tx>
          <c:spPr>
            <a:ln w="38100" cap="flat">
              <a:solidFill>
                <a:srgbClr val="1B4F8C"/>
              </a:solidFill>
              <a:prstDash val="solid"/>
              <a:round/>
            </a:ln>
            <a:effectLst/>
          </c:spPr>
          <c:marker>
            <c:symbol val="circle"/>
            <c:size val="7"/>
            <c:spPr>
              <a:solidFill>
                <a:srgbClr val="1B4F8C"/>
              </a:solidFill>
              <a:ln w="9525" cap="flat">
                <a:solidFill>
                  <a:srgbClr val="1B4F8C"/>
                </a:solidFill>
                <a:prstDash val="solid"/>
                <a:round/>
              </a:ln>
              <a:effectLst/>
            </c:spPr>
          </c:marker>
          <c:cat>
            <c:strRef>
              <c:f>Sheet1!$A$2:$A$7</c:f>
              <c:strCache>
                <c:ptCount val="6"/>
                <c:pt idx="0">
                  <c:v>Q4 2010</c:v>
                </c:pt>
                <c:pt idx="1">
                  <c:v>Q1 2011</c:v>
                </c:pt>
                <c:pt idx="2">
                  <c:v>Q2 2011</c:v>
                </c:pt>
                <c:pt idx="3">
                  <c:v>Q3 2011</c:v>
                </c:pt>
                <c:pt idx="4">
                  <c:v>Q4 2011</c:v>
                </c:pt>
                <c:pt idx="5">
                  <c:v>Q1 2012</c:v>
                </c:pt>
              </c:strCache>
            </c:strRef>
          </c:cat>
          <c:val>
            <c:numRef>
              <c:f>Sheet1!$C$2:$C$7</c:f>
              <c:numCache>
                <c:formatCode>General</c:formatCode>
                <c:ptCount val="6"/>
                <c:pt idx="0">
                  <c:v>0.44429999999999997</c:v>
                </c:pt>
                <c:pt idx="1">
                  <c:v>0.4415</c:v>
                </c:pt>
                <c:pt idx="2">
                  <c:v>0.44900000000000001</c:v>
                </c:pt>
                <c:pt idx="3">
                  <c:v>0.45989999999999998</c:v>
                </c:pt>
                <c:pt idx="4">
                  <c:v>0.45569999999999999</c:v>
                </c:pt>
                <c:pt idx="5">
                  <c:v>0.46100000000000002</c:v>
                </c:pt>
              </c:numCache>
            </c:numRef>
          </c:val>
          <c:smooth val="0"/>
          <c:extLst>
            <c:ext xmlns:c16="http://schemas.microsoft.com/office/drawing/2014/chart" uri="{C3380CC4-5D6E-409C-BE32-E72D297353CC}">
              <c16:uniqueId val="{00000001-A776-F544-B3B5-D55D54A3565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178"/>
                </a:solidFill>
                <a:latin typeface="+mn-lt"/>
              </a:defRPr>
            </a:pPr>
            <a:endParaRPr lang="en-US"/>
          </a:p>
        </c:txPr>
        <c:crossAx val="2094734552"/>
        <c:crosses val="autoZero"/>
        <c:auto val="1"/>
        <c:lblAlgn val="ctr"/>
        <c:lblOffset val="100"/>
        <c:noMultiLvlLbl val="1"/>
      </c:catAx>
      <c:valAx>
        <c:axId val="2094734552"/>
        <c:scaling>
          <c:orientation val="minMax"/>
          <c:max val="0.5"/>
          <c:min val="0.2"/>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178"/>
                </a:solidFill>
                <a:latin typeface="+mn-lt"/>
              </a:defRPr>
            </a:pPr>
            <a:endParaRPr lang="en-US"/>
          </a:p>
        </c:txPr>
        <c:crossAx val="2094734554"/>
        <c:crosses val="autoZero"/>
        <c:crossBetween val="between"/>
        <c:majorUnit val="0.0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B6178"/>
                </a:solidFill>
                <a:latin typeface="+mn-lt"/>
              </a:defRPr>
            </a:pPr>
            <a:r>
              <a:rPr sz="1300" b="0" i="0" u="none" strike="noStrike">
                <a:solidFill>
                  <a:srgbClr val="5B6178"/>
                </a:solidFill>
                <a:latin typeface="+mn-lt"/>
              </a:rPr>
              <a:t>Coefficient by quarter (Q2 2011 = reference, set to 0)</a:t>
            </a:r>
          </a:p>
        </c:rich>
      </c:tx>
      <c:overlay val="0"/>
    </c:title>
    <c:autoTitleDeleted val="0"/>
    <c:plotArea>
      <c:layout/>
      <c:barChart>
        <c:barDir val="col"/>
        <c:grouping val="clustered"/>
        <c:varyColors val="0"/>
        <c:ser>
          <c:idx val="0"/>
          <c:order val="0"/>
          <c:tx>
            <c:strRef>
              <c:f>Sheet1!$B$1</c:f>
              <c:strCache>
                <c:ptCount val="1"/>
                <c:pt idx="0">
                  <c:v>California vs. comparison states, relative to Q2 2011</c:v>
                </c:pt>
              </c:strCache>
            </c:strRef>
          </c:tx>
          <c:spPr>
            <a:solidFill>
              <a:srgbClr val="1B4F8C"/>
            </a:solidFill>
            <a:effectLst/>
          </c:spPr>
          <c:invertIfNegative val="0"/>
          <c:dPt>
            <c:idx val="0"/>
            <c:invertIfNegative val="0"/>
            <c:bubble3D val="0"/>
            <c:extLst>
              <c:ext xmlns:c16="http://schemas.microsoft.com/office/drawing/2014/chart" uri="{C3380CC4-5D6E-409C-BE32-E72D297353CC}">
                <c16:uniqueId val="{00000001-8BEE-1046-85D9-6F04F2E1E1B3}"/>
              </c:ext>
            </c:extLst>
          </c:dPt>
          <c:dPt>
            <c:idx val="1"/>
            <c:invertIfNegative val="0"/>
            <c:bubble3D val="0"/>
            <c:extLst>
              <c:ext xmlns:c16="http://schemas.microsoft.com/office/drawing/2014/chart" uri="{C3380CC4-5D6E-409C-BE32-E72D297353CC}">
                <c16:uniqueId val="{00000003-8BEE-1046-85D9-6F04F2E1E1B3}"/>
              </c:ext>
            </c:extLst>
          </c:dPt>
          <c:dPt>
            <c:idx val="2"/>
            <c:invertIfNegative val="0"/>
            <c:bubble3D val="0"/>
            <c:spPr>
              <a:solidFill>
                <a:srgbClr val="5B6178"/>
              </a:solidFill>
              <a:effectLst/>
            </c:spPr>
            <c:extLst>
              <c:ext xmlns:c16="http://schemas.microsoft.com/office/drawing/2014/chart" uri="{C3380CC4-5D6E-409C-BE32-E72D297353CC}">
                <c16:uniqueId val="{00000005-8BEE-1046-85D9-6F04F2E1E1B3}"/>
              </c:ext>
            </c:extLst>
          </c:dPt>
          <c:dPt>
            <c:idx val="3"/>
            <c:invertIfNegative val="0"/>
            <c:bubble3D val="0"/>
            <c:extLst>
              <c:ext xmlns:c16="http://schemas.microsoft.com/office/drawing/2014/chart" uri="{C3380CC4-5D6E-409C-BE32-E72D297353CC}">
                <c16:uniqueId val="{00000007-8BEE-1046-85D9-6F04F2E1E1B3}"/>
              </c:ext>
            </c:extLst>
          </c:dPt>
          <c:dPt>
            <c:idx val="4"/>
            <c:invertIfNegative val="0"/>
            <c:bubble3D val="0"/>
            <c:extLst>
              <c:ext xmlns:c16="http://schemas.microsoft.com/office/drawing/2014/chart" uri="{C3380CC4-5D6E-409C-BE32-E72D297353CC}">
                <c16:uniqueId val="{00000009-8BEE-1046-85D9-6F04F2E1E1B3}"/>
              </c:ext>
            </c:extLst>
          </c:dPt>
          <c:dPt>
            <c:idx val="5"/>
            <c:invertIfNegative val="0"/>
            <c:bubble3D val="0"/>
            <c:extLst>
              <c:ext xmlns:c16="http://schemas.microsoft.com/office/drawing/2014/chart" uri="{C3380CC4-5D6E-409C-BE32-E72D297353CC}">
                <c16:uniqueId val="{0000000B-8BEE-1046-85D9-6F04F2E1E1B3}"/>
              </c:ext>
            </c:extLst>
          </c:dPt>
          <c:dLbls>
            <c:numFmt formatCode="0.0%" sourceLinked="0"/>
            <c:spPr>
              <a:noFill/>
              <a:ln>
                <a:noFill/>
              </a:ln>
              <a:effectLst/>
            </c:spPr>
            <c:txPr>
              <a:bodyPr/>
              <a:lstStyle/>
              <a:p>
                <a:pPr>
                  <a:defRPr sz="12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Q4 2010</c:v>
                </c:pt>
                <c:pt idx="1">
                  <c:v>Q1 2011</c:v>
                </c:pt>
                <c:pt idx="2">
                  <c:v>Q2 2011</c:v>
                </c:pt>
                <c:pt idx="3">
                  <c:v>Q3 2011</c:v>
                </c:pt>
                <c:pt idx="4">
                  <c:v>Q4 2011</c:v>
                </c:pt>
                <c:pt idx="5">
                  <c:v>Q1 2012</c:v>
                </c:pt>
              </c:strCache>
            </c:strRef>
          </c:cat>
          <c:val>
            <c:numRef>
              <c:f>Sheet1!$B$2:$B$7</c:f>
              <c:numCache>
                <c:formatCode>General</c:formatCode>
                <c:ptCount val="6"/>
                <c:pt idx="0">
                  <c:v>-2.8999999999999998E-3</c:v>
                </c:pt>
                <c:pt idx="1">
                  <c:v>6.3E-3</c:v>
                </c:pt>
                <c:pt idx="2">
                  <c:v>0</c:v>
                </c:pt>
                <c:pt idx="3">
                  <c:v>-2.1600000000000001E-2</c:v>
                </c:pt>
                <c:pt idx="4">
                  <c:v>-2.0299999999999999E-2</c:v>
                </c:pt>
                <c:pt idx="5">
                  <c:v>-2.2200000000000001E-2</c:v>
                </c:pt>
              </c:numCache>
            </c:numRef>
          </c:val>
          <c:extLst>
            <c:ext xmlns:c16="http://schemas.microsoft.com/office/drawing/2014/chart" uri="{C3380CC4-5D6E-409C-BE32-E72D297353CC}">
              <c16:uniqueId val="{0000000C-8BEE-1046-85D9-6F04F2E1E1B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178"/>
                </a:solidFill>
                <a:latin typeface="+mn-lt"/>
              </a:defRPr>
            </a:pPr>
            <a:endParaRPr lang="en-US"/>
          </a:p>
        </c:txPr>
        <c:crossAx val="2094734552"/>
        <c:crosses val="autoZero"/>
        <c:auto val="1"/>
        <c:lblAlgn val="ctr"/>
        <c:lblOffset val="100"/>
        <c:noMultiLvlLbl val="1"/>
      </c:catAx>
      <c:valAx>
        <c:axId val="2094734552"/>
        <c:scaling>
          <c:orientation val="minMax"/>
          <c:max val="0.01"/>
          <c:min val="-0.03"/>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178"/>
                </a:solidFill>
                <a:latin typeface="+mn-lt"/>
              </a:defRPr>
            </a:pPr>
            <a:endParaRPr lang="en-US"/>
          </a:p>
        </c:txPr>
        <c:crossAx val="2094734554"/>
        <c:crosses val="autoZero"/>
        <c:crossBetween val="between"/>
        <c:majorUnit val="0.0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9467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Tonight: start from last week's fixed effects, build difference-in-differences as two-way fixed effects with two groups and two periods, then spend most of the time on the one assumption everything rests on: parallel trends. Readings: The Effect ch. 18; Card &amp; Krueger (1994); Kessler &amp; Roth (2014).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because last week the one-way vs. two-way distinction didn't land. A fixed effect is nothing fancier than a dummy for each group. 'One-way' means one set of dummies, usually one per unit. 'Two-way' means two sets: one per unit and one per time period. The table is the whole story: each set of dummies removes one kind of confounding. The bottom row, a change specific to the treated group at the moment of treatment, is never removed. Everything else in tonight's lecture is about that row.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four numbers students will compute in the lab. With state fixed effects, the level difference between NJ and PA is gone, which is what we want. But all that is left for NJ is its own before/after change, +0.59. One-way fixed effects silently assumes nothing else changed between February and November. Pennsylvania tells us that's false: stores there lost two workers each with no law.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add year dummies. Because only NJ is treated, the November effect is identified from Pennsylvania: it says November is 2.17 lower than February for a store without the law. Take that out of NJ's change and you get 2.75. That is the difference-in-differences. So when people say 'two-way fixed effects' in a policy paper, in the simplest case they mean exactly this. And the last line is the bridge to the rest of the lecture: the whole thing rests on PA's change being the right stand-in for NJ's.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Huntington-Klein's phrase is across-within variation. The within part is the before-after comparison for one group. The across part compares those before-after changes between groups. Each difference removes one kind of confounding: the first removes stable group differences, the second removes common time shocks.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Snow compared households served by different water companies in the 1849 and 1854 epidemics. Lambeth moved its intake upstream in between. A simple before/after for Lambeth says deaths fell 45. But other households saw deaths rise 12, so the epidemic year itself was worse. The DiD is −57. Ask: what has to be true for +11.7 to be what Lambeth would have experienced?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cells from the regression. b1 is the pre-period gap, which can be anything: DiD does not need the groups to look alike before. b2 is the untreated group's change, which is our estimate of what would have happened to the treated group anyway. b3 is the extra change in the treated group. Generalize: replace Treated with group dummies and After with period dummies and you have two-way fixed effects.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sense of range. Same structure every time: one group gets a policy or shock, another doesn't, and we compare changes. Huntington-Klein uses Snow, Kessler and Roth, and Card's Mariel boatlift study, where he discusses which cities would make a good comparison for Miami. Ask: for the boatlift, what makes a city a good comparison? (Similar labor market trends before 1980, not itself hit by a migration shock.)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Tonight's lab. 410 restaurants, surveyed in February and November 1992. New Jersey employment rose slightly; Pennsylvania's fell. The DiD is +2.75 full-time-equivalent workers per store. Point out the level gap before: PA stores were bigger. The DiD does not care about that; b1 absorbs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students mix up. Different levels are fine. Equal counterfactual changes are required. The assumption concerns the post period, so pre-period evidence only makes it more plausible. And it is scale-dependent: if NJ and PA start at different levels, parallel in counts implies non-parallel in percentages. Last week's homework (the city comparison in Bertrand and Mullainathan) made the same point about scale.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group is a design choice, not something the data hand you. Pennsylvania shares the regional economy but is a different state. High-wage NJ stores share New Jersey but are different kinds of stores. If both comparisons give similar answers, it is harder to tell a story where both are biased the same way.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checks students should reach for, and they all appear in tonight's lab or homework. Stress the limit: every check is about the pre-period or about units that should not respond. They raise or lower our confidence; they cannot verify the counterfactual.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Card and Krueger, we have several quarters before the policy. California's level is much lower, but what matters is that before July 2011 the lines move together. Afterward California's rate falls about 2 points relative to the comparison states: active choice lowered registration.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 study replaces one After dummy with a separate dummy for each period, all relative to the last pre-period. The pre-period bars are the parallel-trends check; the post-period bars show how the effect evolves. One honest wrinkle: the Q1 2011 lead is 'significant' with clustered SEs from only 27 states, but it is a quarter of a point next to a 2-point effect. Judge pre-trends by size, not stars.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practical points. Controls: the fixed effects do most of the work, and post-treatment controls are actively harmful. Inference: cluster at the level of treatment assignment; with very few clusters, even clustered SEs mislead. California is one treated state, which is why Kessler and Roth's design is stronger on bias than on precision.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book's broadband example. Each county on its own gives a fine before/after comparison. But a single two-way fixed-effects regression averages all possible 2 × 2 comparisons, including ones where an already-treated county plays the control. If effects change over time, those comparisons are contaminated: the already-treated county's outcome is still moving because of its own treatment. Goodman-Bacon showed the TWFE estimate is a weighted average of all these comparisons, and some weights can push the estimate the wrong way.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don't need to master these estimators tonight. The point: the design (staggered adoption) is fine; the default regression is the problem. The modern fixes all do the same thing in different ways: make sure each treated cohort is compared only with units that are not (yet) treated. We'll see this next week with Legewie and Fagan's staggered impact-zone designations.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sending them into the lab. Lab 7 has three outputs to submit: the 2 × 2 table, the regression table and the organ-donation event study. Homework 5 is due October 29. Next week's reading: Legewie and Fagan (2019).</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1920240"/>
            <a:ext cx="8686800" cy="914400"/>
          </a:xfrm>
          <a:prstGeom prst="rect">
            <a:avLst/>
          </a:prstGeom>
          <a:noFill/>
          <a:ln/>
        </p:spPr>
        <p:txBody>
          <a:bodyPr wrap="square" rtlCol="0"/>
          <a:lstStyle>
            <a:lvl1pPr marL="0" indent="0" algn="l">
              <a:buNone/>
              <a:defRPr lang="en-US" sz="36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600" dirty="0"/>
          </a:p>
        </p:txBody>
      </p:sp>
      <p:sp>
        <p:nvSpPr>
          <p:cNvPr id="3" name="Text 0"/>
          <p:cNvSpPr>
            <a:spLocks noGrp="1"/>
          </p:cNvSpPr>
          <p:nvPr>
            <p:ph type="body" idx="102" hasCustomPrompt="1"/>
          </p:nvPr>
        </p:nvSpPr>
        <p:spPr>
          <a:xfrm>
            <a:off x="731520" y="2880360"/>
            <a:ext cx="8686800" cy="914400"/>
          </a:xfrm>
          <a:prstGeom prst="rect">
            <a:avLst/>
          </a:prstGeom>
          <a:noFill/>
          <a:ln/>
        </p:spPr>
        <p:txBody>
          <a:bodyPr wrap="square" rtlCol="0"/>
          <a:lstStyle>
            <a:lvl1pPr marL="0" indent="0">
              <a:buNone/>
              <a:defRPr lang="en-US" sz="1600" dirty="0">
                <a:solidFill>
                  <a:schemeClr val="accent4"/>
                </a:solidFill>
              </a:defRPr>
            </a:lvl1pPr>
          </a:lstStyle>
          <a:p>
            <a:pPr marL="0" indent="0">
              <a:buNone/>
            </a:pPr>
            <a:endParaRPr lang="en-US" sz="1600" dirty="0"/>
          </a:p>
        </p:txBody>
      </p:sp>
      <p:sp>
        <p:nvSpPr>
          <p:cNvPr id="4" name="Text 0"/>
          <p:cNvSpPr>
            <a:spLocks noGrp="1"/>
          </p:cNvSpPr>
          <p:nvPr>
            <p:ph type="body" idx="103" hasCustomPrompt="1"/>
          </p:nvPr>
        </p:nvSpPr>
        <p:spPr>
          <a:xfrm>
            <a:off x="731520" y="5760720"/>
            <a:ext cx="5486400" cy="457200"/>
          </a:xfrm>
          <a:prstGeom prst="rect">
            <a:avLst/>
          </a:prstGeom>
          <a:noFill/>
          <a:ln/>
        </p:spPr>
        <p:txBody>
          <a:bodyPr wrap="square" rtlCol="0"/>
          <a:lstStyle>
            <a:lvl1pPr marL="0" indent="0">
              <a:buNone/>
              <a:defRPr lang="en-US" sz="1400" dirty="0">
                <a:solidFill>
                  <a:schemeClr val="bg1"/>
                </a:solidFill>
              </a:defRPr>
            </a:lvl1pPr>
          </a:lstStyle>
          <a:p>
            <a:pPr marL="0" indent="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331720"/>
            <a:ext cx="9144000" cy="365760"/>
          </a:xfrm>
          <a:prstGeom prst="rect">
            <a:avLst/>
          </a:prstGeom>
          <a:noFill/>
          <a:ln/>
        </p:spPr>
        <p:txBody>
          <a:bodyPr wrap="square" rtlCol="0"/>
          <a:lstStyle>
            <a:lvl1pPr marL="0" indent="0">
              <a:buNone/>
              <a:defRPr lang="en-US" sz="1200" b="1" kern="0" spc="200" dirty="0">
                <a:solidFill>
                  <a:schemeClr val="accent4"/>
                </a:solidFill>
              </a:defRPr>
            </a:lvl1pPr>
          </a:lstStyle>
          <a:p>
            <a:pPr marL="0" indent="0">
              <a:buNone/>
            </a:pPr>
            <a:endParaRPr lang="en-US" sz="1200" dirty="0"/>
          </a:p>
        </p:txBody>
      </p:sp>
      <p:sp>
        <p:nvSpPr>
          <p:cNvPr id="3" name="Text 0"/>
          <p:cNvSpPr>
            <a:spLocks noGrp="1"/>
          </p:cNvSpPr>
          <p:nvPr>
            <p:ph type="title" idx="101" hasCustomPrompt="1"/>
          </p:nvPr>
        </p:nvSpPr>
        <p:spPr>
          <a:xfrm>
            <a:off x="731520" y="2743200"/>
            <a:ext cx="10058400" cy="822960"/>
          </a:xfrm>
          <a:prstGeom prst="rect">
            <a:avLst/>
          </a:prstGeom>
          <a:noFill/>
          <a:ln/>
        </p:spPr>
        <p:txBody>
          <a:bodyPr wrap="square" rtlCol="0"/>
          <a:lstStyle>
            <a:lvl1pPr marL="0" indent="0" algn="l">
              <a:buNone/>
              <a:defRPr lang="en-US" sz="32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4" name="Text 0"/>
          <p:cNvSpPr>
            <a:spLocks noGrp="1"/>
          </p:cNvSpPr>
          <p:nvPr>
            <p:ph type="body" idx="102" hasCustomPrompt="1"/>
          </p:nvPr>
        </p:nvSpPr>
        <p:spPr>
          <a:xfrm>
            <a:off x="731520" y="3611880"/>
            <a:ext cx="10058400" cy="548640"/>
          </a:xfrm>
          <a:prstGeom prst="rect">
            <a:avLst/>
          </a:prstGeom>
          <a:noFill/>
          <a:ln/>
        </p:spPr>
        <p:txBody>
          <a:bodyPr wrap="square" rtlCol="0"/>
          <a:lstStyle>
            <a:lvl1pPr marL="0" indent="0">
              <a:buNone/>
              <a:defRPr lang="en-US" sz="1500" i="1" dirty="0">
                <a:solidFill>
                  <a:schemeClr val="accent4"/>
                </a:solidFill>
              </a:defRPr>
            </a:lvl1pPr>
          </a:lstStyle>
          <a:p>
            <a:pPr marL="0" indent="0">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lstStyle>
            <a:lvl1pPr marL="0" indent="0">
              <a:buNone/>
              <a:defRPr lang="en-US" sz="1000" b="1" kern="0" spc="150" dirty="0">
                <a:solidFill>
                  <a:schemeClr val="accent1"/>
                </a:solidFill>
              </a:defRPr>
            </a:lvl1pPr>
          </a:lstStyle>
          <a:p>
            <a:pPr marL="0" indent="0">
              <a:buNone/>
            </a:pP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lstStyle>
            <a:lvl1pPr marL="0" indent="0" algn="l">
              <a:buNone/>
              <a:defRPr lang="en-US" sz="28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4" name="Text 0"/>
          <p:cNvSpPr/>
          <p:nvPr/>
        </p:nvSpPr>
        <p:spPr>
          <a:xfrm>
            <a:off x="548640" y="6400800"/>
            <a:ext cx="7315200" cy="274320"/>
          </a:xfrm>
          <a:prstGeom prst="rect">
            <a:avLst/>
          </a:prstGeom>
          <a:noFill/>
          <a:ln/>
        </p:spPr>
        <p:txBody>
          <a:bodyPr wrap="square" rtlCol="0" anchor="ctr"/>
          <a:lstStyle/>
          <a:p>
            <a:pPr marL="0" indent="0">
              <a:buNone/>
            </a:pPr>
            <a:r>
              <a:rPr lang="en-US" sz="1000" dirty="0">
                <a:solidFill>
                  <a:schemeClr val="accent5"/>
                </a:solidFill>
              </a:rPr>
              <a:t>Week 8 · Difference-in-Differences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R">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640080"/>
            <a:ext cx="10698480" cy="822960"/>
          </a:xfrm>
          <a:prstGeom prst="rect">
            <a:avLst/>
          </a:prstGeom>
          <a:noFill/>
          <a:ln/>
        </p:spPr>
        <p:txBody>
          <a:bodyPr wrap="square" rtlCol="0"/>
          <a:lstStyle>
            <a:lvl1pPr marL="0" indent="0" algn="l">
              <a:buNone/>
              <a:defRPr lang="en-US" sz="3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1920240"/>
            <a:ext cx="8686800" cy="914400"/>
          </a:xfrm>
          <a:prstGeom prst="rect">
            <a:avLst/>
          </a:prstGeom>
          <a:noFill/>
          <a:ln/>
        </p:spPr>
        <p:txBody>
          <a:bodyPr wrap="square" rtlCol="0" anchor="ctr"/>
          <a:lstStyle/>
          <a:p>
            <a:pPr marL="0" indent="0" algn="l">
              <a:buNone/>
            </a:pPr>
            <a:r>
              <a:rPr lang="en-US" sz="3600" b="1" dirty="0">
                <a:solidFill>
                  <a:schemeClr val="bg1"/>
                </a:solidFill>
                <a:latin typeface="Cambria" pitchFamily="34" charset="0"/>
                <a:ea typeface="Cambria" pitchFamily="34" charset="-122"/>
                <a:cs typeface="Cambria" pitchFamily="34" charset="-120"/>
              </a:rPr>
              <a:t>Difference-in-Differences</a:t>
            </a:r>
            <a:endParaRPr lang="en-US" sz="3600" dirty="0"/>
          </a:p>
        </p:txBody>
      </p:sp>
      <p:sp>
        <p:nvSpPr>
          <p:cNvPr id="3" name="Text 0"/>
          <p:cNvSpPr>
            <a:spLocks noGrp="1"/>
          </p:cNvSpPr>
          <p:nvPr>
            <p:ph type="body" idx="102" hasCustomPrompt="1"/>
          </p:nvPr>
        </p:nvSpPr>
        <p:spPr>
          <a:xfrm>
            <a:off x="731520" y="2880360"/>
            <a:ext cx="8686800" cy="914400"/>
          </a:xfrm>
          <a:prstGeom prst="rect">
            <a:avLst/>
          </a:prstGeom>
          <a:noFill/>
          <a:ln/>
        </p:spPr>
        <p:txBody>
          <a:bodyPr wrap="square" rtlCol="0" anchor="t"/>
          <a:lstStyle/>
          <a:p>
            <a:pPr marL="0" indent="0">
              <a:buNone/>
            </a:pPr>
            <a:r>
              <a:rPr lang="en-US" sz="1600" dirty="0">
                <a:solidFill>
                  <a:schemeClr val="accent4"/>
                </a:solidFill>
              </a:rPr>
              <a:t>Two-way fixed effects, the 2 × 2, and the parallel-trends assumption</a:t>
            </a:r>
            <a:endParaRPr lang="en-US" sz="1600" dirty="0"/>
          </a:p>
          <a:p>
            <a:pPr marL="0" indent="0">
              <a:buNone/>
            </a:pPr>
            <a:r>
              <a:rPr lang="en-US" sz="1600" dirty="0">
                <a:solidFill>
                  <a:schemeClr val="accent4"/>
                </a:solidFill>
              </a:rPr>
              <a:t>Week 8 · QMSS 75000 / SOC 81900 · October 22, 2026</a:t>
            </a:r>
            <a:endParaRPr lang="en-US" sz="1600" dirty="0"/>
          </a:p>
        </p:txBody>
      </p:sp>
      <p:sp>
        <p:nvSpPr>
          <p:cNvPr id="4" name="Text 0"/>
          <p:cNvSpPr>
            <a:spLocks noGrp="1"/>
          </p:cNvSpPr>
          <p:nvPr>
            <p:ph type="body" idx="103" hasCustomPrompt="1"/>
          </p:nvPr>
        </p:nvSpPr>
        <p:spPr>
          <a:xfrm>
            <a:off x="731520" y="5760720"/>
            <a:ext cx="5486400" cy="457200"/>
          </a:xfrm>
          <a:prstGeom prst="rect">
            <a:avLst/>
          </a:prstGeom>
          <a:noFill/>
          <a:ln/>
        </p:spPr>
        <p:txBody>
          <a:bodyPr wrap="square" rtlCol="0" anchor="ctr"/>
          <a:lstStyle/>
          <a:p>
            <a:pPr marL="0" indent="0">
              <a:buNone/>
            </a:pPr>
            <a:r>
              <a:rPr lang="en-US" sz="1400" dirty="0">
                <a:solidFill>
                  <a:schemeClr val="bg1"/>
                </a:solidFill>
              </a:rPr>
              <a:t>Edwin Grimsley, Ph.D.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WHERE WE LEFT OFF · FIXED EFFECTS, SLOWLY</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A fixed effect is just a separate intercept for each group</a:t>
            </a:r>
            <a:endParaRPr lang="en-US" sz="2800" dirty="0"/>
          </a:p>
        </p:txBody>
      </p:sp>
      <p:sp>
        <p:nvSpPr>
          <p:cNvPr id="4" name="text-1"/>
          <p:cNvSpPr txBox="1"/>
          <p:nvPr/>
        </p:nvSpPr>
        <p:spPr>
          <a:xfrm>
            <a:off x="548640" y="1554480"/>
            <a:ext cx="5120640" cy="3108960"/>
          </a:xfrm>
          <a:prstGeom prst="rect">
            <a:avLst/>
          </a:prstGeom>
          <a:noFill/>
          <a:ln/>
        </p:spPr>
        <p:txBody>
          <a:bodyPr wrap="square" lIns="0" tIns="0" rIns="0" bIns="0" rtlCol="0" anchor="t"/>
          <a:lstStyle/>
          <a:p>
            <a:pPr marL="0" indent="0">
              <a:buNone/>
            </a:pPr>
            <a:r>
              <a:rPr lang="en-US" sz="1800" b="1" dirty="0">
                <a:solidFill>
                  <a:schemeClr val="tx2"/>
                </a:solidFill>
              </a:rPr>
              <a:t>Adding store fixed effects = giving every store its own dummy variable.</a:t>
            </a:r>
            <a:endParaRPr lang="en-US" sz="1800" dirty="0"/>
          </a:p>
          <a:p>
            <a:pPr marL="0" indent="0">
              <a:buNone/>
            </a:pPr>
            <a:r>
              <a:rPr lang="en-US" sz="1800" dirty="0">
                <a:solidFill>
                  <a:schemeClr val="tx1"/>
                </a:solidFill>
              </a:rPr>
              <a:t>Anything about a store that never changes gets soaked up by its dummy: its size, its location, its manager's style. Measured or not.</a:t>
            </a:r>
            <a:endParaRPr lang="en-US" sz="1800" dirty="0"/>
          </a:p>
          <a:p>
            <a:pPr marL="0" indent="0">
              <a:buNone/>
            </a:pPr>
            <a:r>
              <a:rPr lang="en-US" sz="800" dirty="0">
                <a:solidFill>
                  <a:schemeClr val="tx1"/>
                </a:solidFill>
              </a:rPr>
              <a:t> </a:t>
            </a:r>
            <a:endParaRPr lang="en-US" sz="1800" dirty="0"/>
          </a:p>
          <a:p>
            <a:pPr marL="0" indent="0">
              <a:buNone/>
            </a:pPr>
            <a:r>
              <a:rPr lang="en-US" sz="1800" b="1" dirty="0">
                <a:solidFill>
                  <a:schemeClr val="tx2"/>
                </a:solidFill>
              </a:rPr>
              <a:t>Adding year fixed effects = giving every year its own dummy variable.</a:t>
            </a:r>
            <a:endParaRPr lang="en-US" sz="1800" dirty="0"/>
          </a:p>
          <a:p>
            <a:pPr marL="0" indent="0">
              <a:buNone/>
            </a:pPr>
            <a:r>
              <a:rPr lang="en-US" sz="1800" dirty="0">
                <a:solidFill>
                  <a:schemeClr val="tx1"/>
                </a:solidFill>
              </a:rPr>
              <a:t>Anything that hits every store the same way that year gets soaked up: a recession, the season, a new survey question.</a:t>
            </a:r>
            <a:endParaRPr lang="en-US" sz="1800" dirty="0"/>
          </a:p>
        </p:txBody>
      </p:sp>
      <p:sp>
        <p:nvSpPr>
          <p:cNvPr id="5" name="text-2"/>
          <p:cNvSpPr txBox="1"/>
          <p:nvPr/>
        </p:nvSpPr>
        <p:spPr>
          <a:xfrm>
            <a:off x="548640" y="4846320"/>
            <a:ext cx="5120640" cy="731520"/>
          </a:xfrm>
          <a:prstGeom prst="rect">
            <a:avLst/>
          </a:prstGeom>
          <a:noFill/>
          <a:ln/>
        </p:spPr>
        <p:txBody>
          <a:bodyPr wrap="square" lIns="0" tIns="0" rIns="0" bIns="0" rtlCol="0" anchor="t"/>
          <a:lstStyle/>
          <a:p>
            <a:pPr marL="0" indent="0">
              <a:buNone/>
            </a:pPr>
            <a:r>
              <a:rPr lang="en-US" sz="1800" b="1" dirty="0">
                <a:solidFill>
                  <a:schemeClr val="accent3"/>
                </a:solidFill>
              </a:rPr>
              <a:t>"One-way" = one set of dummies. "Two-way" = two sets: unit AND time.</a:t>
            </a:r>
            <a:endParaRPr lang="en-US" sz="1800" dirty="0"/>
          </a:p>
        </p:txBody>
      </p:sp>
      <p:graphicFrame>
        <p:nvGraphicFramePr>
          <p:cNvPr id="6" name="fe-table"/>
          <p:cNvGraphicFramePr>
            <a:graphicFrameLocks noGrp="1"/>
          </p:cNvGraphicFramePr>
          <p:nvPr>
            <p:extLst>
              <p:ext uri="{D42A27DB-BD31-4B8C-83A1-F6EECF244321}">
                <p14:modId xmlns:p14="http://schemas.microsoft.com/office/powerpoint/2010/main" val="1579011935"/>
              </p:ext>
            </p:extLst>
          </p:nvPr>
        </p:nvGraphicFramePr>
        <p:xfrm>
          <a:off x="5989320" y="1554480"/>
          <a:ext cx="5623560" cy="3108960"/>
        </p:xfrm>
        <a:graphic>
          <a:graphicData uri="http://schemas.openxmlformats.org/drawingml/2006/table">
            <a:tbl>
              <a:tblPr/>
              <a:tblGrid>
                <a:gridCol w="26060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77724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Removes confounding from…</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No FE</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Unit FE (one-way)</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Two-way FE</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extLst>
                  <a:ext uri="{0D108BD9-81ED-4DB2-BD59-A6C34878D82A}">
                    <a16:rowId xmlns:a16="http://schemas.microsoft.com/office/drawing/2014/main" val="10000"/>
                  </a:ext>
                </a:extLst>
              </a:tr>
              <a:tr h="777240">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Stable differences between units (NJ stores are smaller)</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400" b="1" dirty="0">
                          <a:solidFill>
                            <a:srgbClr val="B23B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Shocks that hit everyone in a period (a bad year)</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400" b="1" dirty="0">
                          <a:solidFill>
                            <a:srgbClr val="B23B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400" b="1" dirty="0">
                          <a:solidFill>
                            <a:srgbClr val="B23B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400" dirty="0">
                          <a:solidFill>
                            <a:srgbClr val="1A1A2E"/>
                          </a:solidFill>
                          <a:latin typeface="Calibri" pitchFamily="34" charset="0"/>
                          <a:ea typeface="Calibri" pitchFamily="34" charset="-122"/>
                          <a:cs typeface="Calibri" pitchFamily="34" charset="-120"/>
                        </a:rPr>
                        <a:t>Something that changes only for treated units, at the same time as treatment</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400" b="1" dirty="0">
                          <a:solidFill>
                            <a:srgbClr val="B23B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400" b="1" dirty="0">
                          <a:solidFill>
                            <a:srgbClr val="B23B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400" b="1" dirty="0">
                          <a:solidFill>
                            <a:srgbClr val="B23B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3"/>
          <p:cNvSpPr txBox="1"/>
          <p:nvPr/>
        </p:nvSpPr>
        <p:spPr>
          <a:xfrm>
            <a:off x="5989320" y="4846320"/>
            <a:ext cx="5623560" cy="731520"/>
          </a:xfrm>
          <a:prstGeom prst="rect">
            <a:avLst/>
          </a:prstGeom>
          <a:noFill/>
          <a:ln/>
        </p:spPr>
        <p:txBody>
          <a:bodyPr wrap="square" lIns="0" tIns="0" rIns="0" bIns="0" rtlCol="0" anchor="t"/>
          <a:lstStyle/>
          <a:p>
            <a:pPr marL="0" indent="0">
              <a:buNone/>
            </a:pPr>
            <a:r>
              <a:rPr lang="en-US" sz="1400" i="1" dirty="0">
                <a:solidFill>
                  <a:schemeClr val="tx2"/>
                </a:solidFill>
              </a:rPr>
              <a:t>The last row is what's left over. Two-way fixed effects can't remove it, so we have to assume it away: that's parallel trends.</a:t>
            </a:r>
            <a:endParaRPr lang="en-US" sz="1400" dirty="0"/>
          </a:p>
        </p:txBody>
      </p:sp>
      <p:sp>
        <p:nvSpPr>
          <p:cNvPr id="8" name="text-4"/>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In R (fixest): one-way  feols(y ~ D | store)   ·   two-way  feols(y ~ D | store + year)</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WORKED EXAMPLE · CARD &amp; KRUEGER'S FOUR NUMBERS</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One-way: compare each state with itself</a:t>
            </a:r>
            <a:endParaRPr lang="en-US" sz="2800" dirty="0"/>
          </a:p>
        </p:txBody>
      </p:sp>
      <p:graphicFrame>
        <p:nvGraphicFramePr>
          <p:cNvPr id="4" name="tbl-5"/>
          <p:cNvGraphicFramePr>
            <a:graphicFrameLocks noGrp="1"/>
          </p:cNvGraphicFramePr>
          <p:nvPr>
            <p:extLst>
              <p:ext uri="{D42A27DB-BD31-4B8C-83A1-F6EECF244321}">
                <p14:modId xmlns:p14="http://schemas.microsoft.com/office/powerpoint/2010/main" val="1579011935"/>
              </p:ext>
            </p:extLst>
          </p:nvPr>
        </p:nvGraphicFramePr>
        <p:xfrm>
          <a:off x="548640" y="1600200"/>
          <a:ext cx="6035040" cy="1920240"/>
        </p:xfrm>
        <a:graphic>
          <a:graphicData uri="http://schemas.openxmlformats.org/drawingml/2006/table">
            <a:tbl>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64008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Workers per store</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Feb 1992</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Nov 1992</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Change</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extLst>
                  <a:ext uri="{0D108BD9-81ED-4DB2-BD59-A6C34878D82A}">
                    <a16:rowId xmlns:a16="http://schemas.microsoft.com/office/drawing/2014/main" val="10000"/>
                  </a:ext>
                </a:extLst>
              </a:tr>
              <a:tr h="640080">
                <a:tc>
                  <a:txBody>
                    <a:bodyPr/>
                    <a:lstStyle/>
                    <a:p>
                      <a:pPr marL="0" indent="0">
                        <a:buNone/>
                      </a:pPr>
                      <a:r>
                        <a:rPr lang="en-US" sz="1600" b="1" dirty="0">
                          <a:solidFill>
                            <a:srgbClr val="1A1A2E"/>
                          </a:solidFill>
                          <a:latin typeface="Calibri" pitchFamily="34" charset="0"/>
                          <a:ea typeface="Calibri" pitchFamily="34" charset="-122"/>
                          <a:cs typeface="Calibri" pitchFamily="34" charset="-120"/>
                        </a:rPr>
                        <a:t>New Jersey (law)</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dirty="0">
                          <a:solidFill>
                            <a:srgbClr val="1A1A2E"/>
                          </a:solidFill>
                          <a:latin typeface="Calibri" pitchFamily="34" charset="0"/>
                          <a:ea typeface="Calibri" pitchFamily="34" charset="-122"/>
                          <a:cs typeface="Calibri" pitchFamily="34" charset="-120"/>
                        </a:rPr>
                        <a:t>20.44</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dirty="0">
                          <a:solidFill>
                            <a:srgbClr val="1A1A2E"/>
                          </a:solidFill>
                          <a:latin typeface="Calibri" pitchFamily="34" charset="0"/>
                          <a:ea typeface="Calibri" pitchFamily="34" charset="-122"/>
                          <a:cs typeface="Calibri" pitchFamily="34" charset="-120"/>
                        </a:rPr>
                        <a:t>21.03</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b="1" dirty="0">
                          <a:solidFill>
                            <a:srgbClr val="2E7D32"/>
                          </a:solidFill>
                          <a:latin typeface="Calibri" pitchFamily="34" charset="0"/>
                          <a:ea typeface="Calibri" pitchFamily="34" charset="-122"/>
                          <a:cs typeface="Calibri" pitchFamily="34" charset="-120"/>
                        </a:rPr>
                        <a:t>+0.59</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600" b="1" dirty="0">
                          <a:solidFill>
                            <a:srgbClr val="1A1A2E"/>
                          </a:solidFill>
                          <a:latin typeface="Calibri" pitchFamily="34" charset="0"/>
                          <a:ea typeface="Calibri" pitchFamily="34" charset="-122"/>
                          <a:cs typeface="Calibri" pitchFamily="34" charset="-120"/>
                        </a:rPr>
                        <a:t>Pennsylvania</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dirty="0">
                          <a:solidFill>
                            <a:srgbClr val="1A1A2E"/>
                          </a:solidFill>
                          <a:latin typeface="Calibri" pitchFamily="34" charset="0"/>
                          <a:ea typeface="Calibri" pitchFamily="34" charset="-122"/>
                          <a:cs typeface="Calibri" pitchFamily="34" charset="-120"/>
                        </a:rPr>
                        <a:t>23.33</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dirty="0">
                          <a:solidFill>
                            <a:srgbClr val="1A1A2E"/>
                          </a:solidFill>
                          <a:latin typeface="Calibri" pitchFamily="34" charset="0"/>
                          <a:ea typeface="Calibri" pitchFamily="34" charset="-122"/>
                          <a:cs typeface="Calibri" pitchFamily="34" charset="-120"/>
                        </a:rPr>
                        <a:t>21.17</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b="1" dirty="0">
                          <a:solidFill>
                            <a:srgbClr val="1A1A2E"/>
                          </a:solidFill>
                          <a:latin typeface="Calibri" pitchFamily="34" charset="0"/>
                          <a:ea typeface="Calibri" pitchFamily="34" charset="-122"/>
                          <a:cs typeface="Calibri" pitchFamily="34" charset="-120"/>
                        </a:rPr>
                        <a:t>−2.17</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6"/>
          <p:cNvSpPr txBox="1"/>
          <p:nvPr/>
        </p:nvSpPr>
        <p:spPr>
          <a:xfrm>
            <a:off x="548640" y="3657600"/>
            <a:ext cx="6035040" cy="2103120"/>
          </a:xfrm>
          <a:prstGeom prst="rect">
            <a:avLst/>
          </a:prstGeom>
          <a:noFill/>
          <a:ln/>
        </p:spPr>
        <p:txBody>
          <a:bodyPr wrap="square" lIns="0" tIns="0" rIns="0" bIns="0" rtlCol="0" anchor="t"/>
          <a:lstStyle/>
          <a:p>
            <a:pPr marL="0" indent="0">
              <a:buNone/>
            </a:pPr>
            <a:r>
              <a:rPr lang="en-US" sz="1600" dirty="0">
                <a:solidFill>
                  <a:schemeClr val="tx1"/>
                </a:solidFill>
              </a:rPr>
              <a:t>With state fixed effects, the 2.9-worker gap between the states (23.33 vs. 20.44) drops out. Good: that gap was there before the law.</a:t>
            </a:r>
            <a:endParaRPr lang="en-US" sz="1600" dirty="0"/>
          </a:p>
          <a:p>
            <a:pPr marL="0" indent="0">
              <a:buNone/>
            </a:pPr>
            <a:r>
              <a:rPr lang="en-US" sz="800" dirty="0">
                <a:solidFill>
                  <a:schemeClr val="tx1"/>
                </a:solidFill>
              </a:rPr>
              <a:t> </a:t>
            </a:r>
            <a:endParaRPr lang="en-US" sz="1600" dirty="0"/>
          </a:p>
          <a:p>
            <a:pPr marL="0" indent="0">
              <a:buNone/>
            </a:pPr>
            <a:r>
              <a:rPr lang="en-US" sz="1600" b="1" dirty="0">
                <a:solidFill>
                  <a:schemeClr val="tx2"/>
                </a:solidFill>
              </a:rPr>
              <a:t>What's left for New Jersey is its own change: +0.59.</a:t>
            </a:r>
            <a:endParaRPr lang="en-US" sz="1600" dirty="0"/>
          </a:p>
        </p:txBody>
      </p:sp>
      <p:sp>
        <p:nvSpPr>
          <p:cNvPr id="6" name="card-7"/>
          <p:cNvSpPr/>
          <p:nvPr/>
        </p:nvSpPr>
        <p:spPr>
          <a:xfrm>
            <a:off x="6949440" y="1600200"/>
            <a:ext cx="4663440" cy="4206240"/>
          </a:xfrm>
          <a:prstGeom prst="rect">
            <a:avLst/>
          </a:prstGeom>
          <a:solidFill>
            <a:schemeClr val="bg2"/>
          </a:solidFill>
          <a:ln/>
        </p:spPr>
        <p:txBody>
          <a:bodyPr/>
          <a:lstStyle/>
          <a:p>
            <a:endParaRPr lang="en-US"/>
          </a:p>
        </p:txBody>
      </p:sp>
      <p:sp>
        <p:nvSpPr>
          <p:cNvPr id="7" name="bar-8"/>
          <p:cNvSpPr/>
          <p:nvPr/>
        </p:nvSpPr>
        <p:spPr>
          <a:xfrm>
            <a:off x="6949440" y="1600200"/>
            <a:ext cx="109728" cy="4206240"/>
          </a:xfrm>
          <a:prstGeom prst="rect">
            <a:avLst/>
          </a:prstGeom>
          <a:solidFill>
            <a:schemeClr val="accent3"/>
          </a:solidFill>
          <a:ln/>
        </p:spPr>
        <p:txBody>
          <a:bodyPr/>
          <a:lstStyle/>
          <a:p>
            <a:endParaRPr lang="en-US"/>
          </a:p>
        </p:txBody>
      </p:sp>
      <p:sp>
        <p:nvSpPr>
          <p:cNvPr id="8" name="text-9"/>
          <p:cNvSpPr txBox="1"/>
          <p:nvPr/>
        </p:nvSpPr>
        <p:spPr>
          <a:xfrm>
            <a:off x="7269480" y="1783080"/>
            <a:ext cx="4160520" cy="3931920"/>
          </a:xfrm>
          <a:prstGeom prst="rect">
            <a:avLst/>
          </a:prstGeom>
          <a:noFill/>
          <a:ln/>
        </p:spPr>
        <p:txBody>
          <a:bodyPr wrap="square" lIns="0" tIns="0" rIns="0" bIns="0" rtlCol="0" anchor="t"/>
          <a:lstStyle/>
          <a:p>
            <a:pPr marL="0" indent="0">
              <a:buNone/>
            </a:pPr>
            <a:r>
              <a:rPr lang="en-US" sz="1900" b="1" dirty="0">
                <a:solidFill>
                  <a:schemeClr val="accent3"/>
                </a:solidFill>
                <a:latin typeface="Cambria" pitchFamily="34" charset="0"/>
                <a:ea typeface="Cambria" pitchFamily="34" charset="-122"/>
                <a:cs typeface="Cambria" pitchFamily="34" charset="-120"/>
              </a:rPr>
              <a:t>The problem</a:t>
            </a:r>
            <a:endParaRPr lang="en-US" sz="1600" dirty="0"/>
          </a:p>
          <a:p>
            <a:pPr marL="0" indent="0">
              <a:buNone/>
            </a:pPr>
            <a:r>
              <a:rPr lang="en-US" sz="800" dirty="0">
                <a:solidFill>
                  <a:schemeClr val="tx1"/>
                </a:solidFill>
              </a:rPr>
              <a:t> </a:t>
            </a:r>
            <a:endParaRPr lang="en-US" sz="1600" dirty="0"/>
          </a:p>
          <a:p>
            <a:pPr marL="0" indent="0">
              <a:buNone/>
            </a:pPr>
            <a:r>
              <a:rPr lang="en-US" sz="1600" dirty="0">
                <a:solidFill>
                  <a:schemeClr val="tx1"/>
                </a:solidFill>
              </a:rPr>
              <a:t>One-way FE credits the law with all of New Jersey's change from February to November.</a:t>
            </a:r>
            <a:endParaRPr lang="en-US" sz="1600" dirty="0"/>
          </a:p>
          <a:p>
            <a:pPr marL="0" indent="0">
              <a:buNone/>
            </a:pPr>
            <a:r>
              <a:rPr lang="en-US" sz="800" dirty="0">
                <a:solidFill>
                  <a:schemeClr val="tx1"/>
                </a:solidFill>
              </a:rPr>
              <a:t> </a:t>
            </a:r>
            <a:endParaRPr lang="en-US" sz="1600" dirty="0"/>
          </a:p>
          <a:p>
            <a:pPr marL="0" indent="0">
              <a:buNone/>
            </a:pPr>
            <a:r>
              <a:rPr lang="en-US" sz="1600" dirty="0">
                <a:solidFill>
                  <a:schemeClr val="tx1"/>
                </a:solidFill>
              </a:rPr>
              <a:t>But Pennsylvania, with no new law, lost 2.17 workers per store over the same months. Something hit fast-food jobs everywhere: the season, the economy.</a:t>
            </a:r>
            <a:endParaRPr lang="en-US" sz="1600" dirty="0"/>
          </a:p>
          <a:p>
            <a:pPr marL="0" indent="0">
              <a:buNone/>
            </a:pPr>
            <a:r>
              <a:rPr lang="en-US" sz="800" dirty="0">
                <a:solidFill>
                  <a:schemeClr val="tx1"/>
                </a:solidFill>
              </a:rPr>
              <a:t> </a:t>
            </a:r>
            <a:endParaRPr lang="en-US" sz="1600" dirty="0"/>
          </a:p>
          <a:p>
            <a:pPr marL="0" indent="0">
              <a:buNone/>
            </a:pPr>
            <a:r>
              <a:rPr lang="en-US" sz="1600" b="1" dirty="0">
                <a:solidFill>
                  <a:schemeClr val="tx1"/>
                </a:solidFill>
              </a:rPr>
              <a:t>One-way FE has no way to see that. It's a before/after comparison with stable differences removed.</a:t>
            </a:r>
            <a:endParaRPr lang="en-US" sz="1600" dirty="0"/>
          </a:p>
        </p:txBody>
      </p:sp>
      <p:sp>
        <p:nvSpPr>
          <p:cNvPr id="9" name="text-10"/>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One-way FE here = compare New Jersey in November with New Jersey in February.</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WORKED EXAMPLE · ADD THE YEAR DUMMIES</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Two-way: also subtract what happened to everyone that year</a:t>
            </a:r>
            <a:endParaRPr lang="en-US" sz="2800" dirty="0"/>
          </a:p>
        </p:txBody>
      </p:sp>
      <p:graphicFrame>
        <p:nvGraphicFramePr>
          <p:cNvPr id="5" name="tbl-11"/>
          <p:cNvGraphicFramePr>
            <a:graphicFrameLocks noGrp="1"/>
          </p:cNvGraphicFramePr>
          <p:nvPr>
            <p:extLst>
              <p:ext uri="{D42A27DB-BD31-4B8C-83A1-F6EECF244321}">
                <p14:modId xmlns:p14="http://schemas.microsoft.com/office/powerpoint/2010/main" val="1579011935"/>
              </p:ext>
            </p:extLst>
          </p:nvPr>
        </p:nvGraphicFramePr>
        <p:xfrm>
          <a:off x="548640" y="1600200"/>
          <a:ext cx="6035040" cy="2560320"/>
        </p:xfrm>
        <a:graphic>
          <a:graphicData uri="http://schemas.openxmlformats.org/drawingml/2006/table">
            <a:tbl>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64008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Workers per store</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Feb 1992</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Nov 1992</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Change</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extLst>
                  <a:ext uri="{0D108BD9-81ED-4DB2-BD59-A6C34878D82A}">
                    <a16:rowId xmlns:a16="http://schemas.microsoft.com/office/drawing/2014/main" val="10000"/>
                  </a:ext>
                </a:extLst>
              </a:tr>
              <a:tr h="640080">
                <a:tc>
                  <a:txBody>
                    <a:bodyPr/>
                    <a:lstStyle/>
                    <a:p>
                      <a:pPr marL="0" indent="0">
                        <a:buNone/>
                      </a:pPr>
                      <a:r>
                        <a:rPr lang="en-US" sz="1600" b="1" dirty="0">
                          <a:solidFill>
                            <a:srgbClr val="1A1A2E"/>
                          </a:solidFill>
                          <a:latin typeface="Calibri" pitchFamily="34" charset="0"/>
                          <a:ea typeface="Calibri" pitchFamily="34" charset="-122"/>
                          <a:cs typeface="Calibri" pitchFamily="34" charset="-120"/>
                        </a:rPr>
                        <a:t>New Jersey (law)</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dirty="0">
                          <a:solidFill>
                            <a:srgbClr val="1A1A2E"/>
                          </a:solidFill>
                          <a:latin typeface="Calibri" pitchFamily="34" charset="0"/>
                          <a:ea typeface="Calibri" pitchFamily="34" charset="-122"/>
                          <a:cs typeface="Calibri" pitchFamily="34" charset="-120"/>
                        </a:rPr>
                        <a:t>20.44</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dirty="0">
                          <a:solidFill>
                            <a:srgbClr val="1A1A2E"/>
                          </a:solidFill>
                          <a:latin typeface="Calibri" pitchFamily="34" charset="0"/>
                          <a:ea typeface="Calibri" pitchFamily="34" charset="-122"/>
                          <a:cs typeface="Calibri" pitchFamily="34" charset="-120"/>
                        </a:rPr>
                        <a:t>21.03</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b="1" dirty="0">
                          <a:solidFill>
                            <a:srgbClr val="1A1A2E"/>
                          </a:solidFill>
                          <a:latin typeface="Calibri" pitchFamily="34" charset="0"/>
                          <a:ea typeface="Calibri" pitchFamily="34" charset="-122"/>
                          <a:cs typeface="Calibri" pitchFamily="34" charset="-120"/>
                        </a:rPr>
                        <a:t>+0.59</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600" b="1" dirty="0">
                          <a:solidFill>
                            <a:srgbClr val="1A1A2E"/>
                          </a:solidFill>
                          <a:latin typeface="Calibri" pitchFamily="34" charset="0"/>
                          <a:ea typeface="Calibri" pitchFamily="34" charset="-122"/>
                          <a:cs typeface="Calibri" pitchFamily="34" charset="-120"/>
                        </a:rPr>
                        <a:t>Pennsylvania</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dirty="0">
                          <a:solidFill>
                            <a:srgbClr val="1A1A2E"/>
                          </a:solidFill>
                          <a:latin typeface="Calibri" pitchFamily="34" charset="0"/>
                          <a:ea typeface="Calibri" pitchFamily="34" charset="-122"/>
                          <a:cs typeface="Calibri" pitchFamily="34" charset="-120"/>
                        </a:rPr>
                        <a:t>23.33</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dirty="0">
                          <a:solidFill>
                            <a:srgbClr val="1A1A2E"/>
                          </a:solidFill>
                          <a:latin typeface="Calibri" pitchFamily="34" charset="0"/>
                          <a:ea typeface="Calibri" pitchFamily="34" charset="-122"/>
                          <a:cs typeface="Calibri" pitchFamily="34" charset="-120"/>
                        </a:rPr>
                        <a:t>21.17</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b="1" dirty="0">
                          <a:solidFill>
                            <a:srgbClr val="B23B3B"/>
                          </a:solidFill>
                          <a:latin typeface="Calibri" pitchFamily="34" charset="0"/>
                          <a:ea typeface="Calibri" pitchFamily="34" charset="-122"/>
                          <a:cs typeface="Calibri" pitchFamily="34" charset="-120"/>
                        </a:rPr>
                        <a:t>−2.17</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600" b="1" dirty="0">
                          <a:solidFill>
                            <a:srgbClr val="1A1A2E"/>
                          </a:solidFill>
                          <a:latin typeface="Calibri" pitchFamily="34" charset="0"/>
                          <a:ea typeface="Calibri" pitchFamily="34" charset="-122"/>
                          <a:cs typeface="Calibri" pitchFamily="34" charset="-120"/>
                        </a:rPr>
                        <a:t>Two-way estimate</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buNone/>
                      </a:pP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buNone/>
                      </a:pP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600" b="1" dirty="0">
                          <a:solidFill>
                            <a:srgbClr val="2E7D32"/>
                          </a:solidFill>
                          <a:latin typeface="Calibri" pitchFamily="34" charset="0"/>
                          <a:ea typeface="Calibri" pitchFamily="34" charset="-122"/>
                          <a:cs typeface="Calibri" pitchFamily="34" charset="-120"/>
                        </a:rPr>
                        <a:t>+2.75</a:t>
                      </a:r>
                      <a:endParaRPr lang="en-US" sz="16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12"/>
          <p:cNvSpPr txBox="1"/>
          <p:nvPr/>
        </p:nvSpPr>
        <p:spPr>
          <a:xfrm>
            <a:off x="548640" y="4343400"/>
            <a:ext cx="6035040" cy="1463040"/>
          </a:xfrm>
          <a:prstGeom prst="rect">
            <a:avLst/>
          </a:prstGeom>
          <a:noFill/>
          <a:ln/>
        </p:spPr>
        <p:txBody>
          <a:bodyPr wrap="square" lIns="0" tIns="0" rIns="0" bIns="0" rtlCol="0" anchor="t"/>
          <a:lstStyle/>
          <a:p>
            <a:pPr marL="0" indent="0">
              <a:buNone/>
            </a:pPr>
            <a:r>
              <a:rPr lang="en-US" sz="1600" dirty="0">
                <a:solidFill>
                  <a:schemeClr val="tx1"/>
                </a:solidFill>
              </a:rPr>
              <a:t>The November year effect is learned from the state without the law: Pennsylvania's −2.17.</a:t>
            </a:r>
            <a:endParaRPr lang="en-US" sz="1600" dirty="0"/>
          </a:p>
          <a:p>
            <a:pPr marL="0" indent="0">
              <a:buNone/>
            </a:pPr>
            <a:r>
              <a:rPr lang="en-US" sz="800" dirty="0">
                <a:solidFill>
                  <a:schemeClr val="tx1"/>
                </a:solidFill>
              </a:rPr>
              <a:t> </a:t>
            </a:r>
            <a:endParaRPr lang="en-US" sz="1600" dirty="0"/>
          </a:p>
          <a:p>
            <a:pPr marL="0" indent="0">
              <a:buNone/>
            </a:pPr>
            <a:r>
              <a:rPr lang="en-US" sz="1600" b="1" dirty="0">
                <a:solidFill>
                  <a:schemeClr val="tx2"/>
                </a:solidFill>
              </a:rPr>
              <a:t>Two-way FE removes it from New Jersey's change: +0.59 − (−2.17) = +2.75.</a:t>
            </a:r>
            <a:endParaRPr lang="en-US" sz="1600" dirty="0"/>
          </a:p>
        </p:txBody>
      </p:sp>
      <p:sp>
        <p:nvSpPr>
          <p:cNvPr id="6" name="card-13"/>
          <p:cNvSpPr/>
          <p:nvPr/>
        </p:nvSpPr>
        <p:spPr>
          <a:xfrm>
            <a:off x="6949440" y="1600200"/>
            <a:ext cx="4663440" cy="4206240"/>
          </a:xfrm>
          <a:prstGeom prst="rect">
            <a:avLst/>
          </a:prstGeom>
          <a:solidFill>
            <a:schemeClr val="tx2"/>
          </a:solidFill>
          <a:ln/>
        </p:spPr>
        <p:txBody>
          <a:bodyPr/>
          <a:lstStyle/>
          <a:p>
            <a:endParaRPr lang="en-US"/>
          </a:p>
        </p:txBody>
      </p:sp>
      <p:sp>
        <p:nvSpPr>
          <p:cNvPr id="7" name="text-14"/>
          <p:cNvSpPr txBox="1"/>
          <p:nvPr/>
        </p:nvSpPr>
        <p:spPr>
          <a:xfrm>
            <a:off x="7269480" y="1783080"/>
            <a:ext cx="4160520" cy="3931920"/>
          </a:xfrm>
          <a:prstGeom prst="rect">
            <a:avLst/>
          </a:prstGeom>
          <a:noFill/>
          <a:ln/>
        </p:spPr>
        <p:txBody>
          <a:bodyPr wrap="square" lIns="0" tIns="0" rIns="0" bIns="0" rtlCol="0" anchor="t"/>
          <a:lstStyle/>
          <a:p>
            <a:pPr marL="0" indent="0">
              <a:buNone/>
            </a:pPr>
            <a:r>
              <a:rPr lang="en-US" sz="1900" b="1" dirty="0">
                <a:solidFill>
                  <a:schemeClr val="bg1"/>
                </a:solidFill>
                <a:latin typeface="Cambria" pitchFamily="34" charset="0"/>
                <a:ea typeface="Cambria" pitchFamily="34" charset="-122"/>
                <a:cs typeface="Cambria" pitchFamily="34" charset="-120"/>
              </a:rPr>
              <a:t>The punchline</a:t>
            </a:r>
            <a:endParaRPr lang="en-US" sz="1600" dirty="0"/>
          </a:p>
          <a:p>
            <a:pPr marL="0" indent="0">
              <a:buNone/>
            </a:pPr>
            <a:r>
              <a:rPr lang="en-US" sz="800" dirty="0">
                <a:solidFill>
                  <a:schemeClr val="accent4"/>
                </a:solidFill>
              </a:rPr>
              <a:t> </a:t>
            </a:r>
            <a:endParaRPr lang="en-US" sz="1600" dirty="0"/>
          </a:p>
          <a:p>
            <a:pPr marL="342900" indent="-342900">
              <a:buSzPct val="100000"/>
              <a:buChar char="•"/>
            </a:pPr>
            <a:r>
              <a:rPr lang="en-US" sz="1600" dirty="0">
                <a:solidFill>
                  <a:schemeClr val="accent4"/>
                </a:solidFill>
              </a:rPr>
              <a:t>State dummies remove the stable gap between states.</a:t>
            </a:r>
            <a:endParaRPr lang="en-US" sz="1600" dirty="0"/>
          </a:p>
          <a:p>
            <a:pPr marL="342900" indent="-342900">
              <a:buSzPct val="100000"/>
              <a:buChar char="•"/>
            </a:pPr>
            <a:r>
              <a:rPr lang="en-US" sz="1600" dirty="0">
                <a:solidFill>
                  <a:schemeClr val="accent4"/>
                </a:solidFill>
              </a:rPr>
              <a:t>Year dummies remove the shock that hit both states.</a:t>
            </a:r>
            <a:endParaRPr lang="en-US" sz="1600" dirty="0"/>
          </a:p>
          <a:p>
            <a:pPr marL="0" indent="0">
              <a:buNone/>
            </a:pPr>
            <a:r>
              <a:rPr lang="en-US" sz="800" dirty="0">
                <a:solidFill>
                  <a:schemeClr val="accent4"/>
                </a:solidFill>
              </a:rPr>
              <a:t> </a:t>
            </a:r>
            <a:endParaRPr lang="en-US" sz="1600" dirty="0"/>
          </a:p>
          <a:p>
            <a:pPr marL="0" indent="0">
              <a:buNone/>
            </a:pPr>
            <a:r>
              <a:rPr lang="en-US" sz="1600" b="1" dirty="0">
                <a:solidFill>
                  <a:schemeClr val="bg1"/>
                </a:solidFill>
              </a:rPr>
              <a:t>Two-way fixed effects with a treatment dummy IS difference-in-differences.</a:t>
            </a:r>
            <a:endParaRPr lang="en-US" sz="1600" dirty="0"/>
          </a:p>
          <a:p>
            <a:pPr marL="0" indent="0">
              <a:buNone/>
            </a:pPr>
            <a:r>
              <a:rPr lang="en-US" sz="800" dirty="0">
                <a:solidFill>
                  <a:schemeClr val="accent4"/>
                </a:solidFill>
              </a:rPr>
              <a:t> </a:t>
            </a:r>
            <a:endParaRPr lang="en-US" sz="1600" dirty="0"/>
          </a:p>
          <a:p>
            <a:pPr marL="0" indent="0">
              <a:buNone/>
            </a:pPr>
            <a:r>
              <a:rPr lang="en-US" sz="1600" i="1" dirty="0">
                <a:solidFill>
                  <a:schemeClr val="accent4"/>
                </a:solidFill>
              </a:rPr>
              <a:t>It works only if Pennsylvania's −2.17 is what New Jersey would have done without the law.</a:t>
            </a:r>
            <a:endParaRPr lang="en-US" sz="1600" dirty="0"/>
          </a:p>
        </p:txBody>
      </p:sp>
      <p:sp>
        <p:nvSpPr>
          <p:cNvPr id="8" name="text-15"/>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feols(fte ~ nj:post | store + wave) in Lab 7 gives 2.75: same number.</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THE EFFECT 18.1.1</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Two comparisons, each removing one problem</a:t>
            </a:r>
            <a:endParaRPr lang="en-US" sz="2800" dirty="0"/>
          </a:p>
        </p:txBody>
      </p:sp>
      <p:sp>
        <p:nvSpPr>
          <p:cNvPr id="4" name="card-16"/>
          <p:cNvSpPr/>
          <p:nvPr/>
        </p:nvSpPr>
        <p:spPr>
          <a:xfrm>
            <a:off x="548640" y="1554480"/>
            <a:ext cx="3520440" cy="4206240"/>
          </a:xfrm>
          <a:prstGeom prst="rect">
            <a:avLst/>
          </a:prstGeom>
          <a:solidFill>
            <a:schemeClr val="bg2"/>
          </a:solidFill>
          <a:ln/>
        </p:spPr>
        <p:txBody>
          <a:bodyPr/>
          <a:lstStyle/>
          <a:p>
            <a:endParaRPr lang="en-US"/>
          </a:p>
        </p:txBody>
      </p:sp>
      <p:sp>
        <p:nvSpPr>
          <p:cNvPr id="5" name="num-17"/>
          <p:cNvSpPr/>
          <p:nvPr/>
        </p:nvSpPr>
        <p:spPr>
          <a:xfrm>
            <a:off x="822960" y="1783080"/>
            <a:ext cx="384048" cy="384048"/>
          </a:xfrm>
          <a:prstGeom prst="ellipse">
            <a:avLst/>
          </a:prstGeom>
          <a:solidFill>
            <a:schemeClr val="tx2"/>
          </a:solidFill>
          <a:ln/>
        </p:spPr>
        <p:txBody>
          <a:bodyPr/>
          <a:lstStyle/>
          <a:p>
            <a:endParaRPr lang="en-US"/>
          </a:p>
        </p:txBody>
      </p:sp>
      <p:sp>
        <p:nvSpPr>
          <p:cNvPr id="6" name="numtxt-18"/>
          <p:cNvSpPr txBox="1"/>
          <p:nvPr/>
        </p:nvSpPr>
        <p:spPr>
          <a:xfrm>
            <a:off x="822960" y="178308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19"/>
          <p:cNvSpPr txBox="1"/>
          <p:nvPr/>
        </p:nvSpPr>
        <p:spPr>
          <a:xfrm>
            <a:off x="822960" y="2331720"/>
            <a:ext cx="3017520" cy="8229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Within each group, before vs. after</a:t>
            </a:r>
            <a:endParaRPr lang="en-US" sz="1800" dirty="0"/>
          </a:p>
        </p:txBody>
      </p:sp>
      <p:sp>
        <p:nvSpPr>
          <p:cNvPr id="8" name="text-20"/>
          <p:cNvSpPr txBox="1"/>
          <p:nvPr/>
        </p:nvSpPr>
        <p:spPr>
          <a:xfrm>
            <a:off x="822960" y="3200400"/>
            <a:ext cx="3017520" cy="1188720"/>
          </a:xfrm>
          <a:prstGeom prst="rect">
            <a:avLst/>
          </a:prstGeom>
          <a:noFill/>
          <a:ln/>
        </p:spPr>
        <p:txBody>
          <a:bodyPr wrap="square" lIns="0" tIns="0" rIns="0" bIns="0" rtlCol="0" anchor="t"/>
          <a:lstStyle/>
          <a:p>
            <a:pPr marL="0" indent="0">
              <a:buNone/>
            </a:pPr>
            <a:r>
              <a:rPr lang="en-US" sz="1500" dirty="0">
                <a:solidFill>
                  <a:schemeClr val="tx1"/>
                </a:solidFill>
              </a:rPr>
              <a:t>Compare a group with itself. Removes everything fixed about that group, like Week 7's unit fixed effects.</a:t>
            </a:r>
            <a:endParaRPr lang="en-US" sz="1500" dirty="0"/>
          </a:p>
        </p:txBody>
      </p:sp>
      <p:sp>
        <p:nvSpPr>
          <p:cNvPr id="9" name="text-21"/>
          <p:cNvSpPr txBox="1"/>
          <p:nvPr/>
        </p:nvSpPr>
        <p:spPr>
          <a:xfrm>
            <a:off x="822960" y="4480560"/>
            <a:ext cx="3017520" cy="1097280"/>
          </a:xfrm>
          <a:prstGeom prst="rect">
            <a:avLst/>
          </a:prstGeom>
          <a:noFill/>
          <a:ln/>
        </p:spPr>
        <p:txBody>
          <a:bodyPr wrap="square" lIns="0" tIns="0" rIns="0" bIns="0" rtlCol="0" anchor="t"/>
          <a:lstStyle/>
          <a:p>
            <a:pPr marL="0" indent="0">
              <a:buNone/>
            </a:pPr>
            <a:r>
              <a:rPr lang="en-US" sz="1400" i="1" dirty="0">
                <a:solidFill>
                  <a:schemeClr val="accent5"/>
                </a:solidFill>
              </a:rPr>
              <a:t>But: the change also includes whatever else happened over time.</a:t>
            </a:r>
            <a:endParaRPr lang="en-US" sz="1400" dirty="0"/>
          </a:p>
        </p:txBody>
      </p:sp>
      <p:sp>
        <p:nvSpPr>
          <p:cNvPr id="10" name="card-22"/>
          <p:cNvSpPr/>
          <p:nvPr/>
        </p:nvSpPr>
        <p:spPr>
          <a:xfrm>
            <a:off x="4297680" y="1554480"/>
            <a:ext cx="3520440" cy="4206240"/>
          </a:xfrm>
          <a:prstGeom prst="rect">
            <a:avLst/>
          </a:prstGeom>
          <a:solidFill>
            <a:schemeClr val="bg2"/>
          </a:solidFill>
          <a:ln/>
        </p:spPr>
        <p:txBody>
          <a:bodyPr/>
          <a:lstStyle/>
          <a:p>
            <a:endParaRPr lang="en-US"/>
          </a:p>
        </p:txBody>
      </p:sp>
      <p:sp>
        <p:nvSpPr>
          <p:cNvPr id="11" name="num-23"/>
          <p:cNvSpPr/>
          <p:nvPr/>
        </p:nvSpPr>
        <p:spPr>
          <a:xfrm>
            <a:off x="4572000" y="1783080"/>
            <a:ext cx="384048" cy="384048"/>
          </a:xfrm>
          <a:prstGeom prst="ellipse">
            <a:avLst/>
          </a:prstGeom>
          <a:solidFill>
            <a:schemeClr val="tx2"/>
          </a:solidFill>
          <a:ln/>
        </p:spPr>
        <p:txBody>
          <a:bodyPr/>
          <a:lstStyle/>
          <a:p>
            <a:endParaRPr lang="en-US"/>
          </a:p>
        </p:txBody>
      </p:sp>
      <p:sp>
        <p:nvSpPr>
          <p:cNvPr id="12" name="numtxt-24"/>
          <p:cNvSpPr txBox="1"/>
          <p:nvPr/>
        </p:nvSpPr>
        <p:spPr>
          <a:xfrm>
            <a:off x="4572000" y="178308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25"/>
          <p:cNvSpPr txBox="1"/>
          <p:nvPr/>
        </p:nvSpPr>
        <p:spPr>
          <a:xfrm>
            <a:off x="4572000" y="2331720"/>
            <a:ext cx="3017520" cy="8229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Across groups, compare those changes</a:t>
            </a:r>
            <a:endParaRPr lang="en-US" sz="1800" dirty="0"/>
          </a:p>
        </p:txBody>
      </p:sp>
      <p:sp>
        <p:nvSpPr>
          <p:cNvPr id="14" name="text-26"/>
          <p:cNvSpPr txBox="1"/>
          <p:nvPr/>
        </p:nvSpPr>
        <p:spPr>
          <a:xfrm>
            <a:off x="4572000" y="3200400"/>
            <a:ext cx="3017520" cy="1188720"/>
          </a:xfrm>
          <a:prstGeom prst="rect">
            <a:avLst/>
          </a:prstGeom>
          <a:noFill/>
          <a:ln/>
        </p:spPr>
        <p:txBody>
          <a:bodyPr wrap="square" lIns="0" tIns="0" rIns="0" bIns="0" rtlCol="0" anchor="t"/>
          <a:lstStyle/>
          <a:p>
            <a:pPr marL="0" indent="0">
              <a:buNone/>
            </a:pPr>
            <a:r>
              <a:rPr lang="en-US" sz="1500" dirty="0">
                <a:solidFill>
                  <a:schemeClr val="tx1"/>
                </a:solidFill>
              </a:rPr>
              <a:t>The untreated group's change shows what 'whatever else happened' looks like.</a:t>
            </a:r>
            <a:endParaRPr lang="en-US" sz="1500" dirty="0"/>
          </a:p>
        </p:txBody>
      </p:sp>
      <p:sp>
        <p:nvSpPr>
          <p:cNvPr id="15" name="text-27"/>
          <p:cNvSpPr txBox="1"/>
          <p:nvPr/>
        </p:nvSpPr>
        <p:spPr>
          <a:xfrm>
            <a:off x="4572000" y="4480560"/>
            <a:ext cx="3017520" cy="1097280"/>
          </a:xfrm>
          <a:prstGeom prst="rect">
            <a:avLst/>
          </a:prstGeom>
          <a:noFill/>
          <a:ln/>
        </p:spPr>
        <p:txBody>
          <a:bodyPr wrap="square" lIns="0" tIns="0" rIns="0" bIns="0" rtlCol="0" anchor="t"/>
          <a:lstStyle/>
          <a:p>
            <a:pPr marL="0" indent="0">
              <a:buNone/>
            </a:pPr>
            <a:r>
              <a:rPr lang="en-US" sz="1400" i="1" dirty="0">
                <a:solidFill>
                  <a:schemeClr val="accent5"/>
                </a:solidFill>
              </a:rPr>
              <a:t>Subtract it from the treated group's change.</a:t>
            </a:r>
            <a:endParaRPr lang="en-US" sz="1400" dirty="0"/>
          </a:p>
        </p:txBody>
      </p:sp>
      <p:sp>
        <p:nvSpPr>
          <p:cNvPr id="16" name="card-28"/>
          <p:cNvSpPr/>
          <p:nvPr/>
        </p:nvSpPr>
        <p:spPr>
          <a:xfrm>
            <a:off x="8046720" y="1554480"/>
            <a:ext cx="3520440" cy="4206240"/>
          </a:xfrm>
          <a:prstGeom prst="rect">
            <a:avLst/>
          </a:prstGeom>
          <a:solidFill>
            <a:schemeClr val="tx2"/>
          </a:solidFill>
          <a:ln/>
        </p:spPr>
        <p:txBody>
          <a:bodyPr/>
          <a:lstStyle/>
          <a:p>
            <a:endParaRPr lang="en-US"/>
          </a:p>
        </p:txBody>
      </p:sp>
      <p:sp>
        <p:nvSpPr>
          <p:cNvPr id="17" name="num-29"/>
          <p:cNvSpPr/>
          <p:nvPr/>
        </p:nvSpPr>
        <p:spPr>
          <a:xfrm>
            <a:off x="8321040" y="1783080"/>
            <a:ext cx="384048" cy="384048"/>
          </a:xfrm>
          <a:prstGeom prst="ellipse">
            <a:avLst/>
          </a:prstGeom>
          <a:solidFill>
            <a:schemeClr val="accent1"/>
          </a:solidFill>
          <a:ln/>
        </p:spPr>
        <p:txBody>
          <a:bodyPr/>
          <a:lstStyle/>
          <a:p>
            <a:endParaRPr lang="en-US"/>
          </a:p>
        </p:txBody>
      </p:sp>
      <p:sp>
        <p:nvSpPr>
          <p:cNvPr id="18" name="numtxt-30"/>
          <p:cNvSpPr txBox="1"/>
          <p:nvPr/>
        </p:nvSpPr>
        <p:spPr>
          <a:xfrm>
            <a:off x="8321040" y="178308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9" name="text-31"/>
          <p:cNvSpPr txBox="1"/>
          <p:nvPr/>
        </p:nvSpPr>
        <p:spPr>
          <a:xfrm>
            <a:off x="8321040" y="2331720"/>
            <a:ext cx="3017520" cy="82296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What's left is the effect</a:t>
            </a:r>
            <a:endParaRPr lang="en-US" sz="1800" dirty="0"/>
          </a:p>
        </p:txBody>
      </p:sp>
      <p:sp>
        <p:nvSpPr>
          <p:cNvPr id="20" name="text-32"/>
          <p:cNvSpPr txBox="1"/>
          <p:nvPr/>
        </p:nvSpPr>
        <p:spPr>
          <a:xfrm>
            <a:off x="8321040" y="3200400"/>
            <a:ext cx="3017520" cy="1188720"/>
          </a:xfrm>
          <a:prstGeom prst="rect">
            <a:avLst/>
          </a:prstGeom>
          <a:noFill/>
          <a:ln/>
        </p:spPr>
        <p:txBody>
          <a:bodyPr wrap="square" lIns="0" tIns="0" rIns="0" bIns="0" rtlCol="0" anchor="t"/>
          <a:lstStyle/>
          <a:p>
            <a:pPr marL="0" indent="0">
              <a:buNone/>
            </a:pPr>
            <a:r>
              <a:rPr lang="en-US" sz="1500" dirty="0">
                <a:solidFill>
                  <a:schemeClr val="accent4"/>
                </a:solidFill>
              </a:rPr>
              <a:t>DiD = (change in treated) − (change in untreated)</a:t>
            </a:r>
            <a:endParaRPr lang="en-US" sz="1500" dirty="0"/>
          </a:p>
        </p:txBody>
      </p:sp>
      <p:sp>
        <p:nvSpPr>
          <p:cNvPr id="21" name="text-33"/>
          <p:cNvSpPr txBox="1"/>
          <p:nvPr/>
        </p:nvSpPr>
        <p:spPr>
          <a:xfrm>
            <a:off x="8321040" y="4480560"/>
            <a:ext cx="3017520" cy="1097280"/>
          </a:xfrm>
          <a:prstGeom prst="rect">
            <a:avLst/>
          </a:prstGeom>
          <a:noFill/>
          <a:ln/>
        </p:spPr>
        <p:txBody>
          <a:bodyPr wrap="square" lIns="0" tIns="0" rIns="0" bIns="0" rtlCol="0" anchor="t"/>
          <a:lstStyle/>
          <a:p>
            <a:pPr marL="0" indent="0">
              <a:buNone/>
            </a:pPr>
            <a:r>
              <a:rPr lang="en-US" sz="1400" i="1" dirty="0">
                <a:solidFill>
                  <a:schemeClr val="bg1"/>
                </a:solidFill>
              </a:rPr>
              <a:t>Valid only if the untreated group's change is the right stand-in. That is parallel trends.</a:t>
            </a:r>
            <a:endParaRPr lang="en-US" sz="1400" dirty="0"/>
          </a:p>
        </p:txBody>
      </p:sp>
      <p:sp>
        <p:nvSpPr>
          <p:cNvPr id="22" name="text-34"/>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Huntington-Klein, The Effect, ch. 18.1: "across-within" variation.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THE EFFECT 18.1.2: DIRTY WATER</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John Snow, 1854: the first difference-in-differences</a:t>
            </a:r>
            <a:endParaRPr lang="en-US" sz="2800" dirty="0"/>
          </a:p>
        </p:txBody>
      </p:sp>
      <p:graphicFrame>
        <p:nvGraphicFramePr>
          <p:cNvPr id="7" name="snow-table"/>
          <p:cNvGraphicFramePr>
            <a:graphicFrameLocks noGrp="1"/>
          </p:cNvGraphicFramePr>
          <p:nvPr>
            <p:extLst>
              <p:ext uri="{D42A27DB-BD31-4B8C-83A1-F6EECF244321}">
                <p14:modId xmlns:p14="http://schemas.microsoft.com/office/powerpoint/2010/main" val="1579011935"/>
              </p:ext>
            </p:extLst>
          </p:nvPr>
        </p:nvGraphicFramePr>
        <p:xfrm>
          <a:off x="548640" y="1600200"/>
          <a:ext cx="6949440" cy="2267712"/>
        </p:xfrm>
        <a:graphic>
          <a:graphicData uri="http://schemas.openxmlformats.org/drawingml/2006/table">
            <a:tbl>
              <a:tblPr/>
              <a:tblGrid>
                <a:gridCol w="35661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669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Cholera death rate</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1849</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1854</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Change</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extLst>
                  <a:ext uri="{0D108BD9-81ED-4DB2-BD59-A6C34878D82A}">
                    <a16:rowId xmlns:a16="http://schemas.microsoft.com/office/drawing/2014/main" val="10000"/>
                  </a:ext>
                </a:extLst>
              </a:tr>
              <a:tr h="566928">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Lambeth customers (switched to clean water)</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dirty="0">
                          <a:solidFill>
                            <a:srgbClr val="1A1A2E"/>
                          </a:solidFill>
                          <a:latin typeface="Calibri" pitchFamily="34" charset="0"/>
                          <a:ea typeface="Calibri" pitchFamily="34" charset="-122"/>
                          <a:cs typeface="Calibri" pitchFamily="34" charset="-120"/>
                        </a:rPr>
                        <a:t>130.1</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dirty="0">
                          <a:solidFill>
                            <a:srgbClr val="1A1A2E"/>
                          </a:solidFill>
                          <a:latin typeface="Calibri" pitchFamily="34" charset="0"/>
                          <a:ea typeface="Calibri" pitchFamily="34" charset="-122"/>
                          <a:cs typeface="Calibri" pitchFamily="34" charset="-120"/>
                        </a:rPr>
                        <a:t>84.9</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b="1" dirty="0">
                          <a:solidFill>
                            <a:srgbClr val="1A1A2E"/>
                          </a:solidFill>
                          <a:latin typeface="Calibri" pitchFamily="34" charset="0"/>
                          <a:ea typeface="Calibri" pitchFamily="34" charset="-122"/>
                          <a:cs typeface="Calibri" pitchFamily="34" charset="-120"/>
                        </a:rPr>
                        <a:t>−45.2</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500" dirty="0">
                          <a:solidFill>
                            <a:srgbClr val="1A1A2E"/>
                          </a:solidFill>
                          <a:latin typeface="Calibri" pitchFamily="34" charset="0"/>
                          <a:ea typeface="Calibri" pitchFamily="34" charset="-122"/>
                          <a:cs typeface="Calibri" pitchFamily="34" charset="-120"/>
                        </a:rPr>
                        <a:t>Other companies (still dirty water)</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dirty="0">
                          <a:solidFill>
                            <a:srgbClr val="1A1A2E"/>
                          </a:solidFill>
                          <a:latin typeface="Calibri" pitchFamily="34" charset="0"/>
                          <a:ea typeface="Calibri" pitchFamily="34" charset="-122"/>
                          <a:cs typeface="Calibri" pitchFamily="34" charset="-120"/>
                        </a:rPr>
                        <a:t>134.9</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dirty="0">
                          <a:solidFill>
                            <a:srgbClr val="1A1A2E"/>
                          </a:solidFill>
                          <a:latin typeface="Calibri" pitchFamily="34" charset="0"/>
                          <a:ea typeface="Calibri" pitchFamily="34" charset="-122"/>
                          <a:cs typeface="Calibri" pitchFamily="34" charset="-120"/>
                        </a:rPr>
                        <a:t>146.6</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b="1" dirty="0">
                          <a:solidFill>
                            <a:srgbClr val="1A1A2E"/>
                          </a:solidFill>
                          <a:latin typeface="Calibri" pitchFamily="34" charset="0"/>
                          <a:ea typeface="Calibri" pitchFamily="34" charset="-122"/>
                          <a:cs typeface="Calibri" pitchFamily="34" charset="-120"/>
                        </a:rPr>
                        <a:t>+11.7</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A1A2E"/>
                          </a:solidFill>
                          <a:latin typeface="Calibri" pitchFamily="34" charset="0"/>
                          <a:ea typeface="Calibri" pitchFamily="34" charset="-122"/>
                          <a:cs typeface="Calibri" pitchFamily="34" charset="-120"/>
                        </a:rPr>
                        <a:t>Difference-in-differences</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buNone/>
                      </a:pP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buNone/>
                      </a:pP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b="1" dirty="0">
                          <a:solidFill>
                            <a:srgbClr val="B23B3B"/>
                          </a:solidFill>
                          <a:latin typeface="Calibri" pitchFamily="34" charset="0"/>
                          <a:ea typeface="Calibri" pitchFamily="34" charset="-122"/>
                          <a:cs typeface="Calibri" pitchFamily="34" charset="-120"/>
                        </a:rPr>
                        <a:t>−56.9</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card-35"/>
          <p:cNvSpPr/>
          <p:nvPr/>
        </p:nvSpPr>
        <p:spPr>
          <a:xfrm>
            <a:off x="7863840" y="1600200"/>
            <a:ext cx="3749040" cy="4206240"/>
          </a:xfrm>
          <a:prstGeom prst="rect">
            <a:avLst/>
          </a:prstGeom>
          <a:solidFill>
            <a:schemeClr val="bg2"/>
          </a:solidFill>
          <a:ln/>
        </p:spPr>
        <p:txBody>
          <a:bodyPr/>
          <a:lstStyle/>
          <a:p>
            <a:endParaRPr lang="en-US"/>
          </a:p>
        </p:txBody>
      </p:sp>
      <p:sp>
        <p:nvSpPr>
          <p:cNvPr id="6" name="text-36"/>
          <p:cNvSpPr txBox="1"/>
          <p:nvPr/>
        </p:nvSpPr>
        <p:spPr>
          <a:xfrm>
            <a:off x="8092440" y="1783080"/>
            <a:ext cx="3291840" cy="3840480"/>
          </a:xfrm>
          <a:prstGeom prst="rect">
            <a:avLst/>
          </a:prstGeom>
          <a:noFill/>
          <a:ln/>
        </p:spPr>
        <p:txBody>
          <a:bodyPr wrap="square" lIns="0" tIns="0" rIns="0" bIns="0" rtlCol="0" anchor="t"/>
          <a:lstStyle/>
          <a:p>
            <a:pPr marL="0" indent="0">
              <a:buNone/>
            </a:pPr>
            <a:r>
              <a:rPr lang="en-US" sz="1400" b="1" dirty="0">
                <a:solidFill>
                  <a:schemeClr val="tx2"/>
                </a:solidFill>
              </a:rPr>
              <a:t>What happened</a:t>
            </a:r>
            <a:endParaRPr lang="en-US" sz="1400" dirty="0"/>
          </a:p>
          <a:p>
            <a:pPr marL="0" indent="0">
              <a:buNone/>
            </a:pPr>
            <a:r>
              <a:rPr lang="en-US" sz="600" dirty="0">
                <a:solidFill>
                  <a:schemeClr val="tx1"/>
                </a:solidFill>
              </a:rPr>
              <a:t> </a:t>
            </a:r>
            <a:endParaRPr lang="en-US" sz="1400" dirty="0"/>
          </a:p>
          <a:p>
            <a:pPr marL="0" indent="0">
              <a:buNone/>
            </a:pPr>
            <a:r>
              <a:rPr lang="en-US" sz="1400" dirty="0">
                <a:solidFill>
                  <a:schemeClr val="tx1"/>
                </a:solidFill>
              </a:rPr>
              <a:t>Between the two epidemics, the Lambeth company moved its water intake upstream, above London's sewage.</a:t>
            </a:r>
            <a:endParaRPr lang="en-US" sz="1400" dirty="0"/>
          </a:p>
          <a:p>
            <a:pPr marL="0" indent="0">
              <a:buNone/>
            </a:pPr>
            <a:r>
              <a:rPr lang="en-US" sz="600" dirty="0">
                <a:solidFill>
                  <a:schemeClr val="tx1"/>
                </a:solidFill>
              </a:rPr>
              <a:t> </a:t>
            </a:r>
            <a:endParaRPr lang="en-US" sz="1400" dirty="0"/>
          </a:p>
          <a:p>
            <a:pPr marL="0" indent="0">
              <a:buNone/>
            </a:pPr>
            <a:r>
              <a:rPr lang="en-US" sz="1400" dirty="0">
                <a:solidFill>
                  <a:schemeClr val="tx1"/>
                </a:solidFill>
              </a:rPr>
              <a:t>Deaths fell among Lambeth's customers and rose elsewhere. Snow credits clean water with the gap between the two changes, not with the whole drop.</a:t>
            </a:r>
            <a:endParaRPr lang="en-US" sz="1400" dirty="0"/>
          </a:p>
          <a:p>
            <a:pPr marL="0" indent="0">
              <a:buNone/>
            </a:pPr>
            <a:r>
              <a:rPr lang="en-US" sz="600" dirty="0">
                <a:solidFill>
                  <a:schemeClr val="tx1"/>
                </a:solidFill>
              </a:rPr>
              <a:t> </a:t>
            </a:r>
            <a:endParaRPr lang="en-US" sz="1400" dirty="0"/>
          </a:p>
          <a:p>
            <a:pPr marL="0" indent="0">
              <a:buNone/>
            </a:pPr>
            <a:r>
              <a:rPr lang="en-US" sz="1400" b="1" dirty="0">
                <a:solidFill>
                  <a:schemeClr val="accent3"/>
                </a:solidFill>
              </a:rPr>
              <a:t>The assumption: without the switch, Lambeth would have risen like everyone else.</a:t>
            </a:r>
            <a:endParaRPr lang="en-US" sz="1400" dirty="0"/>
          </a:p>
        </p:txBody>
      </p:sp>
      <p:sp>
        <p:nvSpPr>
          <p:cNvPr id="4" name="text-37"/>
          <p:cNvSpPr txBox="1"/>
          <p:nvPr/>
        </p:nvSpPr>
        <p:spPr>
          <a:xfrm>
            <a:off x="548640" y="4114800"/>
            <a:ext cx="6949440" cy="822960"/>
          </a:xfrm>
          <a:prstGeom prst="rect">
            <a:avLst/>
          </a:prstGeom>
          <a:noFill/>
          <a:ln/>
        </p:spPr>
        <p:txBody>
          <a:bodyPr wrap="square" lIns="0" tIns="0" rIns="0" bIns="0" rtlCol="0" anchor="t"/>
          <a:lstStyle/>
          <a:p>
            <a:pPr marL="0" indent="0">
              <a:buNone/>
            </a:pPr>
            <a:r>
              <a:rPr lang="en-US" sz="1500" dirty="0">
                <a:solidFill>
                  <a:schemeClr val="tx2"/>
                </a:solidFill>
              </a:rPr>
              <a:t>Lambeth's own drop (−45.2) understates the effect, because 1854 was a worse year for everyone (+11.7).</a:t>
            </a:r>
            <a:endParaRPr lang="en-US" sz="1500" dirty="0"/>
          </a:p>
        </p:txBody>
      </p:sp>
      <p:sp>
        <p:nvSpPr>
          <p:cNvPr id="8" name="text-38"/>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Data: snow (causaldata package), from Snow's comparison of London water companies; the example in The Effect, ch. 18.1.2.</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FOUR NUMBERS, TWO DIFFERENCES</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The 2 × 2 table and the regression that reproduces it</a:t>
            </a:r>
            <a:endParaRPr lang="en-US" sz="2800" dirty="0"/>
          </a:p>
        </p:txBody>
      </p:sp>
      <p:graphicFrame>
        <p:nvGraphicFramePr>
          <p:cNvPr id="8" name="grid-table"/>
          <p:cNvGraphicFramePr>
            <a:graphicFrameLocks noGrp="1"/>
          </p:cNvGraphicFramePr>
          <p:nvPr>
            <p:extLst>
              <p:ext uri="{D42A27DB-BD31-4B8C-83A1-F6EECF244321}">
                <p14:modId xmlns:p14="http://schemas.microsoft.com/office/powerpoint/2010/main" val="1579011935"/>
              </p:ext>
            </p:extLst>
          </p:nvPr>
        </p:nvGraphicFramePr>
        <p:xfrm>
          <a:off x="548640" y="1645920"/>
          <a:ext cx="5669280" cy="2057400"/>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685800">
                <a:tc>
                  <a:txBody>
                    <a:bodyPr/>
                    <a:lstStyle/>
                    <a:p>
                      <a:pPr marL="0" indent="0">
                        <a:buNone/>
                      </a:pPr>
                      <a:endParaRPr lang="en-US" sz="17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Before</a:t>
                      </a:r>
                      <a:endParaRPr lang="en-US" sz="17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After</a:t>
                      </a:r>
                      <a:endParaRPr lang="en-US" sz="17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extLst>
                  <a:ext uri="{0D108BD9-81ED-4DB2-BD59-A6C34878D82A}">
                    <a16:rowId xmlns:a16="http://schemas.microsoft.com/office/drawing/2014/main" val="10000"/>
                  </a:ext>
                </a:extLst>
              </a:tr>
              <a:tr h="685800">
                <a:tc>
                  <a:txBody>
                    <a:bodyPr/>
                    <a:lstStyle/>
                    <a:p>
                      <a:pPr marL="0" indent="0">
                        <a:buNone/>
                      </a:pPr>
                      <a:r>
                        <a:rPr lang="en-US" sz="1700" b="1" dirty="0">
                          <a:solidFill>
                            <a:srgbClr val="1A1A2E"/>
                          </a:solidFill>
                          <a:latin typeface="Calibri" pitchFamily="34" charset="0"/>
                          <a:ea typeface="Calibri" pitchFamily="34" charset="-122"/>
                          <a:cs typeface="Calibri" pitchFamily="34" charset="-120"/>
                        </a:rPr>
                        <a:t>Untreated</a:t>
                      </a:r>
                      <a:endParaRPr lang="en-US" sz="17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700" dirty="0">
                          <a:solidFill>
                            <a:srgbClr val="1A1A2E"/>
                          </a:solidFill>
                          <a:latin typeface="Calibri" pitchFamily="34" charset="0"/>
                          <a:ea typeface="Calibri" pitchFamily="34" charset="-122"/>
                          <a:cs typeface="Calibri" pitchFamily="34" charset="-120"/>
                        </a:rPr>
                        <a:t>b0</a:t>
                      </a:r>
                      <a:endParaRPr lang="en-US" sz="17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700" dirty="0">
                          <a:solidFill>
                            <a:srgbClr val="1A1A2E"/>
                          </a:solidFill>
                          <a:latin typeface="Calibri" pitchFamily="34" charset="0"/>
                          <a:ea typeface="Calibri" pitchFamily="34" charset="-122"/>
                          <a:cs typeface="Calibri" pitchFamily="34" charset="-120"/>
                        </a:rPr>
                        <a:t>b0 + b2</a:t>
                      </a:r>
                      <a:endParaRPr lang="en-US" sz="17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700" b="1" dirty="0">
                          <a:solidFill>
                            <a:srgbClr val="1A1A2E"/>
                          </a:solidFill>
                          <a:latin typeface="Calibri" pitchFamily="34" charset="0"/>
                          <a:ea typeface="Calibri" pitchFamily="34" charset="-122"/>
                          <a:cs typeface="Calibri" pitchFamily="34" charset="-120"/>
                        </a:rPr>
                        <a:t>Treated</a:t>
                      </a:r>
                      <a:endParaRPr lang="en-US" sz="17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700" dirty="0">
                          <a:solidFill>
                            <a:srgbClr val="1A1A2E"/>
                          </a:solidFill>
                          <a:latin typeface="Calibri" pitchFamily="34" charset="0"/>
                          <a:ea typeface="Calibri" pitchFamily="34" charset="-122"/>
                          <a:cs typeface="Calibri" pitchFamily="34" charset="-120"/>
                        </a:rPr>
                        <a:t>b0 + b1</a:t>
                      </a:r>
                      <a:endParaRPr lang="en-US" sz="17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700" b="1" dirty="0">
                          <a:solidFill>
                            <a:srgbClr val="B23B3B"/>
                          </a:solidFill>
                          <a:latin typeface="Calibri" pitchFamily="34" charset="0"/>
                          <a:ea typeface="Calibri" pitchFamily="34" charset="-122"/>
                          <a:cs typeface="Calibri" pitchFamily="34" charset="-120"/>
                        </a:rPr>
                        <a:t>b0 + b1 + b2 + b3</a:t>
                      </a:r>
                      <a:endParaRPr lang="en-US" sz="17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39"/>
          <p:cNvSpPr txBox="1"/>
          <p:nvPr/>
        </p:nvSpPr>
        <p:spPr>
          <a:xfrm>
            <a:off x="548640" y="3931920"/>
            <a:ext cx="6035040" cy="457200"/>
          </a:xfrm>
          <a:prstGeom prst="rect">
            <a:avLst/>
          </a:prstGeom>
          <a:noFill/>
          <a:ln/>
        </p:spPr>
        <p:txBody>
          <a:bodyPr wrap="square" lIns="0" tIns="0" rIns="0" bIns="0" rtlCol="0" anchor="t"/>
          <a:lstStyle/>
          <a:p>
            <a:pPr marL="0" indent="0">
              <a:buNone/>
            </a:pPr>
            <a:r>
              <a:rPr lang="en-US" sz="1600" dirty="0">
                <a:solidFill>
                  <a:schemeClr val="tx2"/>
                </a:solidFill>
                <a:latin typeface="Consolas" pitchFamily="34" charset="0"/>
                <a:ea typeface="Consolas" pitchFamily="34" charset="-122"/>
                <a:cs typeface="Consolas" pitchFamily="34" charset="-120"/>
              </a:rPr>
              <a:t>Y = b0 + b1·Treated + b2·After + b3·(Treated × After) + e</a:t>
            </a:r>
            <a:endParaRPr lang="en-US" sz="1600" dirty="0"/>
          </a:p>
        </p:txBody>
      </p:sp>
      <p:sp>
        <p:nvSpPr>
          <p:cNvPr id="6" name="text-40"/>
          <p:cNvSpPr txBox="1"/>
          <p:nvPr/>
        </p:nvSpPr>
        <p:spPr>
          <a:xfrm>
            <a:off x="548640" y="4526280"/>
            <a:ext cx="5852160" cy="731520"/>
          </a:xfrm>
          <a:prstGeom prst="rect">
            <a:avLst/>
          </a:prstGeom>
          <a:noFill/>
          <a:ln/>
        </p:spPr>
        <p:txBody>
          <a:bodyPr wrap="square" lIns="0" tIns="0" rIns="0" bIns="0" rtlCol="0" anchor="t"/>
          <a:lstStyle/>
          <a:p>
            <a:pPr marL="0" indent="0">
              <a:buNone/>
            </a:pPr>
            <a:r>
              <a:rPr lang="en-US" sz="1400" dirty="0">
                <a:solidFill>
                  <a:schemeClr val="tx1"/>
                </a:solidFill>
              </a:rPr>
              <a:t>(Treated after − Treated before) − (Untreated after − Untreated before) = (b2 + b3) − b2 = b3</a:t>
            </a:r>
            <a:endParaRPr lang="en-US" sz="1400" dirty="0"/>
          </a:p>
        </p:txBody>
      </p:sp>
      <p:sp>
        <p:nvSpPr>
          <p:cNvPr id="7" name="card-41"/>
          <p:cNvSpPr/>
          <p:nvPr/>
        </p:nvSpPr>
        <p:spPr>
          <a:xfrm>
            <a:off x="6675120" y="1645920"/>
            <a:ext cx="4937760" cy="4114800"/>
          </a:xfrm>
          <a:prstGeom prst="rect">
            <a:avLst/>
          </a:prstGeom>
          <a:solidFill>
            <a:schemeClr val="bg2"/>
          </a:solidFill>
          <a:ln/>
        </p:spPr>
        <p:txBody>
          <a:bodyPr/>
          <a:lstStyle/>
          <a:p>
            <a:endParaRPr lang="en-US"/>
          </a:p>
        </p:txBody>
      </p:sp>
      <p:sp>
        <p:nvSpPr>
          <p:cNvPr id="4" name="text-42"/>
          <p:cNvSpPr txBox="1"/>
          <p:nvPr/>
        </p:nvSpPr>
        <p:spPr>
          <a:xfrm>
            <a:off x="6949440" y="1828800"/>
            <a:ext cx="4480560" cy="3749040"/>
          </a:xfrm>
          <a:prstGeom prst="rect">
            <a:avLst/>
          </a:prstGeom>
          <a:noFill/>
          <a:ln/>
        </p:spPr>
        <p:txBody>
          <a:bodyPr wrap="square" lIns="0" tIns="0" rIns="0" bIns="0" rtlCol="0" anchor="t"/>
          <a:lstStyle/>
          <a:p>
            <a:pPr marL="0" indent="0">
              <a:spcAft>
                <a:spcPts val="600"/>
              </a:spcAft>
              <a:buNone/>
            </a:pPr>
            <a:r>
              <a:rPr lang="en-US" sz="1500" b="1" dirty="0">
                <a:solidFill>
                  <a:schemeClr val="tx2"/>
                </a:solidFill>
              </a:rPr>
              <a:t>Read each coefficient</a:t>
            </a:r>
            <a:endParaRPr lang="en-US" sz="1500" dirty="0"/>
          </a:p>
          <a:p>
            <a:pPr marL="0" indent="0">
              <a:spcAft>
                <a:spcPts val="600"/>
              </a:spcAft>
              <a:buNone/>
            </a:pPr>
            <a:r>
              <a:rPr lang="en-US" sz="600" dirty="0">
                <a:solidFill>
                  <a:schemeClr val="tx1"/>
                </a:solidFill>
              </a:rPr>
              <a:t> </a:t>
            </a:r>
            <a:endParaRPr lang="en-US" sz="1500" dirty="0"/>
          </a:p>
          <a:p>
            <a:pPr marL="0" indent="0">
              <a:spcAft>
                <a:spcPts val="600"/>
              </a:spcAft>
              <a:buNone/>
            </a:pPr>
            <a:r>
              <a:rPr lang="en-US" sz="1500" dirty="0">
                <a:solidFill>
                  <a:schemeClr val="tx1"/>
                </a:solidFill>
              </a:rPr>
              <a:t>b0  untreated group, before</a:t>
            </a:r>
            <a:endParaRPr lang="en-US" sz="1500" dirty="0"/>
          </a:p>
          <a:p>
            <a:pPr marL="0" indent="0">
              <a:spcAft>
                <a:spcPts val="600"/>
              </a:spcAft>
              <a:buNone/>
            </a:pPr>
            <a:r>
              <a:rPr lang="en-US" sz="1500" dirty="0">
                <a:solidFill>
                  <a:schemeClr val="tx1"/>
                </a:solidFill>
              </a:rPr>
              <a:t>b1  gap between groups before: allowed to be anything</a:t>
            </a:r>
            <a:endParaRPr lang="en-US" sz="1500" dirty="0"/>
          </a:p>
          <a:p>
            <a:pPr marL="0" indent="0">
              <a:spcAft>
                <a:spcPts val="600"/>
              </a:spcAft>
              <a:buNone/>
            </a:pPr>
            <a:r>
              <a:rPr lang="en-US" sz="1500" dirty="0">
                <a:solidFill>
                  <a:schemeClr val="tx1"/>
                </a:solidFill>
              </a:rPr>
              <a:t>b2  untreated group's change: the stand-in for 'what else happened'</a:t>
            </a:r>
            <a:endParaRPr lang="en-US" sz="1500" dirty="0"/>
          </a:p>
          <a:p>
            <a:pPr marL="0" indent="0">
              <a:spcAft>
                <a:spcPts val="600"/>
              </a:spcAft>
              <a:buNone/>
            </a:pPr>
            <a:r>
              <a:rPr lang="en-US" sz="1500" b="1" dirty="0">
                <a:solidFill>
                  <a:schemeClr val="accent3"/>
                </a:solidFill>
              </a:rPr>
              <a:t>b3  the difference-in-differences</a:t>
            </a:r>
            <a:endParaRPr lang="en-US" sz="1500" dirty="0"/>
          </a:p>
          <a:p>
            <a:pPr marL="0" indent="0">
              <a:spcAft>
                <a:spcPts val="600"/>
              </a:spcAft>
              <a:buNone/>
            </a:pPr>
            <a:r>
              <a:rPr lang="en-US" sz="800" dirty="0">
                <a:solidFill>
                  <a:schemeClr val="tx1"/>
                </a:solidFill>
              </a:rPr>
              <a:t> </a:t>
            </a:r>
            <a:endParaRPr lang="en-US" sz="1500" dirty="0"/>
          </a:p>
          <a:p>
            <a:pPr marL="0" indent="0">
              <a:spcAft>
                <a:spcPts val="600"/>
              </a:spcAft>
              <a:buNone/>
            </a:pPr>
            <a:r>
              <a:rPr lang="en-US" sz="1500" i="1" dirty="0">
                <a:solidFill>
                  <a:schemeClr val="accent5"/>
                </a:solidFill>
              </a:rPr>
              <a:t>With many groups and periods, Treated and After become group and time fixed effects: two-way fixed effects (The Effect 18.2.1).</a:t>
            </a:r>
            <a:endParaRPr lang="en-US" sz="1500" dirty="0"/>
          </a:p>
        </p:txBody>
      </p:sp>
      <p:sp>
        <p:nvSpPr>
          <p:cNvPr id="9" name="text-43"/>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In R: feols(y ~ treated * after, data, cluster = ~ group), or feols(y ~ treated:after | group + period, ...).</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THE EFFECT, CH. 18 AND BEYOND</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Difference-in-differences in the wild</a:t>
            </a:r>
            <a:endParaRPr lang="en-US" sz="2800" dirty="0"/>
          </a:p>
        </p:txBody>
      </p:sp>
      <p:sp>
        <p:nvSpPr>
          <p:cNvPr id="4" name="card-44"/>
          <p:cNvSpPr/>
          <p:nvPr/>
        </p:nvSpPr>
        <p:spPr>
          <a:xfrm>
            <a:off x="548640" y="1508760"/>
            <a:ext cx="3566160" cy="2057400"/>
          </a:xfrm>
          <a:prstGeom prst="rect">
            <a:avLst/>
          </a:prstGeom>
          <a:solidFill>
            <a:schemeClr val="bg2"/>
          </a:solidFill>
          <a:ln/>
        </p:spPr>
        <p:txBody>
          <a:bodyPr/>
          <a:lstStyle/>
          <a:p>
            <a:endParaRPr lang="en-US"/>
          </a:p>
        </p:txBody>
      </p:sp>
      <p:sp>
        <p:nvSpPr>
          <p:cNvPr id="5" name="bar-45"/>
          <p:cNvSpPr/>
          <p:nvPr/>
        </p:nvSpPr>
        <p:spPr>
          <a:xfrm>
            <a:off x="548640" y="1508760"/>
            <a:ext cx="3566160" cy="91440"/>
          </a:xfrm>
          <a:prstGeom prst="rect">
            <a:avLst/>
          </a:prstGeom>
          <a:solidFill>
            <a:schemeClr val="accent5"/>
          </a:solidFill>
          <a:ln/>
        </p:spPr>
        <p:txBody>
          <a:bodyPr/>
          <a:lstStyle/>
          <a:p>
            <a:endParaRPr lang="en-US"/>
          </a:p>
        </p:txBody>
      </p:sp>
      <p:sp>
        <p:nvSpPr>
          <p:cNvPr id="6" name="text-46"/>
          <p:cNvSpPr txBox="1"/>
          <p:nvPr/>
        </p:nvSpPr>
        <p:spPr>
          <a:xfrm>
            <a:off x="777240" y="1737360"/>
            <a:ext cx="310896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Snow (1855)</a:t>
            </a:r>
            <a:endParaRPr lang="en-US" sz="1700" dirty="0"/>
          </a:p>
        </p:txBody>
      </p:sp>
      <p:sp>
        <p:nvSpPr>
          <p:cNvPr id="7" name="text-47"/>
          <p:cNvSpPr txBox="1"/>
          <p:nvPr/>
        </p:nvSpPr>
        <p:spPr>
          <a:xfrm>
            <a:off x="777240" y="2103120"/>
            <a:ext cx="3108960" cy="320040"/>
          </a:xfrm>
          <a:prstGeom prst="rect">
            <a:avLst/>
          </a:prstGeom>
          <a:noFill/>
          <a:ln/>
        </p:spPr>
        <p:txBody>
          <a:bodyPr wrap="square" lIns="0" tIns="0" rIns="0" bIns="0" rtlCol="0" anchor="t"/>
          <a:lstStyle/>
          <a:p>
            <a:pPr marL="0" indent="0">
              <a:buNone/>
            </a:pPr>
            <a:r>
              <a:rPr lang="en-US" sz="1300" b="1" dirty="0">
                <a:solidFill>
                  <a:schemeClr val="accent5"/>
                </a:solidFill>
              </a:rPr>
              <a:t>Cholera in London</a:t>
            </a:r>
            <a:endParaRPr lang="en-US" sz="1300" dirty="0"/>
          </a:p>
        </p:txBody>
      </p:sp>
      <p:sp>
        <p:nvSpPr>
          <p:cNvPr id="8" name="text-48"/>
          <p:cNvSpPr txBox="1"/>
          <p:nvPr/>
        </p:nvSpPr>
        <p:spPr>
          <a:xfrm>
            <a:off x="777240" y="2468880"/>
            <a:ext cx="3108960" cy="1051560"/>
          </a:xfrm>
          <a:prstGeom prst="rect">
            <a:avLst/>
          </a:prstGeom>
          <a:noFill/>
          <a:ln/>
        </p:spPr>
        <p:txBody>
          <a:bodyPr wrap="square" lIns="0" tIns="0" rIns="0" bIns="0" rtlCol="0" anchor="t"/>
          <a:lstStyle/>
          <a:p>
            <a:pPr marL="0" indent="0">
              <a:buNone/>
            </a:pPr>
            <a:r>
              <a:rPr lang="en-US" sz="1300" dirty="0">
                <a:solidFill>
                  <a:schemeClr val="tx1"/>
                </a:solidFill>
              </a:rPr>
              <a:t>Lambeth's customers vs. other water companies, before and after Lambeth moved its intake upstream.</a:t>
            </a:r>
            <a:endParaRPr lang="en-US" sz="1300" dirty="0"/>
          </a:p>
        </p:txBody>
      </p:sp>
      <p:sp>
        <p:nvSpPr>
          <p:cNvPr id="9" name="card-49"/>
          <p:cNvSpPr/>
          <p:nvPr/>
        </p:nvSpPr>
        <p:spPr>
          <a:xfrm>
            <a:off x="4297680" y="1508760"/>
            <a:ext cx="3566160" cy="2057400"/>
          </a:xfrm>
          <a:prstGeom prst="rect">
            <a:avLst/>
          </a:prstGeom>
          <a:solidFill>
            <a:schemeClr val="bg2"/>
          </a:solidFill>
          <a:ln/>
        </p:spPr>
        <p:txBody>
          <a:bodyPr/>
          <a:lstStyle/>
          <a:p>
            <a:endParaRPr lang="en-US"/>
          </a:p>
        </p:txBody>
      </p:sp>
      <p:sp>
        <p:nvSpPr>
          <p:cNvPr id="10" name="bar-50"/>
          <p:cNvSpPr/>
          <p:nvPr/>
        </p:nvSpPr>
        <p:spPr>
          <a:xfrm>
            <a:off x="4297680" y="1508760"/>
            <a:ext cx="3566160" cy="91440"/>
          </a:xfrm>
          <a:prstGeom prst="rect">
            <a:avLst/>
          </a:prstGeom>
          <a:solidFill>
            <a:schemeClr val="accent6"/>
          </a:solidFill>
          <a:ln/>
        </p:spPr>
        <p:txBody>
          <a:bodyPr/>
          <a:lstStyle/>
          <a:p>
            <a:endParaRPr lang="en-US"/>
          </a:p>
        </p:txBody>
      </p:sp>
      <p:sp>
        <p:nvSpPr>
          <p:cNvPr id="11" name="text-51"/>
          <p:cNvSpPr txBox="1"/>
          <p:nvPr/>
        </p:nvSpPr>
        <p:spPr>
          <a:xfrm>
            <a:off x="4526280" y="1737360"/>
            <a:ext cx="310896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Card (1990)</a:t>
            </a:r>
            <a:endParaRPr lang="en-US" sz="1700" dirty="0"/>
          </a:p>
        </p:txBody>
      </p:sp>
      <p:sp>
        <p:nvSpPr>
          <p:cNvPr id="12" name="text-52"/>
          <p:cNvSpPr txBox="1"/>
          <p:nvPr/>
        </p:nvSpPr>
        <p:spPr>
          <a:xfrm>
            <a:off x="4526280" y="2103120"/>
            <a:ext cx="3108960" cy="320040"/>
          </a:xfrm>
          <a:prstGeom prst="rect">
            <a:avLst/>
          </a:prstGeom>
          <a:noFill/>
          <a:ln/>
        </p:spPr>
        <p:txBody>
          <a:bodyPr wrap="square" lIns="0" tIns="0" rIns="0" bIns="0" rtlCol="0" anchor="t"/>
          <a:lstStyle/>
          <a:p>
            <a:pPr marL="0" indent="0">
              <a:buNone/>
            </a:pPr>
            <a:r>
              <a:rPr lang="en-US" sz="1300" b="1" dirty="0">
                <a:solidFill>
                  <a:schemeClr val="accent6"/>
                </a:solidFill>
              </a:rPr>
              <a:t>The Mariel boatlift</a:t>
            </a:r>
            <a:endParaRPr lang="en-US" sz="1300" dirty="0"/>
          </a:p>
        </p:txBody>
      </p:sp>
      <p:sp>
        <p:nvSpPr>
          <p:cNvPr id="13" name="text-53"/>
          <p:cNvSpPr txBox="1"/>
          <p:nvPr/>
        </p:nvSpPr>
        <p:spPr>
          <a:xfrm>
            <a:off x="4526280" y="2468880"/>
            <a:ext cx="3108960" cy="1051560"/>
          </a:xfrm>
          <a:prstGeom prst="rect">
            <a:avLst/>
          </a:prstGeom>
          <a:noFill/>
          <a:ln/>
        </p:spPr>
        <p:txBody>
          <a:bodyPr wrap="square" lIns="0" tIns="0" rIns="0" bIns="0" rtlCol="0" anchor="t"/>
          <a:lstStyle/>
          <a:p>
            <a:pPr marL="0" indent="0">
              <a:buNone/>
            </a:pPr>
            <a:r>
              <a:rPr lang="en-US" sz="1300" dirty="0">
                <a:solidFill>
                  <a:schemeClr val="tx1"/>
                </a:solidFill>
              </a:rPr>
              <a:t>125,000 Cubans arrived in Miami in 1980. Wages and jobs in Miami vs. similar cities (the book suggests Atlanta or Tampa), before and after.</a:t>
            </a:r>
            <a:endParaRPr lang="en-US" sz="1300" dirty="0"/>
          </a:p>
        </p:txBody>
      </p:sp>
      <p:sp>
        <p:nvSpPr>
          <p:cNvPr id="14" name="card-54"/>
          <p:cNvSpPr/>
          <p:nvPr/>
        </p:nvSpPr>
        <p:spPr>
          <a:xfrm>
            <a:off x="8046720" y="1508760"/>
            <a:ext cx="3566160" cy="2057400"/>
          </a:xfrm>
          <a:prstGeom prst="rect">
            <a:avLst/>
          </a:prstGeom>
          <a:solidFill>
            <a:schemeClr val="bg2"/>
          </a:solidFill>
          <a:ln/>
        </p:spPr>
        <p:txBody>
          <a:bodyPr/>
          <a:lstStyle/>
          <a:p>
            <a:endParaRPr lang="en-US"/>
          </a:p>
        </p:txBody>
      </p:sp>
      <p:sp>
        <p:nvSpPr>
          <p:cNvPr id="15" name="bar-55"/>
          <p:cNvSpPr/>
          <p:nvPr/>
        </p:nvSpPr>
        <p:spPr>
          <a:xfrm>
            <a:off x="8046720" y="1508760"/>
            <a:ext cx="3566160" cy="91440"/>
          </a:xfrm>
          <a:prstGeom prst="rect">
            <a:avLst/>
          </a:prstGeom>
          <a:solidFill>
            <a:schemeClr val="accent1"/>
          </a:solidFill>
          <a:ln/>
        </p:spPr>
        <p:txBody>
          <a:bodyPr/>
          <a:lstStyle/>
          <a:p>
            <a:endParaRPr lang="en-US"/>
          </a:p>
        </p:txBody>
      </p:sp>
      <p:sp>
        <p:nvSpPr>
          <p:cNvPr id="16" name="text-56"/>
          <p:cNvSpPr txBox="1"/>
          <p:nvPr/>
        </p:nvSpPr>
        <p:spPr>
          <a:xfrm>
            <a:off x="8275320" y="1737360"/>
            <a:ext cx="310896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Card &amp; Krueger (1994)</a:t>
            </a:r>
            <a:endParaRPr lang="en-US" sz="1700" dirty="0"/>
          </a:p>
        </p:txBody>
      </p:sp>
      <p:sp>
        <p:nvSpPr>
          <p:cNvPr id="17" name="text-57"/>
          <p:cNvSpPr txBox="1"/>
          <p:nvPr/>
        </p:nvSpPr>
        <p:spPr>
          <a:xfrm>
            <a:off x="8275320" y="2103120"/>
            <a:ext cx="3108960" cy="320040"/>
          </a:xfrm>
          <a:prstGeom prst="rect">
            <a:avLst/>
          </a:prstGeom>
          <a:noFill/>
          <a:ln/>
        </p:spPr>
        <p:txBody>
          <a:bodyPr wrap="square" lIns="0" tIns="0" rIns="0" bIns="0" rtlCol="0" anchor="t"/>
          <a:lstStyle/>
          <a:p>
            <a:pPr marL="0" indent="0">
              <a:buNone/>
            </a:pPr>
            <a:r>
              <a:rPr lang="en-US" sz="1300" b="1" dirty="0">
                <a:solidFill>
                  <a:schemeClr val="accent1"/>
                </a:solidFill>
              </a:rPr>
              <a:t>The minimum wage</a:t>
            </a:r>
            <a:endParaRPr lang="en-US" sz="1300" dirty="0"/>
          </a:p>
        </p:txBody>
      </p:sp>
      <p:sp>
        <p:nvSpPr>
          <p:cNvPr id="18" name="text-58"/>
          <p:cNvSpPr txBox="1"/>
          <p:nvPr/>
        </p:nvSpPr>
        <p:spPr>
          <a:xfrm>
            <a:off x="8275320" y="2468880"/>
            <a:ext cx="3108960" cy="1051560"/>
          </a:xfrm>
          <a:prstGeom prst="rect">
            <a:avLst/>
          </a:prstGeom>
          <a:noFill/>
          <a:ln/>
        </p:spPr>
        <p:txBody>
          <a:bodyPr wrap="square" lIns="0" tIns="0" rIns="0" bIns="0" rtlCol="0" anchor="t"/>
          <a:lstStyle/>
          <a:p>
            <a:pPr marL="0" indent="0">
              <a:buNone/>
            </a:pPr>
            <a:r>
              <a:rPr lang="en-US" sz="1300" dirty="0">
                <a:solidFill>
                  <a:schemeClr val="tx1"/>
                </a:solidFill>
              </a:rPr>
              <a:t>New Jersey fast-food jobs vs. Pennsylvania, before and after NJ's 1992 increase. Tonight's lab.</a:t>
            </a:r>
            <a:endParaRPr lang="en-US" sz="1300" dirty="0"/>
          </a:p>
        </p:txBody>
      </p:sp>
      <p:sp>
        <p:nvSpPr>
          <p:cNvPr id="19" name="card-59"/>
          <p:cNvSpPr/>
          <p:nvPr/>
        </p:nvSpPr>
        <p:spPr>
          <a:xfrm>
            <a:off x="2423160" y="3749040"/>
            <a:ext cx="3566160" cy="2057400"/>
          </a:xfrm>
          <a:prstGeom prst="rect">
            <a:avLst/>
          </a:prstGeom>
          <a:solidFill>
            <a:schemeClr val="bg2"/>
          </a:solidFill>
          <a:ln/>
        </p:spPr>
        <p:txBody>
          <a:bodyPr/>
          <a:lstStyle/>
          <a:p>
            <a:endParaRPr lang="en-US"/>
          </a:p>
        </p:txBody>
      </p:sp>
      <p:sp>
        <p:nvSpPr>
          <p:cNvPr id="20" name="bar-60"/>
          <p:cNvSpPr/>
          <p:nvPr/>
        </p:nvSpPr>
        <p:spPr>
          <a:xfrm>
            <a:off x="2423160" y="3749040"/>
            <a:ext cx="3566160" cy="91440"/>
          </a:xfrm>
          <a:prstGeom prst="rect">
            <a:avLst/>
          </a:prstGeom>
          <a:solidFill>
            <a:schemeClr val="accent2"/>
          </a:solidFill>
          <a:ln/>
        </p:spPr>
        <p:txBody>
          <a:bodyPr/>
          <a:lstStyle/>
          <a:p>
            <a:endParaRPr lang="en-US"/>
          </a:p>
        </p:txBody>
      </p:sp>
      <p:sp>
        <p:nvSpPr>
          <p:cNvPr id="21" name="text-61"/>
          <p:cNvSpPr txBox="1"/>
          <p:nvPr/>
        </p:nvSpPr>
        <p:spPr>
          <a:xfrm>
            <a:off x="2651760" y="3977640"/>
            <a:ext cx="310896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Kessler &amp; Roth (2014)</a:t>
            </a:r>
            <a:endParaRPr lang="en-US" sz="1700" dirty="0"/>
          </a:p>
        </p:txBody>
      </p:sp>
      <p:sp>
        <p:nvSpPr>
          <p:cNvPr id="22" name="text-62"/>
          <p:cNvSpPr txBox="1"/>
          <p:nvPr/>
        </p:nvSpPr>
        <p:spPr>
          <a:xfrm>
            <a:off x="2651760" y="4343400"/>
            <a:ext cx="3108960" cy="320040"/>
          </a:xfrm>
          <a:prstGeom prst="rect">
            <a:avLst/>
          </a:prstGeom>
          <a:noFill/>
          <a:ln/>
        </p:spPr>
        <p:txBody>
          <a:bodyPr wrap="square" lIns="0" tIns="0" rIns="0" bIns="0" rtlCol="0" anchor="t"/>
          <a:lstStyle/>
          <a:p>
            <a:pPr marL="0" indent="0">
              <a:buNone/>
            </a:pPr>
            <a:r>
              <a:rPr lang="en-US" sz="1300" b="1" dirty="0">
                <a:solidFill>
                  <a:schemeClr val="accent2"/>
                </a:solidFill>
              </a:rPr>
              <a:t>Organ donation</a:t>
            </a:r>
            <a:endParaRPr lang="en-US" sz="1300" dirty="0"/>
          </a:p>
        </p:txBody>
      </p:sp>
      <p:sp>
        <p:nvSpPr>
          <p:cNvPr id="23" name="text-63"/>
          <p:cNvSpPr txBox="1"/>
          <p:nvPr/>
        </p:nvSpPr>
        <p:spPr>
          <a:xfrm>
            <a:off x="2651760" y="4709160"/>
            <a:ext cx="3108960" cy="1051560"/>
          </a:xfrm>
          <a:prstGeom prst="rect">
            <a:avLst/>
          </a:prstGeom>
          <a:noFill/>
          <a:ln/>
        </p:spPr>
        <p:txBody>
          <a:bodyPr wrap="square" lIns="0" tIns="0" rIns="0" bIns="0" rtlCol="0" anchor="t"/>
          <a:lstStyle/>
          <a:p>
            <a:pPr marL="0" indent="0">
              <a:buNone/>
            </a:pPr>
            <a:r>
              <a:rPr lang="en-US" sz="1300" dirty="0">
                <a:solidFill>
                  <a:schemeClr val="tx1"/>
                </a:solidFill>
              </a:rPr>
              <a:t>California vs. 26 states, before and after California's 2011 switch to active choice. The book's main example; tonight's lab.</a:t>
            </a:r>
            <a:endParaRPr lang="en-US" sz="1300" dirty="0"/>
          </a:p>
        </p:txBody>
      </p:sp>
      <p:sp>
        <p:nvSpPr>
          <p:cNvPr id="24" name="card-64"/>
          <p:cNvSpPr/>
          <p:nvPr/>
        </p:nvSpPr>
        <p:spPr>
          <a:xfrm>
            <a:off x="6172200" y="3749040"/>
            <a:ext cx="3566160" cy="2057400"/>
          </a:xfrm>
          <a:prstGeom prst="rect">
            <a:avLst/>
          </a:prstGeom>
          <a:solidFill>
            <a:schemeClr val="bg2"/>
          </a:solidFill>
          <a:ln/>
        </p:spPr>
        <p:txBody>
          <a:bodyPr/>
          <a:lstStyle/>
          <a:p>
            <a:endParaRPr lang="en-US"/>
          </a:p>
        </p:txBody>
      </p:sp>
      <p:sp>
        <p:nvSpPr>
          <p:cNvPr id="25" name="bar-65"/>
          <p:cNvSpPr/>
          <p:nvPr/>
        </p:nvSpPr>
        <p:spPr>
          <a:xfrm>
            <a:off x="6172200" y="3749040"/>
            <a:ext cx="3566160" cy="91440"/>
          </a:xfrm>
          <a:prstGeom prst="rect">
            <a:avLst/>
          </a:prstGeom>
          <a:solidFill>
            <a:schemeClr val="accent3"/>
          </a:solidFill>
          <a:ln/>
        </p:spPr>
        <p:txBody>
          <a:bodyPr/>
          <a:lstStyle/>
          <a:p>
            <a:endParaRPr lang="en-US"/>
          </a:p>
        </p:txBody>
      </p:sp>
      <p:sp>
        <p:nvSpPr>
          <p:cNvPr id="26" name="text-66"/>
          <p:cNvSpPr txBox="1"/>
          <p:nvPr/>
        </p:nvSpPr>
        <p:spPr>
          <a:xfrm>
            <a:off x="6400800" y="3977640"/>
            <a:ext cx="310896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Legewie &amp; Fagan (2019)</a:t>
            </a:r>
            <a:endParaRPr lang="en-US" sz="1700" dirty="0"/>
          </a:p>
        </p:txBody>
      </p:sp>
      <p:sp>
        <p:nvSpPr>
          <p:cNvPr id="27" name="text-67"/>
          <p:cNvSpPr txBox="1"/>
          <p:nvPr/>
        </p:nvSpPr>
        <p:spPr>
          <a:xfrm>
            <a:off x="6400800" y="4343400"/>
            <a:ext cx="3108960" cy="320040"/>
          </a:xfrm>
          <a:prstGeom prst="rect">
            <a:avLst/>
          </a:prstGeom>
          <a:noFill/>
          <a:ln/>
        </p:spPr>
        <p:txBody>
          <a:bodyPr wrap="square" lIns="0" tIns="0" rIns="0" bIns="0" rtlCol="0" anchor="t"/>
          <a:lstStyle/>
          <a:p>
            <a:pPr marL="0" indent="0">
              <a:buNone/>
            </a:pPr>
            <a:r>
              <a:rPr lang="en-US" sz="1300" b="1" dirty="0">
                <a:solidFill>
                  <a:schemeClr val="accent3"/>
                </a:solidFill>
              </a:rPr>
              <a:t>Aggressive policing</a:t>
            </a:r>
            <a:endParaRPr lang="en-US" sz="1300" dirty="0"/>
          </a:p>
        </p:txBody>
      </p:sp>
      <p:sp>
        <p:nvSpPr>
          <p:cNvPr id="28" name="text-68"/>
          <p:cNvSpPr txBox="1"/>
          <p:nvPr/>
        </p:nvSpPr>
        <p:spPr>
          <a:xfrm>
            <a:off x="6400800" y="4709160"/>
            <a:ext cx="3108960" cy="1051560"/>
          </a:xfrm>
          <a:prstGeom prst="rect">
            <a:avLst/>
          </a:prstGeom>
          <a:noFill/>
          <a:ln/>
        </p:spPr>
        <p:txBody>
          <a:bodyPr wrap="square" lIns="0" tIns="0" rIns="0" bIns="0" rtlCol="0" anchor="t"/>
          <a:lstStyle/>
          <a:p>
            <a:pPr marL="0" indent="0">
              <a:buNone/>
            </a:pPr>
            <a:r>
              <a:rPr lang="en-US" sz="1300" dirty="0">
                <a:solidFill>
                  <a:schemeClr val="tx1"/>
                </a:solidFill>
              </a:rPr>
              <a:t>Students' test scores in NYC police "impact zones" vs. zones designated in other years. Staggered rollout. Next week.</a:t>
            </a:r>
            <a:endParaRPr lang="en-US" sz="1300" dirty="0"/>
          </a:p>
        </p:txBody>
      </p:sp>
      <p:sp>
        <p:nvSpPr>
          <p:cNvPr id="29" name="text-69"/>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Same recipe every time: a treated group, an untreated group, before and after. The Effect 18.1; Card (1990), ILR Review 43(2).</a:t>
            </a:r>
            <a:endParaRPr lang="en-US" sz="1000" dirty="0"/>
          </a:p>
        </p:txBody>
      </p:sp>
      <p:sp>
        <p:nvSpPr>
          <p:cNvPr id="30"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LAB 7 · CARD &amp; KRUEGER (1994)</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Did New Jersey's 1992 minimum wage increase cost jobs?</a:t>
            </a:r>
            <a:endParaRPr lang="en-US" sz="2800" dirty="0"/>
          </a:p>
        </p:txBody>
      </p:sp>
      <p:graphicFrame>
        <p:nvGraphicFramePr>
          <p:cNvPr id="4" name="ck-chart"/>
          <p:cNvGraphicFramePr/>
          <p:nvPr/>
        </p:nvGraphicFramePr>
        <p:xfrm>
          <a:off x="548640" y="1463040"/>
          <a:ext cx="67665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70"/>
          <p:cNvSpPr/>
          <p:nvPr/>
        </p:nvSpPr>
        <p:spPr>
          <a:xfrm>
            <a:off x="7680960" y="1463040"/>
            <a:ext cx="3931920" cy="4480560"/>
          </a:xfrm>
          <a:prstGeom prst="rect">
            <a:avLst/>
          </a:prstGeom>
          <a:solidFill>
            <a:schemeClr val="bg2"/>
          </a:solidFill>
          <a:ln/>
        </p:spPr>
        <p:txBody>
          <a:bodyPr/>
          <a:lstStyle/>
          <a:p>
            <a:endParaRPr lang="en-US"/>
          </a:p>
        </p:txBody>
      </p:sp>
      <p:sp>
        <p:nvSpPr>
          <p:cNvPr id="6" name="text-71"/>
          <p:cNvSpPr txBox="1"/>
          <p:nvPr/>
        </p:nvSpPr>
        <p:spPr>
          <a:xfrm>
            <a:off x="7955280" y="1645920"/>
            <a:ext cx="3474720" cy="4114800"/>
          </a:xfrm>
          <a:prstGeom prst="rect">
            <a:avLst/>
          </a:prstGeom>
          <a:noFill/>
          <a:ln/>
        </p:spPr>
        <p:txBody>
          <a:bodyPr wrap="square" lIns="0" tIns="0" rIns="0" bIns="0" rtlCol="0" anchor="t"/>
          <a:lstStyle/>
          <a:p>
            <a:pPr marL="0" indent="0">
              <a:buNone/>
            </a:pPr>
            <a:r>
              <a:rPr lang="en-US" sz="1500" b="1" dirty="0">
                <a:solidFill>
                  <a:schemeClr val="tx2"/>
                </a:solidFill>
              </a:rPr>
              <a:t>The 2 × 2</a:t>
            </a:r>
            <a:endParaRPr lang="en-US" sz="1500" dirty="0"/>
          </a:p>
          <a:p>
            <a:pPr marL="0" indent="0">
              <a:buNone/>
            </a:pPr>
            <a:r>
              <a:rPr lang="en-US" sz="600" dirty="0">
                <a:solidFill>
                  <a:schemeClr val="tx1"/>
                </a:solidFill>
              </a:rPr>
              <a:t> </a:t>
            </a:r>
            <a:endParaRPr lang="en-US" sz="1500" dirty="0"/>
          </a:p>
          <a:p>
            <a:pPr marL="0" indent="0">
              <a:buNone/>
            </a:pPr>
            <a:r>
              <a:rPr lang="en-US" sz="1500" dirty="0">
                <a:solidFill>
                  <a:schemeClr val="tx1"/>
                </a:solidFill>
              </a:rPr>
              <a:t>New Jersey: +0.59</a:t>
            </a:r>
            <a:endParaRPr lang="en-US" sz="1500" dirty="0"/>
          </a:p>
          <a:p>
            <a:pPr marL="0" indent="0">
              <a:buNone/>
            </a:pPr>
            <a:r>
              <a:rPr lang="en-US" sz="1500" dirty="0">
                <a:solidFill>
                  <a:schemeClr val="tx1"/>
                </a:solidFill>
              </a:rPr>
              <a:t>Pennsylvania: −2.17</a:t>
            </a:r>
            <a:endParaRPr lang="en-US" sz="1500" dirty="0"/>
          </a:p>
          <a:p>
            <a:pPr marL="0" indent="0">
              <a:buNone/>
            </a:pPr>
            <a:r>
              <a:rPr lang="en-US" sz="1500" b="1" dirty="0">
                <a:solidFill>
                  <a:schemeClr val="accent2"/>
                </a:solidFill>
              </a:rPr>
              <a:t>DiD: +2.75 workers per store</a:t>
            </a:r>
            <a:endParaRPr lang="en-US" sz="1500" dirty="0"/>
          </a:p>
          <a:p>
            <a:pPr marL="0" indent="0">
              <a:buNone/>
            </a:pPr>
            <a:r>
              <a:rPr lang="en-US" sz="1500" dirty="0">
                <a:solidFill>
                  <a:schemeClr val="accent5"/>
                </a:solidFill>
              </a:rPr>
              <a:t>(SE 1.31, p = .04)</a:t>
            </a:r>
            <a:endParaRPr lang="en-US" sz="1500" dirty="0"/>
          </a:p>
          <a:p>
            <a:pPr marL="0" indent="0">
              <a:buNone/>
            </a:pPr>
            <a:r>
              <a:rPr lang="en-US" sz="800" dirty="0">
                <a:solidFill>
                  <a:schemeClr val="tx1"/>
                </a:solidFill>
              </a:rPr>
              <a:t> </a:t>
            </a:r>
            <a:endParaRPr lang="en-US" sz="1500" dirty="0"/>
          </a:p>
          <a:p>
            <a:pPr marL="0" indent="0">
              <a:buNone/>
            </a:pPr>
            <a:r>
              <a:rPr lang="en-US" sz="1500" dirty="0">
                <a:solidFill>
                  <a:schemeClr val="tx1"/>
                </a:solidFill>
              </a:rPr>
              <a:t>Standard theory predicted job losses. Card and Krueger found none.</a:t>
            </a:r>
            <a:endParaRPr lang="en-US" sz="1500" dirty="0"/>
          </a:p>
          <a:p>
            <a:pPr marL="0" indent="0">
              <a:buNone/>
            </a:pPr>
            <a:r>
              <a:rPr lang="en-US" sz="600" dirty="0">
                <a:solidFill>
                  <a:schemeClr val="tx1"/>
                </a:solidFill>
              </a:rPr>
              <a:t> </a:t>
            </a:r>
            <a:endParaRPr lang="en-US" sz="1500" dirty="0"/>
          </a:p>
          <a:p>
            <a:pPr marL="0" indent="0">
              <a:buNone/>
            </a:pPr>
            <a:r>
              <a:rPr lang="en-US" sz="1500" i="1" dirty="0">
                <a:solidFill>
                  <a:schemeClr val="accent5"/>
                </a:solidFill>
              </a:rPr>
              <a:t>NJ stores were smaller to begin with. That's fine: the design compares changes, not levels.</a:t>
            </a:r>
            <a:endParaRPr lang="en-US" sz="1500" dirty="0"/>
          </a:p>
        </p:txBody>
      </p:sp>
      <p:sp>
        <p:nvSpPr>
          <p:cNvPr id="7" name="text-72"/>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Card &amp; Krueger (1994), AER 84(4); 410 fast-food restaurants, original survey data. Our numbers match their Table 3.</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214A2C-F506-090A-FCCE-2D03A7FAC956}"/>
              </a:ext>
            </a:extLst>
          </p:cNvPr>
          <p:cNvPicPr>
            <a:picLocks noChangeAspect="1"/>
          </p:cNvPicPr>
          <p:nvPr/>
        </p:nvPicPr>
        <p:blipFill>
          <a:blip r:embed="rId2"/>
          <a:stretch>
            <a:fillRect/>
          </a:stretch>
        </p:blipFill>
        <p:spPr>
          <a:xfrm>
            <a:off x="1861235" y="1120757"/>
            <a:ext cx="10330765" cy="495876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D2F0DA-7C30-261A-8F14-01D0F5B40A99}"/>
              </a:ext>
            </a:extLst>
          </p:cNvPr>
          <p:cNvPicPr>
            <a:picLocks noChangeAspect="1"/>
          </p:cNvPicPr>
          <p:nvPr/>
        </p:nvPicPr>
        <p:blipFill>
          <a:blip r:embed="rId2"/>
          <a:stretch>
            <a:fillRect/>
          </a:stretch>
        </p:blipFill>
        <p:spPr>
          <a:xfrm>
            <a:off x="676899" y="592854"/>
            <a:ext cx="9969330" cy="5052293"/>
          </a:xfrm>
          <a:prstGeom prst="rect">
            <a:avLst/>
          </a:prstGeom>
        </p:spPr>
      </p:pic>
    </p:spTree>
    <p:extLst>
      <p:ext uri="{BB962C8B-B14F-4D97-AF65-F5344CB8AC3E}">
        <p14:creationId xmlns:p14="http://schemas.microsoft.com/office/powerpoint/2010/main" val="3137395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FBA0CA-87C3-6916-1896-28EF47A80F04}"/>
              </a:ext>
            </a:extLst>
          </p:cNvPr>
          <p:cNvPicPr>
            <a:picLocks noChangeAspect="1"/>
          </p:cNvPicPr>
          <p:nvPr/>
        </p:nvPicPr>
        <p:blipFill>
          <a:blip r:embed="rId2"/>
          <a:stretch>
            <a:fillRect/>
          </a:stretch>
        </p:blipFill>
        <p:spPr>
          <a:xfrm>
            <a:off x="1112450" y="778989"/>
            <a:ext cx="10958825" cy="4806265"/>
          </a:xfrm>
          <a:prstGeom prst="rect">
            <a:avLst/>
          </a:prstGeom>
        </p:spPr>
      </p:pic>
      <p:sp>
        <p:nvSpPr>
          <p:cNvPr id="6" name="TextBox 5">
            <a:extLst>
              <a:ext uri="{FF2B5EF4-FFF2-40B4-BE49-F238E27FC236}">
                <a16:creationId xmlns:a16="http://schemas.microsoft.com/office/drawing/2014/main" id="{6DB12708-C306-3138-F8A2-D294831B474F}"/>
              </a:ext>
            </a:extLst>
          </p:cNvPr>
          <p:cNvSpPr txBox="1"/>
          <p:nvPr/>
        </p:nvSpPr>
        <p:spPr>
          <a:xfrm>
            <a:off x="3175279" y="432486"/>
            <a:ext cx="4883477" cy="523220"/>
          </a:xfrm>
          <a:prstGeom prst="rect">
            <a:avLst/>
          </a:prstGeom>
          <a:noFill/>
        </p:spPr>
        <p:txBody>
          <a:bodyPr wrap="square" rtlCol="0">
            <a:spAutoFit/>
          </a:bodyPr>
          <a:lstStyle/>
          <a:p>
            <a:r>
              <a:rPr lang="en-US" sz="2800" dirty="0"/>
              <a:t>The Effect on Parallel Trends</a:t>
            </a:r>
          </a:p>
        </p:txBody>
      </p:sp>
    </p:spTree>
    <p:extLst>
      <p:ext uri="{BB962C8B-B14F-4D97-AF65-F5344CB8AC3E}">
        <p14:creationId xmlns:p14="http://schemas.microsoft.com/office/powerpoint/2010/main" val="2523572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GETTING THE ASSUMPTION RIGHT</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What parallel trends requires, and what it doesn't</a:t>
            </a:r>
            <a:endParaRPr lang="en-US" sz="2800" dirty="0"/>
          </a:p>
        </p:txBody>
      </p:sp>
      <p:sp>
        <p:nvSpPr>
          <p:cNvPr id="4" name="card-76"/>
          <p:cNvSpPr/>
          <p:nvPr/>
        </p:nvSpPr>
        <p:spPr>
          <a:xfrm>
            <a:off x="548640" y="1554480"/>
            <a:ext cx="5440680" cy="2011680"/>
          </a:xfrm>
          <a:prstGeom prst="rect">
            <a:avLst/>
          </a:prstGeom>
          <a:solidFill>
            <a:schemeClr val="bg2"/>
          </a:solidFill>
          <a:ln/>
        </p:spPr>
        <p:txBody>
          <a:bodyPr/>
          <a:lstStyle/>
          <a:p>
            <a:endParaRPr lang="en-US"/>
          </a:p>
        </p:txBody>
      </p:sp>
      <p:sp>
        <p:nvSpPr>
          <p:cNvPr id="5" name="bar-77"/>
          <p:cNvSpPr/>
          <p:nvPr/>
        </p:nvSpPr>
        <p:spPr>
          <a:xfrm>
            <a:off x="548640" y="1554480"/>
            <a:ext cx="109728" cy="2011680"/>
          </a:xfrm>
          <a:prstGeom prst="rect">
            <a:avLst/>
          </a:prstGeom>
          <a:solidFill>
            <a:schemeClr val="accent2"/>
          </a:solidFill>
          <a:ln/>
        </p:spPr>
        <p:txBody>
          <a:bodyPr/>
          <a:lstStyle/>
          <a:p>
            <a:endParaRPr lang="en-US"/>
          </a:p>
        </p:txBody>
      </p:sp>
      <p:sp>
        <p:nvSpPr>
          <p:cNvPr id="6" name="text-78"/>
          <p:cNvSpPr txBox="1"/>
          <p:nvPr/>
        </p:nvSpPr>
        <p:spPr>
          <a:xfrm>
            <a:off x="914400" y="1737360"/>
            <a:ext cx="4846320" cy="45720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Doesn't require equal levels</a:t>
            </a:r>
            <a:endParaRPr lang="en-US" sz="1900" dirty="0"/>
          </a:p>
        </p:txBody>
      </p:sp>
      <p:sp>
        <p:nvSpPr>
          <p:cNvPr id="7" name="text-79"/>
          <p:cNvSpPr txBox="1"/>
          <p:nvPr/>
        </p:nvSpPr>
        <p:spPr>
          <a:xfrm>
            <a:off x="914400" y="2286000"/>
            <a:ext cx="4846320" cy="1188720"/>
          </a:xfrm>
          <a:prstGeom prst="rect">
            <a:avLst/>
          </a:prstGeom>
          <a:noFill/>
          <a:ln/>
        </p:spPr>
        <p:txBody>
          <a:bodyPr wrap="square" lIns="0" tIns="0" rIns="0" bIns="0" rtlCol="0" anchor="t"/>
          <a:lstStyle/>
          <a:p>
            <a:pPr marL="0" indent="0">
              <a:buNone/>
            </a:pPr>
            <a:r>
              <a:rPr lang="en-US" sz="1500" dirty="0">
                <a:solidFill>
                  <a:schemeClr val="tx1"/>
                </a:solidFill>
              </a:rPr>
              <a:t>NJ stores were smaller than PA's, and California's donor rate is far below other states'. Level gaps are differenced away.</a:t>
            </a:r>
            <a:endParaRPr lang="en-US" sz="1500" dirty="0"/>
          </a:p>
        </p:txBody>
      </p:sp>
      <p:sp>
        <p:nvSpPr>
          <p:cNvPr id="8" name="card-80"/>
          <p:cNvSpPr/>
          <p:nvPr/>
        </p:nvSpPr>
        <p:spPr>
          <a:xfrm>
            <a:off x="6172200" y="1554480"/>
            <a:ext cx="5440680" cy="2011680"/>
          </a:xfrm>
          <a:prstGeom prst="rect">
            <a:avLst/>
          </a:prstGeom>
          <a:solidFill>
            <a:schemeClr val="bg2"/>
          </a:solidFill>
          <a:ln/>
        </p:spPr>
        <p:txBody>
          <a:bodyPr/>
          <a:lstStyle/>
          <a:p>
            <a:endParaRPr lang="en-US"/>
          </a:p>
        </p:txBody>
      </p:sp>
      <p:sp>
        <p:nvSpPr>
          <p:cNvPr id="9" name="bar-81"/>
          <p:cNvSpPr/>
          <p:nvPr/>
        </p:nvSpPr>
        <p:spPr>
          <a:xfrm>
            <a:off x="6172200" y="1554480"/>
            <a:ext cx="109728" cy="2011680"/>
          </a:xfrm>
          <a:prstGeom prst="rect">
            <a:avLst/>
          </a:prstGeom>
          <a:solidFill>
            <a:schemeClr val="accent1"/>
          </a:solidFill>
          <a:ln/>
        </p:spPr>
        <p:txBody>
          <a:bodyPr/>
          <a:lstStyle/>
          <a:p>
            <a:endParaRPr lang="en-US"/>
          </a:p>
        </p:txBody>
      </p:sp>
      <p:sp>
        <p:nvSpPr>
          <p:cNvPr id="10" name="text-82"/>
          <p:cNvSpPr txBox="1"/>
          <p:nvPr/>
        </p:nvSpPr>
        <p:spPr>
          <a:xfrm>
            <a:off x="6537960" y="1737360"/>
            <a:ext cx="4846320" cy="45720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Does require equal changes</a:t>
            </a:r>
            <a:endParaRPr lang="en-US" sz="1900" dirty="0"/>
          </a:p>
        </p:txBody>
      </p:sp>
      <p:sp>
        <p:nvSpPr>
          <p:cNvPr id="11" name="text-83"/>
          <p:cNvSpPr txBox="1"/>
          <p:nvPr/>
        </p:nvSpPr>
        <p:spPr>
          <a:xfrm>
            <a:off x="6537960" y="2286000"/>
            <a:ext cx="4846320" cy="1188720"/>
          </a:xfrm>
          <a:prstGeom prst="rect">
            <a:avLst/>
          </a:prstGeom>
          <a:noFill/>
          <a:ln/>
        </p:spPr>
        <p:txBody>
          <a:bodyPr wrap="square" lIns="0" tIns="0" rIns="0" bIns="0" rtlCol="0" anchor="t"/>
          <a:lstStyle/>
          <a:p>
            <a:pPr marL="0" indent="0">
              <a:buNone/>
            </a:pPr>
            <a:r>
              <a:rPr lang="en-US" sz="1500" dirty="0">
                <a:solidFill>
                  <a:schemeClr val="tx1"/>
                </a:solidFill>
              </a:rPr>
              <a:t>Without treatment, both groups would have moved by the same amount over the same window.</a:t>
            </a:r>
            <a:endParaRPr lang="en-US" sz="1500" dirty="0"/>
          </a:p>
        </p:txBody>
      </p:sp>
      <p:sp>
        <p:nvSpPr>
          <p:cNvPr id="12" name="card-84"/>
          <p:cNvSpPr/>
          <p:nvPr/>
        </p:nvSpPr>
        <p:spPr>
          <a:xfrm>
            <a:off x="548640" y="3749040"/>
            <a:ext cx="5440680" cy="2011680"/>
          </a:xfrm>
          <a:prstGeom prst="rect">
            <a:avLst/>
          </a:prstGeom>
          <a:solidFill>
            <a:schemeClr val="bg2"/>
          </a:solidFill>
          <a:ln/>
        </p:spPr>
        <p:txBody>
          <a:bodyPr/>
          <a:lstStyle/>
          <a:p>
            <a:endParaRPr lang="en-US"/>
          </a:p>
        </p:txBody>
      </p:sp>
      <p:sp>
        <p:nvSpPr>
          <p:cNvPr id="13" name="bar-85"/>
          <p:cNvSpPr/>
          <p:nvPr/>
        </p:nvSpPr>
        <p:spPr>
          <a:xfrm>
            <a:off x="548640" y="3749040"/>
            <a:ext cx="109728" cy="2011680"/>
          </a:xfrm>
          <a:prstGeom prst="rect">
            <a:avLst/>
          </a:prstGeom>
          <a:solidFill>
            <a:schemeClr val="accent3"/>
          </a:solidFill>
          <a:ln/>
        </p:spPr>
        <p:txBody>
          <a:bodyPr/>
          <a:lstStyle/>
          <a:p>
            <a:endParaRPr lang="en-US"/>
          </a:p>
        </p:txBody>
      </p:sp>
      <p:sp>
        <p:nvSpPr>
          <p:cNvPr id="14" name="text-86"/>
          <p:cNvSpPr txBox="1"/>
          <p:nvPr/>
        </p:nvSpPr>
        <p:spPr>
          <a:xfrm>
            <a:off x="914400" y="3931920"/>
            <a:ext cx="4846320" cy="45720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Is about the after period</a:t>
            </a:r>
            <a:endParaRPr lang="en-US" sz="1900" dirty="0"/>
          </a:p>
        </p:txBody>
      </p:sp>
      <p:sp>
        <p:nvSpPr>
          <p:cNvPr id="15" name="text-87"/>
          <p:cNvSpPr txBox="1"/>
          <p:nvPr/>
        </p:nvSpPr>
        <p:spPr>
          <a:xfrm>
            <a:off x="914400" y="4480560"/>
            <a:ext cx="4846320" cy="1188720"/>
          </a:xfrm>
          <a:prstGeom prst="rect">
            <a:avLst/>
          </a:prstGeom>
          <a:noFill/>
          <a:ln/>
        </p:spPr>
        <p:txBody>
          <a:bodyPr wrap="square" lIns="0" tIns="0" rIns="0" bIns="0" rtlCol="0" anchor="t"/>
          <a:lstStyle/>
          <a:p>
            <a:pPr marL="0" indent="0">
              <a:buNone/>
            </a:pPr>
            <a:r>
              <a:rPr lang="en-US" sz="1500" dirty="0">
                <a:solidFill>
                  <a:schemeClr val="tx1"/>
                </a:solidFill>
              </a:rPr>
              <a:t>Matching trends before treatment is evidence, not proof. A shock that coincides with treatment breaks it.</a:t>
            </a:r>
            <a:endParaRPr lang="en-US" sz="1500" dirty="0"/>
          </a:p>
        </p:txBody>
      </p:sp>
      <p:sp>
        <p:nvSpPr>
          <p:cNvPr id="16" name="card-88"/>
          <p:cNvSpPr/>
          <p:nvPr/>
        </p:nvSpPr>
        <p:spPr>
          <a:xfrm>
            <a:off x="6172200" y="3749040"/>
            <a:ext cx="5440680" cy="2011680"/>
          </a:xfrm>
          <a:prstGeom prst="rect">
            <a:avLst/>
          </a:prstGeom>
          <a:solidFill>
            <a:schemeClr val="bg2"/>
          </a:solidFill>
          <a:ln/>
        </p:spPr>
        <p:txBody>
          <a:bodyPr/>
          <a:lstStyle/>
          <a:p>
            <a:endParaRPr lang="en-US"/>
          </a:p>
        </p:txBody>
      </p:sp>
      <p:sp>
        <p:nvSpPr>
          <p:cNvPr id="17" name="bar-89"/>
          <p:cNvSpPr/>
          <p:nvPr/>
        </p:nvSpPr>
        <p:spPr>
          <a:xfrm>
            <a:off x="6172200" y="3749040"/>
            <a:ext cx="109728" cy="2011680"/>
          </a:xfrm>
          <a:prstGeom prst="rect">
            <a:avLst/>
          </a:prstGeom>
          <a:solidFill>
            <a:schemeClr val="accent6"/>
          </a:solidFill>
          <a:ln/>
        </p:spPr>
        <p:txBody>
          <a:bodyPr/>
          <a:lstStyle/>
          <a:p>
            <a:endParaRPr lang="en-US"/>
          </a:p>
        </p:txBody>
      </p:sp>
      <p:sp>
        <p:nvSpPr>
          <p:cNvPr id="18" name="text-90"/>
          <p:cNvSpPr txBox="1"/>
          <p:nvPr/>
        </p:nvSpPr>
        <p:spPr>
          <a:xfrm>
            <a:off x="6537960" y="3931920"/>
            <a:ext cx="4846320" cy="45720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Depends on the scale</a:t>
            </a:r>
            <a:endParaRPr lang="en-US" sz="1900" dirty="0"/>
          </a:p>
        </p:txBody>
      </p:sp>
      <p:sp>
        <p:nvSpPr>
          <p:cNvPr id="19" name="text-91"/>
          <p:cNvSpPr txBox="1"/>
          <p:nvPr/>
        </p:nvSpPr>
        <p:spPr>
          <a:xfrm>
            <a:off x="6537960" y="4480560"/>
            <a:ext cx="4846320" cy="1188720"/>
          </a:xfrm>
          <a:prstGeom prst="rect">
            <a:avLst/>
          </a:prstGeom>
          <a:noFill/>
          <a:ln/>
        </p:spPr>
        <p:txBody>
          <a:bodyPr wrap="square" lIns="0" tIns="0" rIns="0" bIns="0" rtlCol="0" anchor="t"/>
          <a:lstStyle/>
          <a:p>
            <a:pPr marL="0" indent="0">
              <a:buNone/>
            </a:pPr>
            <a:r>
              <a:rPr lang="en-US" sz="1500" dirty="0">
                <a:solidFill>
                  <a:schemeClr val="tx1"/>
                </a:solidFill>
              </a:rPr>
              <a:t>Parallel in levels and parallel in percentages can't both hold if levels differ. Choosing logs vs. levels is a substantive choice.</a:t>
            </a:r>
            <a:endParaRPr lang="en-US" sz="1500" dirty="0"/>
          </a:p>
        </p:txBody>
      </p:sp>
      <p:sp>
        <p:nvSpPr>
          <p:cNvPr id="20" name="text-92"/>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The Effect 18.1.4 and 18.2.3.</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THE EFFECT 18.1.4</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Choosing the untreated group</a:t>
            </a:r>
            <a:endParaRPr lang="en-US" sz="2800" dirty="0"/>
          </a:p>
        </p:txBody>
      </p:sp>
      <p:sp>
        <p:nvSpPr>
          <p:cNvPr id="4" name="text-93"/>
          <p:cNvSpPr txBox="1"/>
          <p:nvPr/>
        </p:nvSpPr>
        <p:spPr>
          <a:xfrm>
            <a:off x="548640" y="1508760"/>
            <a:ext cx="5486400" cy="411480"/>
          </a:xfrm>
          <a:prstGeom prst="rect">
            <a:avLst/>
          </a:prstGeom>
          <a:noFill/>
          <a:ln/>
        </p:spPr>
        <p:txBody>
          <a:bodyPr wrap="square" lIns="0" tIns="0" rIns="0" bIns="0" rtlCol="0" anchor="t"/>
          <a:lstStyle/>
          <a:p>
            <a:pPr marL="0" indent="0">
              <a:buNone/>
            </a:pPr>
            <a:r>
              <a:rPr lang="en-US" sz="1900" b="1" dirty="0">
                <a:solidFill>
                  <a:schemeClr val="tx2"/>
                </a:solidFill>
                <a:latin typeface="Cambria" pitchFamily="34" charset="0"/>
                <a:ea typeface="Cambria" pitchFamily="34" charset="-122"/>
                <a:cs typeface="Cambria" pitchFamily="34" charset="-120"/>
              </a:rPr>
              <a:t>A good comparison group…</a:t>
            </a:r>
            <a:endParaRPr lang="en-US" sz="1900" dirty="0"/>
          </a:p>
        </p:txBody>
      </p:sp>
      <p:sp>
        <p:nvSpPr>
          <p:cNvPr id="5" name="text-94"/>
          <p:cNvSpPr txBox="1"/>
          <p:nvPr/>
        </p:nvSpPr>
        <p:spPr>
          <a:xfrm>
            <a:off x="548640" y="2011680"/>
            <a:ext cx="5669280"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faces the same shocks as the treated group (same region, same industry, same season)</a:t>
            </a:r>
            <a:endParaRPr lang="en-US" sz="1600" dirty="0"/>
          </a:p>
          <a:p>
            <a:pPr marL="342900" indent="-342900">
              <a:spcAft>
                <a:spcPts val="1000"/>
              </a:spcAft>
              <a:buSzPct val="100000"/>
              <a:buChar char="•"/>
            </a:pPr>
            <a:r>
              <a:rPr lang="en-US" sz="1600" dirty="0">
                <a:solidFill>
                  <a:schemeClr val="tx1"/>
                </a:solidFill>
              </a:rPr>
              <a:t>is not itself affected by the treatment (no spillovers: did NJ workers commute to PA?)</a:t>
            </a:r>
            <a:endParaRPr lang="en-US" sz="1600" dirty="0"/>
          </a:p>
          <a:p>
            <a:pPr marL="342900" indent="-342900">
              <a:spcAft>
                <a:spcPts val="1000"/>
              </a:spcAft>
              <a:buSzPct val="100000"/>
              <a:buChar char="•"/>
            </a:pPr>
            <a:r>
              <a:rPr lang="en-US" sz="1600" dirty="0">
                <a:solidFill>
                  <a:schemeClr val="tx1"/>
                </a:solidFill>
              </a:rPr>
              <a:t>had similar trends before treatment, when you can check</a:t>
            </a:r>
            <a:endParaRPr lang="en-US" sz="1600" dirty="0"/>
          </a:p>
          <a:p>
            <a:pPr marL="342900" indent="-342900">
              <a:spcAft>
                <a:spcPts val="1000"/>
              </a:spcAft>
              <a:buSzPct val="100000"/>
              <a:buChar char="•"/>
            </a:pPr>
            <a:r>
              <a:rPr lang="en-US" sz="1600" dirty="0">
                <a:solidFill>
                  <a:schemeClr val="tx1"/>
                </a:solidFill>
              </a:rPr>
              <a:t>isn't hit by its own shock at the same time (in the sourdough homework, think about which search terms COVID also changed)</a:t>
            </a:r>
            <a:endParaRPr lang="en-US" sz="1600" dirty="0"/>
          </a:p>
        </p:txBody>
      </p:sp>
      <p:sp>
        <p:nvSpPr>
          <p:cNvPr id="6" name="card-95"/>
          <p:cNvSpPr/>
          <p:nvPr/>
        </p:nvSpPr>
        <p:spPr>
          <a:xfrm>
            <a:off x="6583680" y="1508760"/>
            <a:ext cx="5029200" cy="4297680"/>
          </a:xfrm>
          <a:prstGeom prst="rect">
            <a:avLst/>
          </a:prstGeom>
          <a:solidFill>
            <a:schemeClr val="bg2"/>
          </a:solidFill>
          <a:ln/>
        </p:spPr>
        <p:txBody>
          <a:bodyPr/>
          <a:lstStyle/>
          <a:p>
            <a:endParaRPr lang="en-US"/>
          </a:p>
        </p:txBody>
      </p:sp>
      <p:sp>
        <p:nvSpPr>
          <p:cNvPr id="7" name="text-96"/>
          <p:cNvSpPr txBox="1"/>
          <p:nvPr/>
        </p:nvSpPr>
        <p:spPr>
          <a:xfrm>
            <a:off x="6858000" y="1691640"/>
            <a:ext cx="4572000" cy="45720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Card &amp; Krueger's second comparison</a:t>
            </a:r>
            <a:endParaRPr lang="en-US" sz="1800" dirty="0"/>
          </a:p>
        </p:txBody>
      </p:sp>
      <p:graphicFrame>
        <p:nvGraphicFramePr>
          <p:cNvPr id="8" name="ck-two-comparisons"/>
          <p:cNvGraphicFramePr/>
          <p:nvPr/>
        </p:nvGraphicFramePr>
        <p:xfrm>
          <a:off x="6766560" y="2194560"/>
          <a:ext cx="46634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97"/>
          <p:cNvSpPr txBox="1"/>
          <p:nvPr/>
        </p:nvSpPr>
        <p:spPr>
          <a:xfrm>
            <a:off x="6858000" y="4663440"/>
            <a:ext cx="4572000" cy="1005840"/>
          </a:xfrm>
          <a:prstGeom prst="rect">
            <a:avLst/>
          </a:prstGeom>
          <a:noFill/>
          <a:ln/>
        </p:spPr>
        <p:txBody>
          <a:bodyPr wrap="square" lIns="0" tIns="0" rIns="0" bIns="0" rtlCol="0" anchor="t"/>
          <a:lstStyle/>
          <a:p>
            <a:pPr marL="0" indent="0">
              <a:buNone/>
            </a:pPr>
            <a:r>
              <a:rPr lang="en-US" sz="1400" dirty="0">
                <a:solidFill>
                  <a:schemeClr val="tx1"/>
                </a:solidFill>
              </a:rPr>
              <a:t>Stores already paying $5.00+ were barely affected. Two comparison groups with different weaknesses agree, so a shared bias is less likely.</a:t>
            </a:r>
            <a:endParaRPr lang="en-US" sz="1400" dirty="0"/>
          </a:p>
        </p:txBody>
      </p:sp>
      <p:sp>
        <p:nvSpPr>
          <p:cNvPr id="10" name="text-98"/>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Lab 7, optional section. Card &amp; Krueger (1994), Table 3.</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THE EFFECT 18.2.3</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Supporting parallel trends: what you can actually check</a:t>
            </a:r>
            <a:endParaRPr lang="en-US" sz="2800" dirty="0"/>
          </a:p>
        </p:txBody>
      </p:sp>
      <p:sp>
        <p:nvSpPr>
          <p:cNvPr id="4" name="num-99"/>
          <p:cNvSpPr/>
          <p:nvPr/>
        </p:nvSpPr>
        <p:spPr>
          <a:xfrm>
            <a:off x="640080" y="1645920"/>
            <a:ext cx="457200" cy="457200"/>
          </a:xfrm>
          <a:prstGeom prst="ellipse">
            <a:avLst/>
          </a:prstGeom>
          <a:solidFill>
            <a:schemeClr val="accent1"/>
          </a:solidFill>
          <a:ln/>
        </p:spPr>
        <p:txBody>
          <a:bodyPr/>
          <a:lstStyle/>
          <a:p>
            <a:endParaRPr lang="en-US"/>
          </a:p>
        </p:txBody>
      </p:sp>
      <p:sp>
        <p:nvSpPr>
          <p:cNvPr id="5" name="numtxt-100"/>
          <p:cNvSpPr txBox="1"/>
          <p:nvPr/>
        </p:nvSpPr>
        <p:spPr>
          <a:xfrm>
            <a:off x="640080" y="164592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6" name="text-101"/>
          <p:cNvSpPr txBox="1"/>
          <p:nvPr/>
        </p:nvSpPr>
        <p:spPr>
          <a:xfrm>
            <a:off x="1325880" y="1554480"/>
            <a:ext cx="3017520" cy="6400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Plot it</a:t>
            </a:r>
            <a:endParaRPr lang="en-US" sz="1800" dirty="0"/>
          </a:p>
        </p:txBody>
      </p:sp>
      <p:sp>
        <p:nvSpPr>
          <p:cNvPr id="7" name="text-102"/>
          <p:cNvSpPr txBox="1"/>
          <p:nvPr/>
        </p:nvSpPr>
        <p:spPr>
          <a:xfrm>
            <a:off x="4389120" y="1554480"/>
            <a:ext cx="7223760" cy="822960"/>
          </a:xfrm>
          <a:prstGeom prst="rect">
            <a:avLst/>
          </a:prstGeom>
          <a:noFill/>
          <a:ln/>
        </p:spPr>
        <p:txBody>
          <a:bodyPr wrap="square" lIns="0" tIns="0" rIns="0" bIns="0" rtlCol="0" anchor="ctr"/>
          <a:lstStyle/>
          <a:p>
            <a:pPr marL="0" indent="0">
              <a:buNone/>
            </a:pPr>
            <a:r>
              <a:rPr lang="en-US" sz="1500" dirty="0">
                <a:solidFill>
                  <a:schemeClr val="tx1"/>
                </a:solidFill>
              </a:rPr>
              <a:t>Graph both groups' outcomes over several periods before treatment. Do they move together?</a:t>
            </a:r>
            <a:endParaRPr lang="en-US" sz="1500" dirty="0"/>
          </a:p>
        </p:txBody>
      </p:sp>
      <p:sp>
        <p:nvSpPr>
          <p:cNvPr id="8" name="num-103"/>
          <p:cNvSpPr/>
          <p:nvPr/>
        </p:nvSpPr>
        <p:spPr>
          <a:xfrm>
            <a:off x="640080" y="2724912"/>
            <a:ext cx="457200" cy="457200"/>
          </a:xfrm>
          <a:prstGeom prst="ellipse">
            <a:avLst/>
          </a:prstGeom>
          <a:solidFill>
            <a:schemeClr val="accent1"/>
          </a:solidFill>
          <a:ln/>
        </p:spPr>
        <p:txBody>
          <a:bodyPr/>
          <a:lstStyle/>
          <a:p>
            <a:endParaRPr lang="en-US"/>
          </a:p>
        </p:txBody>
      </p:sp>
      <p:sp>
        <p:nvSpPr>
          <p:cNvPr id="9" name="numtxt-104"/>
          <p:cNvSpPr txBox="1"/>
          <p:nvPr/>
        </p:nvSpPr>
        <p:spPr>
          <a:xfrm>
            <a:off x="640080" y="2724912"/>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0" name="text-105"/>
          <p:cNvSpPr txBox="1"/>
          <p:nvPr/>
        </p:nvSpPr>
        <p:spPr>
          <a:xfrm>
            <a:off x="1325880" y="2633472"/>
            <a:ext cx="3017520" cy="6400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Test prior trends</a:t>
            </a:r>
            <a:endParaRPr lang="en-US" sz="1800" dirty="0"/>
          </a:p>
        </p:txBody>
      </p:sp>
      <p:sp>
        <p:nvSpPr>
          <p:cNvPr id="11" name="text-106"/>
          <p:cNvSpPr txBox="1"/>
          <p:nvPr/>
        </p:nvSpPr>
        <p:spPr>
          <a:xfrm>
            <a:off x="4389120" y="2633472"/>
            <a:ext cx="7223760" cy="822960"/>
          </a:xfrm>
          <a:prstGeom prst="rect">
            <a:avLst/>
          </a:prstGeom>
          <a:noFill/>
          <a:ln/>
        </p:spPr>
        <p:txBody>
          <a:bodyPr wrap="square" lIns="0" tIns="0" rIns="0" bIns="0" rtlCol="0" anchor="ctr"/>
          <a:lstStyle/>
          <a:p>
            <a:pPr marL="0" indent="0">
              <a:buNone/>
            </a:pPr>
            <a:r>
              <a:rPr lang="en-US" sz="1500" dirty="0">
                <a:solidFill>
                  <a:schemeClr val="tx1"/>
                </a:solidFill>
              </a:rPr>
              <a:t>In the pre-period only, regress Y on time × treated. A clear slope difference is a warning.</a:t>
            </a:r>
            <a:endParaRPr lang="en-US" sz="1500" dirty="0"/>
          </a:p>
        </p:txBody>
      </p:sp>
      <p:sp>
        <p:nvSpPr>
          <p:cNvPr id="12" name="num-107"/>
          <p:cNvSpPr/>
          <p:nvPr/>
        </p:nvSpPr>
        <p:spPr>
          <a:xfrm>
            <a:off x="640080" y="3803904"/>
            <a:ext cx="457200" cy="457200"/>
          </a:xfrm>
          <a:prstGeom prst="ellipse">
            <a:avLst/>
          </a:prstGeom>
          <a:solidFill>
            <a:schemeClr val="accent1"/>
          </a:solidFill>
          <a:ln/>
        </p:spPr>
        <p:txBody>
          <a:bodyPr/>
          <a:lstStyle/>
          <a:p>
            <a:endParaRPr lang="en-US"/>
          </a:p>
        </p:txBody>
      </p:sp>
      <p:sp>
        <p:nvSpPr>
          <p:cNvPr id="13" name="numtxt-108"/>
          <p:cNvSpPr txBox="1"/>
          <p:nvPr/>
        </p:nvSpPr>
        <p:spPr>
          <a:xfrm>
            <a:off x="640080" y="3803904"/>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4" name="text-109"/>
          <p:cNvSpPr txBox="1"/>
          <p:nvPr/>
        </p:nvSpPr>
        <p:spPr>
          <a:xfrm>
            <a:off x="1325880" y="3712464"/>
            <a:ext cx="3017520" cy="6400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Placebo date</a:t>
            </a:r>
            <a:endParaRPr lang="en-US" sz="1800" dirty="0"/>
          </a:p>
        </p:txBody>
      </p:sp>
      <p:sp>
        <p:nvSpPr>
          <p:cNvPr id="15" name="text-110"/>
          <p:cNvSpPr txBox="1"/>
          <p:nvPr/>
        </p:nvSpPr>
        <p:spPr>
          <a:xfrm>
            <a:off x="4389120" y="3712464"/>
            <a:ext cx="7223760" cy="822960"/>
          </a:xfrm>
          <a:prstGeom prst="rect">
            <a:avLst/>
          </a:prstGeom>
          <a:noFill/>
          <a:ln/>
        </p:spPr>
        <p:txBody>
          <a:bodyPr wrap="square" lIns="0" tIns="0" rIns="0" bIns="0" rtlCol="0" anchor="ctr"/>
          <a:lstStyle/>
          <a:p>
            <a:pPr marL="0" indent="0">
              <a:buNone/>
            </a:pPr>
            <a:r>
              <a:rPr lang="en-US" sz="1500" dirty="0">
                <a:solidFill>
                  <a:schemeClr val="tx1"/>
                </a:solidFill>
              </a:rPr>
              <a:t>Pretend treatment happened earlier, using only pre-period data. The "effect" should be about zero.</a:t>
            </a:r>
            <a:endParaRPr lang="en-US" sz="1500" dirty="0"/>
          </a:p>
        </p:txBody>
      </p:sp>
      <p:sp>
        <p:nvSpPr>
          <p:cNvPr id="16" name="num-111"/>
          <p:cNvSpPr/>
          <p:nvPr/>
        </p:nvSpPr>
        <p:spPr>
          <a:xfrm>
            <a:off x="640080" y="4882896"/>
            <a:ext cx="457200" cy="457200"/>
          </a:xfrm>
          <a:prstGeom prst="ellipse">
            <a:avLst/>
          </a:prstGeom>
          <a:solidFill>
            <a:schemeClr val="accent1"/>
          </a:solidFill>
          <a:ln/>
        </p:spPr>
        <p:txBody>
          <a:bodyPr/>
          <a:lstStyle/>
          <a:p>
            <a:endParaRPr lang="en-US"/>
          </a:p>
        </p:txBody>
      </p:sp>
      <p:sp>
        <p:nvSpPr>
          <p:cNvPr id="17" name="numtxt-112"/>
          <p:cNvSpPr txBox="1"/>
          <p:nvPr/>
        </p:nvSpPr>
        <p:spPr>
          <a:xfrm>
            <a:off x="640080" y="4882896"/>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8" name="text-113"/>
          <p:cNvSpPr txBox="1"/>
          <p:nvPr/>
        </p:nvSpPr>
        <p:spPr>
          <a:xfrm>
            <a:off x="1325880" y="4791456"/>
            <a:ext cx="3017520" cy="6400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Placebo group or outcome</a:t>
            </a:r>
            <a:endParaRPr lang="en-US" sz="1800" dirty="0"/>
          </a:p>
        </p:txBody>
      </p:sp>
      <p:sp>
        <p:nvSpPr>
          <p:cNvPr id="19" name="text-114"/>
          <p:cNvSpPr txBox="1"/>
          <p:nvPr/>
        </p:nvSpPr>
        <p:spPr>
          <a:xfrm>
            <a:off x="4389120" y="4791456"/>
            <a:ext cx="7223760" cy="822960"/>
          </a:xfrm>
          <a:prstGeom prst="rect">
            <a:avLst/>
          </a:prstGeom>
          <a:noFill/>
          <a:ln/>
        </p:spPr>
        <p:txBody>
          <a:bodyPr wrap="square" lIns="0" tIns="0" rIns="0" bIns="0" rtlCol="0" anchor="ctr"/>
          <a:lstStyle/>
          <a:p>
            <a:pPr marL="0" indent="0">
              <a:buNone/>
            </a:pPr>
            <a:r>
              <a:rPr lang="en-US" sz="1500" dirty="0">
                <a:solidFill>
                  <a:schemeClr val="tx1"/>
                </a:solidFill>
              </a:rPr>
              <a:t>Run the same DiD on groups or outcomes the policy couldn't have touched. Example: two untreated Pennsylvania regions.</a:t>
            </a:r>
            <a:endParaRPr lang="en-US" sz="1500" dirty="0"/>
          </a:p>
        </p:txBody>
      </p:sp>
      <p:sp>
        <p:nvSpPr>
          <p:cNvPr id="20" name="text-115"/>
          <p:cNvSpPr txBox="1"/>
          <p:nvPr/>
        </p:nvSpPr>
        <p:spPr>
          <a:xfrm>
            <a:off x="548640" y="5623560"/>
            <a:ext cx="11064240" cy="457200"/>
          </a:xfrm>
          <a:prstGeom prst="rect">
            <a:avLst/>
          </a:prstGeom>
          <a:noFill/>
          <a:ln/>
        </p:spPr>
        <p:txBody>
          <a:bodyPr wrap="square" lIns="0" tIns="0" rIns="0" bIns="0" rtlCol="0" anchor="t"/>
          <a:lstStyle/>
          <a:p>
            <a:pPr marL="0" indent="0">
              <a:buNone/>
            </a:pPr>
            <a:r>
              <a:rPr lang="en-US" sz="1400" i="1" dirty="0">
                <a:solidFill>
                  <a:schemeClr val="accent3"/>
                </a:solidFill>
              </a:rPr>
              <a:t>None of these proves the assumption: they test the before period. Card and Krueger had one period before the law, so they could do almost none of this.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THE EFFECT 18.1–18.2 · KESSLER &amp; ROTH (2014)</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A study where you can see the trends before treatment</a:t>
            </a:r>
            <a:endParaRPr lang="en-US" sz="2800" dirty="0"/>
          </a:p>
        </p:txBody>
      </p:sp>
      <p:graphicFrame>
        <p:nvGraphicFramePr>
          <p:cNvPr id="4" name="organ-chart"/>
          <p:cNvGraphicFramePr/>
          <p:nvPr/>
        </p:nvGraphicFramePr>
        <p:xfrm>
          <a:off x="548640" y="146304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116"/>
          <p:cNvSpPr/>
          <p:nvPr/>
        </p:nvSpPr>
        <p:spPr>
          <a:xfrm>
            <a:off x="7863840" y="1463040"/>
            <a:ext cx="3749040" cy="4480560"/>
          </a:xfrm>
          <a:prstGeom prst="rect">
            <a:avLst/>
          </a:prstGeom>
          <a:solidFill>
            <a:schemeClr val="bg2"/>
          </a:solidFill>
          <a:ln/>
        </p:spPr>
        <p:txBody>
          <a:bodyPr/>
          <a:lstStyle/>
          <a:p>
            <a:endParaRPr lang="en-US"/>
          </a:p>
        </p:txBody>
      </p:sp>
      <p:sp>
        <p:nvSpPr>
          <p:cNvPr id="6" name="text-117"/>
          <p:cNvSpPr txBox="1"/>
          <p:nvPr/>
        </p:nvSpPr>
        <p:spPr>
          <a:xfrm>
            <a:off x="8138160" y="1645920"/>
            <a:ext cx="3291840" cy="4114800"/>
          </a:xfrm>
          <a:prstGeom prst="rect">
            <a:avLst/>
          </a:prstGeom>
          <a:noFill/>
          <a:ln/>
        </p:spPr>
        <p:txBody>
          <a:bodyPr wrap="square" lIns="0" tIns="0" rIns="0" bIns="0" rtlCol="0" anchor="t"/>
          <a:lstStyle/>
          <a:p>
            <a:pPr marL="0" indent="0">
              <a:buNone/>
            </a:pPr>
            <a:r>
              <a:rPr lang="en-US" sz="1500" b="1" dirty="0">
                <a:solidFill>
                  <a:schemeClr val="tx2"/>
                </a:solidFill>
              </a:rPr>
              <a:t>The policy</a:t>
            </a:r>
            <a:endParaRPr lang="en-US" sz="1500" dirty="0"/>
          </a:p>
          <a:p>
            <a:pPr marL="0" indent="0">
              <a:buNone/>
            </a:pPr>
            <a:r>
              <a:rPr lang="en-US" sz="1500" dirty="0">
                <a:solidFill>
                  <a:schemeClr val="tx1"/>
                </a:solidFill>
              </a:rPr>
              <a:t>In July 2011 California's license form switched to active choice: applicants must answer yes or no to registering as a donor.</a:t>
            </a:r>
            <a:endParaRPr lang="en-US" sz="1500" dirty="0"/>
          </a:p>
          <a:p>
            <a:pPr marL="0" indent="0">
              <a:buNone/>
            </a:pPr>
            <a:r>
              <a:rPr lang="en-US" sz="800" dirty="0">
                <a:solidFill>
                  <a:schemeClr val="tx1"/>
                </a:solidFill>
              </a:rPr>
              <a:t> </a:t>
            </a:r>
            <a:endParaRPr lang="en-US" sz="1500" dirty="0"/>
          </a:p>
          <a:p>
            <a:pPr marL="0" indent="0">
              <a:buNone/>
            </a:pPr>
            <a:r>
              <a:rPr lang="en-US" sz="1500" b="1" dirty="0">
                <a:solidFill>
                  <a:schemeClr val="tx2"/>
                </a:solidFill>
              </a:rPr>
              <a:t>Three quarters before, three after</a:t>
            </a:r>
            <a:endParaRPr lang="en-US" sz="1500" dirty="0"/>
          </a:p>
          <a:p>
            <a:pPr marL="0" indent="0">
              <a:buNone/>
            </a:pPr>
            <a:r>
              <a:rPr lang="en-US" sz="1500" dirty="0">
                <a:solidFill>
                  <a:schemeClr val="tx1"/>
                </a:solidFill>
              </a:rPr>
              <a:t>Before Q3 2011 the lines are roughly parallel; after, California falls while the others rise.</a:t>
            </a:r>
            <a:endParaRPr lang="en-US" sz="1500" dirty="0"/>
          </a:p>
          <a:p>
            <a:pPr marL="0" indent="0">
              <a:buNone/>
            </a:pPr>
            <a:r>
              <a:rPr lang="en-US" sz="800" dirty="0">
                <a:solidFill>
                  <a:schemeClr val="tx1"/>
                </a:solidFill>
              </a:rPr>
              <a:t> </a:t>
            </a:r>
            <a:endParaRPr lang="en-US" sz="1500" dirty="0"/>
          </a:p>
          <a:p>
            <a:pPr marL="0" indent="0">
              <a:buNone/>
            </a:pPr>
            <a:r>
              <a:rPr lang="en-US" sz="1500" b="1" dirty="0">
                <a:solidFill>
                  <a:schemeClr val="accent3"/>
                </a:solidFill>
              </a:rPr>
              <a:t>DiD: −2.2 points (SE 0.6)</a:t>
            </a:r>
            <a:endParaRPr lang="en-US" sz="1500" dirty="0"/>
          </a:p>
        </p:txBody>
      </p:sp>
      <p:sp>
        <p:nvSpPr>
          <p:cNvPr id="7" name="text-118"/>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Data: organ_donations (causaldata package), from Kessler &amp; Roth (2014); the worked example in The Effect, ch. 18. Lab 7, Part 3.</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FROM ONE NUMBER TO AN EVENT STUDY</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Event study: one difference-in-differences per period</a:t>
            </a:r>
            <a:endParaRPr lang="en-US" sz="2800" dirty="0"/>
          </a:p>
        </p:txBody>
      </p:sp>
      <p:graphicFrame>
        <p:nvGraphicFramePr>
          <p:cNvPr id="4" name="event-chart"/>
          <p:cNvGraphicFramePr/>
          <p:nvPr/>
        </p:nvGraphicFramePr>
        <p:xfrm>
          <a:off x="548640" y="146304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119"/>
          <p:cNvSpPr/>
          <p:nvPr/>
        </p:nvSpPr>
        <p:spPr>
          <a:xfrm>
            <a:off x="7863840" y="1463040"/>
            <a:ext cx="3749040" cy="4480560"/>
          </a:xfrm>
          <a:prstGeom prst="rect">
            <a:avLst/>
          </a:prstGeom>
          <a:solidFill>
            <a:schemeClr val="bg2"/>
          </a:solidFill>
          <a:ln/>
        </p:spPr>
        <p:txBody>
          <a:bodyPr/>
          <a:lstStyle/>
          <a:p>
            <a:endParaRPr lang="en-US"/>
          </a:p>
        </p:txBody>
      </p:sp>
      <p:sp>
        <p:nvSpPr>
          <p:cNvPr id="6" name="text-120"/>
          <p:cNvSpPr txBox="1"/>
          <p:nvPr/>
        </p:nvSpPr>
        <p:spPr>
          <a:xfrm>
            <a:off x="8138160" y="1645920"/>
            <a:ext cx="3291840" cy="4114800"/>
          </a:xfrm>
          <a:prstGeom prst="rect">
            <a:avLst/>
          </a:prstGeom>
          <a:noFill/>
          <a:ln/>
        </p:spPr>
        <p:txBody>
          <a:bodyPr wrap="square" lIns="0" tIns="0" rIns="0" bIns="0" rtlCol="0" anchor="t"/>
          <a:lstStyle/>
          <a:p>
            <a:pPr marL="0" indent="0">
              <a:buNone/>
            </a:pPr>
            <a:r>
              <a:rPr lang="en-US" sz="1500" b="1" dirty="0">
                <a:solidFill>
                  <a:schemeClr val="tx2"/>
                </a:solidFill>
              </a:rPr>
              <a:t>How to read it</a:t>
            </a:r>
            <a:endParaRPr lang="en-US" sz="1500" dirty="0"/>
          </a:p>
          <a:p>
            <a:pPr marL="0" indent="0">
              <a:buNone/>
            </a:pPr>
            <a:r>
              <a:rPr lang="en-US" sz="1500" dirty="0">
                <a:solidFill>
                  <a:schemeClr val="tx1"/>
                </a:solidFill>
              </a:rPr>
              <a:t>Each bar is a 2 × 2 comparing that quarter with Q2 2011.</a:t>
            </a:r>
            <a:endParaRPr lang="en-US" sz="1500" dirty="0"/>
          </a:p>
          <a:p>
            <a:pPr marL="0" indent="0">
              <a:buNone/>
            </a:pPr>
            <a:r>
              <a:rPr lang="en-US" sz="800" dirty="0">
                <a:solidFill>
                  <a:schemeClr val="tx1"/>
                </a:solidFill>
              </a:rPr>
              <a:t> </a:t>
            </a:r>
            <a:endParaRPr lang="en-US" sz="1500" dirty="0"/>
          </a:p>
          <a:p>
            <a:pPr marL="0" indent="0">
              <a:buNone/>
            </a:pPr>
            <a:r>
              <a:rPr lang="en-US" sz="1500" dirty="0">
                <a:solidFill>
                  <a:schemeClr val="tx1"/>
                </a:solidFill>
              </a:rPr>
              <a:t>Before (leads): −0.3 and +0.6 points. Small, so no sign of diverging trends.</a:t>
            </a:r>
            <a:endParaRPr lang="en-US" sz="1500" dirty="0"/>
          </a:p>
          <a:p>
            <a:pPr marL="0" indent="0">
              <a:buNone/>
            </a:pPr>
            <a:r>
              <a:rPr lang="en-US" sz="800" dirty="0">
                <a:solidFill>
                  <a:schemeClr val="tx1"/>
                </a:solidFill>
              </a:rPr>
              <a:t> </a:t>
            </a:r>
            <a:endParaRPr lang="en-US" sz="1500" dirty="0"/>
          </a:p>
          <a:p>
            <a:pPr marL="0" indent="0">
              <a:buNone/>
            </a:pPr>
            <a:r>
              <a:rPr lang="en-US" sz="1500" dirty="0">
                <a:solidFill>
                  <a:schemeClr val="tx1"/>
                </a:solidFill>
              </a:rPr>
              <a:t>After (lags): about −2 points, and it stays there. The effect is immediate and lasting.</a:t>
            </a:r>
            <a:endParaRPr lang="en-US" sz="1500" dirty="0"/>
          </a:p>
          <a:p>
            <a:pPr marL="0" indent="0">
              <a:buNone/>
            </a:pPr>
            <a:r>
              <a:rPr lang="en-US" sz="800" dirty="0">
                <a:solidFill>
                  <a:schemeClr val="tx1"/>
                </a:solidFill>
              </a:rPr>
              <a:t> </a:t>
            </a:r>
            <a:endParaRPr lang="en-US" sz="1500" dirty="0"/>
          </a:p>
          <a:p>
            <a:pPr marL="0" indent="0">
              <a:buNone/>
            </a:pPr>
            <a:r>
              <a:rPr lang="en-US" sz="1500" i="1" dirty="0">
                <a:solidFill>
                  <a:schemeClr val="accent5"/>
                </a:solidFill>
              </a:rPr>
              <a:t>Next week: event studies with staggered timing (Legewie &amp; Fagan).</a:t>
            </a:r>
            <a:endParaRPr lang="en-US" sz="1500" dirty="0"/>
          </a:p>
        </p:txBody>
      </p:sp>
      <p:sp>
        <p:nvSpPr>
          <p:cNvPr id="7" name="text-121"/>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feols(Rate ~ i(quarter, california, ref = "Q22011") | State + Quarter, cluster = ~ State). The Effect 18.2.3–18.2.4.</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THE EFFECT 18.2.5 AND INFERENCE</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Controls and standard errors in difference-in-differences</a:t>
            </a:r>
            <a:endParaRPr lang="en-US" sz="2800" dirty="0"/>
          </a:p>
        </p:txBody>
      </p:sp>
      <p:sp>
        <p:nvSpPr>
          <p:cNvPr id="4" name="card-122"/>
          <p:cNvSpPr/>
          <p:nvPr/>
        </p:nvSpPr>
        <p:spPr>
          <a:xfrm>
            <a:off x="548640" y="1508760"/>
            <a:ext cx="5440680" cy="4297680"/>
          </a:xfrm>
          <a:prstGeom prst="rect">
            <a:avLst/>
          </a:prstGeom>
          <a:solidFill>
            <a:schemeClr val="bg2"/>
          </a:solidFill>
          <a:ln/>
        </p:spPr>
        <p:txBody>
          <a:bodyPr/>
          <a:lstStyle/>
          <a:p>
            <a:endParaRPr lang="en-US"/>
          </a:p>
        </p:txBody>
      </p:sp>
      <p:sp>
        <p:nvSpPr>
          <p:cNvPr id="5" name="text-123"/>
          <p:cNvSpPr txBox="1"/>
          <p:nvPr/>
        </p:nvSpPr>
        <p:spPr>
          <a:xfrm>
            <a:off x="822960" y="1691640"/>
            <a:ext cx="4937760" cy="411480"/>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Controls</a:t>
            </a:r>
            <a:endParaRPr lang="en-US" sz="2000" dirty="0"/>
          </a:p>
        </p:txBody>
      </p:sp>
      <p:sp>
        <p:nvSpPr>
          <p:cNvPr id="6" name="text-124"/>
          <p:cNvSpPr txBox="1"/>
          <p:nvPr/>
        </p:nvSpPr>
        <p:spPr>
          <a:xfrm>
            <a:off x="822960" y="2286000"/>
            <a:ext cx="4937760" cy="34747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Fixed effects already handle stable group traits and common shocks. Most controls add little.</a:t>
            </a:r>
            <a:endParaRPr lang="en-US" sz="1800" dirty="0"/>
          </a:p>
          <a:p>
            <a:pPr marL="342900" indent="-342900">
              <a:spcAft>
                <a:spcPts val="1400"/>
              </a:spcAft>
              <a:buSzPct val="100000"/>
              <a:buChar char="•"/>
            </a:pPr>
            <a:r>
              <a:rPr lang="en-US" sz="1800" dirty="0">
                <a:solidFill>
                  <a:schemeClr val="tx1"/>
                </a:solidFill>
              </a:rPr>
              <a:t>Never control for something the treatment could change (Week 2: bad controls). In Card and Krueger, that's a store's wage after the law.</a:t>
            </a:r>
            <a:endParaRPr lang="en-US" sz="1800" dirty="0"/>
          </a:p>
          <a:p>
            <a:pPr marL="342900" indent="-342900">
              <a:spcAft>
                <a:spcPts val="1400"/>
              </a:spcAft>
              <a:buSzPct val="100000"/>
              <a:buChar char="•"/>
            </a:pPr>
            <a:r>
              <a:rPr lang="en-US" sz="1800" dirty="0">
                <a:solidFill>
                  <a:schemeClr val="tx1"/>
                </a:solidFill>
              </a:rPr>
              <a:t>A control earns its place if it changes differently across groups over time and isn't caused by the treatment.</a:t>
            </a:r>
            <a:endParaRPr lang="en-US" sz="1800" dirty="0"/>
          </a:p>
        </p:txBody>
      </p:sp>
      <p:sp>
        <p:nvSpPr>
          <p:cNvPr id="7" name="card-125"/>
          <p:cNvSpPr/>
          <p:nvPr/>
        </p:nvSpPr>
        <p:spPr>
          <a:xfrm>
            <a:off x="6172200" y="1508760"/>
            <a:ext cx="5440680" cy="4297680"/>
          </a:xfrm>
          <a:prstGeom prst="rect">
            <a:avLst/>
          </a:prstGeom>
          <a:solidFill>
            <a:schemeClr val="bg2"/>
          </a:solidFill>
          <a:ln/>
        </p:spPr>
        <p:txBody>
          <a:bodyPr/>
          <a:lstStyle/>
          <a:p>
            <a:endParaRPr lang="en-US"/>
          </a:p>
        </p:txBody>
      </p:sp>
      <p:sp>
        <p:nvSpPr>
          <p:cNvPr id="8" name="text-126"/>
          <p:cNvSpPr txBox="1"/>
          <p:nvPr/>
        </p:nvSpPr>
        <p:spPr>
          <a:xfrm>
            <a:off x="6446520" y="1691640"/>
            <a:ext cx="4937760" cy="411480"/>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Standard errors</a:t>
            </a:r>
            <a:endParaRPr lang="en-US" sz="2000" dirty="0"/>
          </a:p>
        </p:txBody>
      </p:sp>
      <p:sp>
        <p:nvSpPr>
          <p:cNvPr id="9" name="text-127"/>
          <p:cNvSpPr txBox="1"/>
          <p:nvPr/>
        </p:nvSpPr>
        <p:spPr>
          <a:xfrm>
            <a:off x="6446520" y="2286000"/>
            <a:ext cx="4937760" cy="34747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Cluster at the level treatment is assigned: store or state, not observation.</a:t>
            </a:r>
            <a:endParaRPr lang="en-US" sz="1800" dirty="0"/>
          </a:p>
          <a:p>
            <a:pPr marL="342900" indent="-342900">
              <a:spcAft>
                <a:spcPts val="1400"/>
              </a:spcAft>
              <a:buSzPct val="100000"/>
              <a:buChar char="•"/>
            </a:pPr>
            <a:r>
              <a:rPr lang="en-US" sz="1800" dirty="0">
                <a:solidFill>
                  <a:schemeClr val="tx1"/>
                </a:solidFill>
              </a:rPr>
              <a:t>Repeated observations of the same unit are correlated, so ordinary SEs are too small.</a:t>
            </a:r>
            <a:endParaRPr lang="en-US" sz="1800" dirty="0"/>
          </a:p>
          <a:p>
            <a:pPr marL="342900" indent="-342900">
              <a:spcAft>
                <a:spcPts val="1400"/>
              </a:spcAft>
              <a:buSzPct val="100000"/>
              <a:buChar char="•"/>
            </a:pPr>
            <a:r>
              <a:rPr lang="en-US" sz="1800" dirty="0">
                <a:solidFill>
                  <a:schemeClr val="tx1"/>
                </a:solidFill>
              </a:rPr>
              <a:t>Clustering needs many clusters. With one treated state, or three search terms, clustered SEs aren't reliable (Homework 5, Q10).</a:t>
            </a:r>
            <a:endParaRPr lang="en-US" sz="1800" dirty="0"/>
          </a:p>
        </p:txBody>
      </p:sp>
      <p:sp>
        <p:nvSpPr>
          <p:cNvPr id="10" name="text-128"/>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The Effect 18.2.5; Bertrand, Duflo &amp; Mullainathan (2004) on serial correlation in DiD standard errors.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THE EFFECT 18.2.6: ROLLOUT DESIGNS</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When treatment rolls out at different times</a:t>
            </a:r>
            <a:endParaRPr lang="en-US" sz="2800" dirty="0"/>
          </a:p>
        </p:txBody>
      </p:sp>
      <p:graphicFrame>
        <p:nvGraphicFramePr>
          <p:cNvPr id="18" name="rollout-table"/>
          <p:cNvGraphicFramePr>
            <a:graphicFrameLocks noGrp="1"/>
          </p:cNvGraphicFramePr>
          <p:nvPr>
            <p:extLst>
              <p:ext uri="{D42A27DB-BD31-4B8C-83A1-F6EECF244321}">
                <p14:modId xmlns:p14="http://schemas.microsoft.com/office/powerpoint/2010/main" val="1579011935"/>
              </p:ext>
            </p:extLst>
          </p:nvPr>
        </p:nvGraphicFramePr>
        <p:xfrm>
          <a:off x="548640" y="1554480"/>
          <a:ext cx="64008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566928">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Broadband arrives</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2000</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2001</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2002</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2003</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2004</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0274D"/>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A1A2E"/>
                          </a:solidFill>
                          <a:latin typeface="Calibri" pitchFamily="34" charset="0"/>
                          <a:ea typeface="Calibri" pitchFamily="34" charset="-122"/>
                          <a:cs typeface="Calibri" pitchFamily="34" charset="-120"/>
                        </a:rPr>
                        <a:t>King County (2001)</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dirty="0">
                          <a:solidFill>
                            <a:srgbClr val="5B617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4F8C"/>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4F8C"/>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4F8C"/>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4F8C"/>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A1A2E"/>
                          </a:solidFill>
                          <a:latin typeface="Calibri" pitchFamily="34" charset="0"/>
                          <a:ea typeface="Calibri" pitchFamily="34" charset="-122"/>
                          <a:cs typeface="Calibri" pitchFamily="34" charset="-120"/>
                        </a:rPr>
                        <a:t>Pierce County (2002)</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dirty="0">
                          <a:solidFill>
                            <a:srgbClr val="5B617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dirty="0">
                          <a:solidFill>
                            <a:srgbClr val="5B617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4F8C"/>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4F8C"/>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4F8C"/>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A1A2E"/>
                          </a:solidFill>
                          <a:latin typeface="Calibri" pitchFamily="34" charset="0"/>
                          <a:ea typeface="Calibri" pitchFamily="34" charset="-122"/>
                          <a:cs typeface="Calibri" pitchFamily="34" charset="-120"/>
                        </a:rPr>
                        <a:t>Snohomish County (2003)</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dirty="0">
                          <a:solidFill>
                            <a:srgbClr val="5B617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dirty="0">
                          <a:solidFill>
                            <a:srgbClr val="5B617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dirty="0">
                          <a:solidFill>
                            <a:srgbClr val="5B617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4F8C"/>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4F8C"/>
                    </a:solidFill>
                  </a:tcPr>
                </a:tc>
                <a:extLst>
                  <a:ext uri="{0D108BD9-81ED-4DB2-BD59-A6C34878D82A}">
                    <a16:rowId xmlns:a16="http://schemas.microsoft.com/office/drawing/2014/main" val="10003"/>
                  </a:ext>
                </a:extLst>
              </a:tr>
            </a:tbl>
          </a:graphicData>
        </a:graphic>
      </p:graphicFrame>
      <p:sp>
        <p:nvSpPr>
          <p:cNvPr id="5" name="text-129"/>
          <p:cNvSpPr txBox="1"/>
          <p:nvPr/>
        </p:nvSpPr>
        <p:spPr>
          <a:xfrm>
            <a:off x="548640" y="4023360"/>
            <a:ext cx="6400800" cy="1097280"/>
          </a:xfrm>
          <a:prstGeom prst="rect">
            <a:avLst/>
          </a:prstGeom>
          <a:noFill/>
          <a:ln/>
        </p:spPr>
        <p:txBody>
          <a:bodyPr wrap="square" lIns="0" tIns="0" rIns="0" bIns="0" rtlCol="0" anchor="t"/>
          <a:lstStyle/>
          <a:p>
            <a:pPr marL="0" indent="0">
              <a:buNone/>
            </a:pPr>
            <a:r>
              <a:rPr lang="en-US" sz="1500" dirty="0">
                <a:solidFill>
                  <a:schemeClr val="tx1"/>
                </a:solidFill>
              </a:rPr>
              <a:t>The book's example: outcome = new businesses formed. Each county's own before/after is a fine DiD. The trouble starts when you pool them in one two-way fixed-effects regression.</a:t>
            </a:r>
            <a:endParaRPr lang="en-US" sz="1500" dirty="0"/>
          </a:p>
        </p:txBody>
      </p:sp>
      <p:sp>
        <p:nvSpPr>
          <p:cNvPr id="6" name="card-130"/>
          <p:cNvSpPr/>
          <p:nvPr/>
        </p:nvSpPr>
        <p:spPr>
          <a:xfrm>
            <a:off x="7315200" y="1554480"/>
            <a:ext cx="4297680" cy="4251960"/>
          </a:xfrm>
          <a:prstGeom prst="rect">
            <a:avLst/>
          </a:prstGeom>
          <a:solidFill>
            <a:schemeClr val="bg2"/>
          </a:solidFill>
          <a:ln/>
        </p:spPr>
        <p:txBody>
          <a:bodyPr/>
          <a:lstStyle/>
          <a:p>
            <a:endParaRPr lang="en-US"/>
          </a:p>
        </p:txBody>
      </p:sp>
      <p:sp>
        <p:nvSpPr>
          <p:cNvPr id="7" name="text-131"/>
          <p:cNvSpPr txBox="1"/>
          <p:nvPr/>
        </p:nvSpPr>
        <p:spPr>
          <a:xfrm>
            <a:off x="7589520" y="1737360"/>
            <a:ext cx="3840480" cy="393192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What two-way FE quietly does</a:t>
            </a:r>
            <a:endParaRPr lang="en-US" sz="1400" dirty="0"/>
          </a:p>
          <a:p>
            <a:pPr marL="0" indent="0">
              <a:buNone/>
            </a:pPr>
            <a:r>
              <a:rPr lang="en-US" sz="600" dirty="0">
                <a:solidFill>
                  <a:schemeClr val="tx1"/>
                </a:solidFill>
              </a:rPr>
              <a:t> </a:t>
            </a:r>
            <a:endParaRPr lang="en-US" sz="1400" dirty="0"/>
          </a:p>
          <a:p>
            <a:pPr marL="0" indent="0">
              <a:buNone/>
            </a:pPr>
            <a:r>
              <a:rPr lang="en-US" sz="1400" b="1" dirty="0">
                <a:solidFill>
                  <a:schemeClr val="accent2"/>
                </a:solidFill>
              </a:rPr>
              <a:t>OK: Pierce in 2002 vs. Snohomish (not yet treated).</a:t>
            </a:r>
            <a:endParaRPr lang="en-US" sz="1400" dirty="0"/>
          </a:p>
          <a:p>
            <a:pPr marL="0" indent="0">
              <a:buNone/>
            </a:pPr>
            <a:r>
              <a:rPr lang="en-US" sz="600" dirty="0">
                <a:solidFill>
                  <a:schemeClr val="tx1"/>
                </a:solidFill>
              </a:rPr>
              <a:t> </a:t>
            </a:r>
            <a:endParaRPr lang="en-US" sz="1400" dirty="0"/>
          </a:p>
          <a:p>
            <a:pPr marL="0" indent="0">
              <a:buNone/>
            </a:pPr>
            <a:r>
              <a:rPr lang="en-US" sz="1400" b="1" dirty="0">
                <a:solidFill>
                  <a:schemeClr val="accent3"/>
                </a:solidFill>
              </a:rPr>
              <a:t>Problem: Snohomish in 2003 vs. King and Pierce, which are already treated.</a:t>
            </a:r>
            <a:endParaRPr lang="en-US" sz="1400" dirty="0"/>
          </a:p>
          <a:p>
            <a:pPr marL="0" indent="0">
              <a:buNone/>
            </a:pPr>
            <a:r>
              <a:rPr lang="en-US" sz="600" dirty="0">
                <a:solidFill>
                  <a:schemeClr val="tx1"/>
                </a:solidFill>
              </a:rPr>
              <a:t> </a:t>
            </a:r>
            <a:endParaRPr lang="en-US" sz="1400" dirty="0"/>
          </a:p>
          <a:p>
            <a:pPr marL="0" indent="0">
              <a:buNone/>
            </a:pPr>
            <a:r>
              <a:rPr lang="en-US" sz="1400" dirty="0">
                <a:solidFill>
                  <a:schemeClr val="tx1"/>
                </a:solidFill>
              </a:rPr>
              <a:t>If broadband's effect keeps growing, King and Pierce are still changing because of treatment, so they're not a clean "untreated" trend. The estimate can be badly off, even negative when every county benefits.</a:t>
            </a:r>
            <a:endParaRPr lang="en-US" sz="1400" dirty="0"/>
          </a:p>
        </p:txBody>
      </p:sp>
      <p:sp>
        <p:nvSpPr>
          <p:cNvPr id="8" name="text-132"/>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Huntington-Klein calls this "the secret shame of econometrics" (The Effect 18.2.6). Goodman-Bacon (2021).</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144000" cy="274320"/>
          </a:xfrm>
          <a:prstGeom prst="rect">
            <a:avLst/>
          </a:prstGeom>
          <a:noFill/>
          <a:ln/>
        </p:spPr>
        <p:txBody>
          <a:bodyPr wrap="square" rtlCol="0" anchor="ctr"/>
          <a:lstStyle/>
          <a:p>
            <a:pPr marL="0" indent="0">
              <a:buNone/>
            </a:pPr>
            <a:r>
              <a:rPr lang="en-US" sz="1000" b="1" kern="0" spc="150" dirty="0">
                <a:solidFill>
                  <a:schemeClr val="accent1"/>
                </a:solidFill>
              </a:rPr>
              <a:t>THE EFFECT 18.3.1: DOING IT RIGHT</a:t>
            </a:r>
            <a:endParaRPr lang="en-US" sz="10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Fixes for staggered timing, and next week</a:t>
            </a:r>
            <a:endParaRPr lang="en-US" sz="2800" dirty="0"/>
          </a:p>
        </p:txBody>
      </p:sp>
      <p:sp>
        <p:nvSpPr>
          <p:cNvPr id="4" name="num-133"/>
          <p:cNvSpPr/>
          <p:nvPr/>
        </p:nvSpPr>
        <p:spPr>
          <a:xfrm>
            <a:off x="640080" y="1645920"/>
            <a:ext cx="438912" cy="438912"/>
          </a:xfrm>
          <a:prstGeom prst="ellipse">
            <a:avLst/>
          </a:prstGeom>
          <a:solidFill>
            <a:schemeClr val="accent1"/>
          </a:solidFill>
          <a:ln/>
        </p:spPr>
        <p:txBody>
          <a:bodyPr/>
          <a:lstStyle/>
          <a:p>
            <a:endParaRPr lang="en-US"/>
          </a:p>
        </p:txBody>
      </p:sp>
      <p:sp>
        <p:nvSpPr>
          <p:cNvPr id="5" name="numtxt-134"/>
          <p:cNvSpPr txBox="1"/>
          <p:nvPr/>
        </p:nvSpPr>
        <p:spPr>
          <a:xfrm>
            <a:off x="640080" y="1645920"/>
            <a:ext cx="438912" cy="438912"/>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6" name="text-135"/>
          <p:cNvSpPr txBox="1"/>
          <p:nvPr/>
        </p:nvSpPr>
        <p:spPr>
          <a:xfrm>
            <a:off x="1280160" y="1508760"/>
            <a:ext cx="2377440" cy="77724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Diagnose</a:t>
            </a:r>
            <a:endParaRPr lang="en-US" sz="1600" dirty="0"/>
          </a:p>
        </p:txBody>
      </p:sp>
      <p:sp>
        <p:nvSpPr>
          <p:cNvPr id="7" name="text-136"/>
          <p:cNvSpPr txBox="1"/>
          <p:nvPr/>
        </p:nvSpPr>
        <p:spPr>
          <a:xfrm>
            <a:off x="3703320" y="1508760"/>
            <a:ext cx="3657600" cy="868680"/>
          </a:xfrm>
          <a:prstGeom prst="rect">
            <a:avLst/>
          </a:prstGeom>
          <a:noFill/>
          <a:ln/>
        </p:spPr>
        <p:txBody>
          <a:bodyPr wrap="square" lIns="0" tIns="0" rIns="0" bIns="0" rtlCol="0" anchor="ctr"/>
          <a:lstStyle/>
          <a:p>
            <a:pPr marL="0" indent="0">
              <a:buNone/>
            </a:pPr>
            <a:r>
              <a:rPr lang="en-US" sz="1300" dirty="0">
                <a:solidFill>
                  <a:schemeClr val="tx1"/>
                </a:solidFill>
              </a:rPr>
              <a:t>Goodman-Bacon decomposition: how much of the estimate comes from already-treated controls?</a:t>
            </a:r>
            <a:endParaRPr lang="en-US" sz="1300" dirty="0"/>
          </a:p>
        </p:txBody>
      </p:sp>
      <p:sp>
        <p:nvSpPr>
          <p:cNvPr id="8" name="text-137"/>
          <p:cNvSpPr txBox="1"/>
          <p:nvPr/>
        </p:nvSpPr>
        <p:spPr>
          <a:xfrm>
            <a:off x="3703320" y="2258568"/>
            <a:ext cx="3657600" cy="228600"/>
          </a:xfrm>
          <a:prstGeom prst="rect">
            <a:avLst/>
          </a:prstGeom>
          <a:noFill/>
          <a:ln/>
        </p:spPr>
        <p:txBody>
          <a:bodyPr wrap="square" lIns="0" tIns="0" rIns="0" bIns="0" rtlCol="0" anchor="t"/>
          <a:lstStyle/>
          <a:p>
            <a:pPr marL="0" indent="0">
              <a:buNone/>
            </a:pPr>
            <a:r>
              <a:rPr lang="en-US" sz="1100" dirty="0">
                <a:solidFill>
                  <a:schemeClr val="accent5"/>
                </a:solidFill>
                <a:latin typeface="Consolas" pitchFamily="34" charset="0"/>
                <a:ea typeface="Consolas" pitchFamily="34" charset="-122"/>
                <a:cs typeface="Consolas" pitchFamily="34" charset="-120"/>
              </a:rPr>
              <a:t>R: bacondecomp</a:t>
            </a:r>
            <a:endParaRPr lang="en-US" sz="1100" dirty="0"/>
          </a:p>
        </p:txBody>
      </p:sp>
      <p:sp>
        <p:nvSpPr>
          <p:cNvPr id="9" name="num-138"/>
          <p:cNvSpPr/>
          <p:nvPr/>
        </p:nvSpPr>
        <p:spPr>
          <a:xfrm>
            <a:off x="640080" y="2670048"/>
            <a:ext cx="438912" cy="438912"/>
          </a:xfrm>
          <a:prstGeom prst="ellipse">
            <a:avLst/>
          </a:prstGeom>
          <a:solidFill>
            <a:schemeClr val="accent1"/>
          </a:solidFill>
          <a:ln/>
        </p:spPr>
        <p:txBody>
          <a:bodyPr/>
          <a:lstStyle/>
          <a:p>
            <a:endParaRPr lang="en-US"/>
          </a:p>
        </p:txBody>
      </p:sp>
      <p:sp>
        <p:nvSpPr>
          <p:cNvPr id="10" name="numtxt-139"/>
          <p:cNvSpPr txBox="1"/>
          <p:nvPr/>
        </p:nvSpPr>
        <p:spPr>
          <a:xfrm>
            <a:off x="640080" y="2670048"/>
            <a:ext cx="438912" cy="438912"/>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text-140"/>
          <p:cNvSpPr txBox="1"/>
          <p:nvPr/>
        </p:nvSpPr>
        <p:spPr>
          <a:xfrm>
            <a:off x="1280160" y="2532888"/>
            <a:ext cx="2377440" cy="77724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Compare cohorts only to clean controls</a:t>
            </a:r>
            <a:endParaRPr lang="en-US" sz="1600" dirty="0"/>
          </a:p>
        </p:txBody>
      </p:sp>
      <p:sp>
        <p:nvSpPr>
          <p:cNvPr id="12" name="text-141"/>
          <p:cNvSpPr txBox="1"/>
          <p:nvPr/>
        </p:nvSpPr>
        <p:spPr>
          <a:xfrm>
            <a:off x="3703320" y="2532888"/>
            <a:ext cx="3657600" cy="868680"/>
          </a:xfrm>
          <a:prstGeom prst="rect">
            <a:avLst/>
          </a:prstGeom>
          <a:noFill/>
          <a:ln/>
        </p:spPr>
        <p:txBody>
          <a:bodyPr wrap="square" lIns="0" tIns="0" rIns="0" bIns="0" rtlCol="0" anchor="ctr"/>
          <a:lstStyle/>
          <a:p>
            <a:pPr marL="0" indent="0">
              <a:buNone/>
            </a:pPr>
            <a:r>
              <a:rPr lang="en-US" sz="1300" dirty="0">
                <a:solidFill>
                  <a:schemeClr val="tx1"/>
                </a:solidFill>
              </a:rPr>
              <a:t>Callaway &amp; Sant'Anna: a separate DiD for each adoption cohort and year, using never- or not-yet-treated units, then average.</a:t>
            </a:r>
            <a:endParaRPr lang="en-US" sz="1300" dirty="0"/>
          </a:p>
        </p:txBody>
      </p:sp>
      <p:sp>
        <p:nvSpPr>
          <p:cNvPr id="13" name="text-142"/>
          <p:cNvSpPr txBox="1"/>
          <p:nvPr/>
        </p:nvSpPr>
        <p:spPr>
          <a:xfrm>
            <a:off x="3703320" y="3282696"/>
            <a:ext cx="3657600" cy="228600"/>
          </a:xfrm>
          <a:prstGeom prst="rect">
            <a:avLst/>
          </a:prstGeom>
          <a:noFill/>
          <a:ln/>
        </p:spPr>
        <p:txBody>
          <a:bodyPr wrap="square" lIns="0" tIns="0" rIns="0" bIns="0" rtlCol="0" anchor="t"/>
          <a:lstStyle/>
          <a:p>
            <a:pPr marL="0" indent="0">
              <a:buNone/>
            </a:pPr>
            <a:r>
              <a:rPr lang="en-US" sz="1100" dirty="0">
                <a:solidFill>
                  <a:schemeClr val="accent5"/>
                </a:solidFill>
                <a:latin typeface="Consolas" pitchFamily="34" charset="0"/>
                <a:ea typeface="Consolas" pitchFamily="34" charset="-122"/>
                <a:cs typeface="Consolas" pitchFamily="34" charset="-120"/>
              </a:rPr>
              <a:t>R: did</a:t>
            </a:r>
            <a:endParaRPr lang="en-US" sz="1100" dirty="0"/>
          </a:p>
        </p:txBody>
      </p:sp>
      <p:sp>
        <p:nvSpPr>
          <p:cNvPr id="14" name="num-143"/>
          <p:cNvSpPr/>
          <p:nvPr/>
        </p:nvSpPr>
        <p:spPr>
          <a:xfrm>
            <a:off x="640080" y="3694176"/>
            <a:ext cx="438912" cy="438912"/>
          </a:xfrm>
          <a:prstGeom prst="ellipse">
            <a:avLst/>
          </a:prstGeom>
          <a:solidFill>
            <a:schemeClr val="accent1"/>
          </a:solidFill>
          <a:ln/>
        </p:spPr>
        <p:txBody>
          <a:bodyPr/>
          <a:lstStyle/>
          <a:p>
            <a:endParaRPr lang="en-US"/>
          </a:p>
        </p:txBody>
      </p:sp>
      <p:sp>
        <p:nvSpPr>
          <p:cNvPr id="15" name="numtxt-144"/>
          <p:cNvSpPr txBox="1"/>
          <p:nvPr/>
        </p:nvSpPr>
        <p:spPr>
          <a:xfrm>
            <a:off x="640080" y="3694176"/>
            <a:ext cx="438912" cy="438912"/>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145"/>
          <p:cNvSpPr txBox="1"/>
          <p:nvPr/>
        </p:nvSpPr>
        <p:spPr>
          <a:xfrm>
            <a:off x="1280160" y="3557016"/>
            <a:ext cx="2377440" cy="77724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Model the dynamics</a:t>
            </a:r>
            <a:endParaRPr lang="en-US" sz="1600" dirty="0"/>
          </a:p>
        </p:txBody>
      </p:sp>
      <p:sp>
        <p:nvSpPr>
          <p:cNvPr id="17" name="text-146"/>
          <p:cNvSpPr txBox="1"/>
          <p:nvPr/>
        </p:nvSpPr>
        <p:spPr>
          <a:xfrm>
            <a:off x="3703320" y="3557016"/>
            <a:ext cx="3657600" cy="868680"/>
          </a:xfrm>
          <a:prstGeom prst="rect">
            <a:avLst/>
          </a:prstGeom>
          <a:noFill/>
          <a:ln/>
        </p:spPr>
        <p:txBody>
          <a:bodyPr wrap="square" lIns="0" tIns="0" rIns="0" bIns="0" rtlCol="0" anchor="ctr"/>
          <a:lstStyle/>
          <a:p>
            <a:pPr marL="0" indent="0">
              <a:buNone/>
            </a:pPr>
            <a:r>
              <a:rPr lang="en-US" sz="1300" dirty="0">
                <a:solidFill>
                  <a:schemeClr val="tx1"/>
                </a:solidFill>
              </a:rPr>
              <a:t>Sun &amp; Abraham; Wooldridge's extended two-way FE: interact treatment timing with cohort.</a:t>
            </a:r>
            <a:endParaRPr lang="en-US" sz="1300" dirty="0"/>
          </a:p>
        </p:txBody>
      </p:sp>
      <p:sp>
        <p:nvSpPr>
          <p:cNvPr id="18" name="text-147"/>
          <p:cNvSpPr txBox="1"/>
          <p:nvPr/>
        </p:nvSpPr>
        <p:spPr>
          <a:xfrm>
            <a:off x="3703320" y="4306824"/>
            <a:ext cx="3657600" cy="228600"/>
          </a:xfrm>
          <a:prstGeom prst="rect">
            <a:avLst/>
          </a:prstGeom>
          <a:noFill/>
          <a:ln/>
        </p:spPr>
        <p:txBody>
          <a:bodyPr wrap="square" lIns="0" tIns="0" rIns="0" bIns="0" rtlCol="0" anchor="t"/>
          <a:lstStyle/>
          <a:p>
            <a:pPr marL="0" indent="0">
              <a:buNone/>
            </a:pPr>
            <a:r>
              <a:rPr lang="en-US" sz="1100" dirty="0">
                <a:solidFill>
                  <a:schemeClr val="accent5"/>
                </a:solidFill>
                <a:latin typeface="Consolas" pitchFamily="34" charset="0"/>
                <a:ea typeface="Consolas" pitchFamily="34" charset="-122"/>
                <a:cs typeface="Consolas" pitchFamily="34" charset="-120"/>
              </a:rPr>
              <a:t>R: fixest::sunab, etwfe</a:t>
            </a:r>
            <a:endParaRPr lang="en-US" sz="1100" dirty="0"/>
          </a:p>
        </p:txBody>
      </p:sp>
      <p:sp>
        <p:nvSpPr>
          <p:cNvPr id="19" name="num-148"/>
          <p:cNvSpPr/>
          <p:nvPr/>
        </p:nvSpPr>
        <p:spPr>
          <a:xfrm>
            <a:off x="640080" y="4718304"/>
            <a:ext cx="438912" cy="438912"/>
          </a:xfrm>
          <a:prstGeom prst="ellipse">
            <a:avLst/>
          </a:prstGeom>
          <a:solidFill>
            <a:schemeClr val="accent1"/>
          </a:solidFill>
          <a:ln/>
        </p:spPr>
        <p:txBody>
          <a:bodyPr/>
          <a:lstStyle/>
          <a:p>
            <a:endParaRPr lang="en-US"/>
          </a:p>
        </p:txBody>
      </p:sp>
      <p:sp>
        <p:nvSpPr>
          <p:cNvPr id="20" name="numtxt-149"/>
          <p:cNvSpPr txBox="1"/>
          <p:nvPr/>
        </p:nvSpPr>
        <p:spPr>
          <a:xfrm>
            <a:off x="640080" y="4718304"/>
            <a:ext cx="438912" cy="438912"/>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150"/>
          <p:cNvSpPr txBox="1"/>
          <p:nvPr/>
        </p:nvSpPr>
        <p:spPr>
          <a:xfrm>
            <a:off x="1280160" y="4581144"/>
            <a:ext cx="2377440" cy="77724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Impute the counterfactual</a:t>
            </a:r>
            <a:endParaRPr lang="en-US" sz="1600" dirty="0"/>
          </a:p>
        </p:txBody>
      </p:sp>
      <p:sp>
        <p:nvSpPr>
          <p:cNvPr id="22" name="text-151"/>
          <p:cNvSpPr txBox="1"/>
          <p:nvPr/>
        </p:nvSpPr>
        <p:spPr>
          <a:xfrm>
            <a:off x="3703320" y="4581144"/>
            <a:ext cx="3657600" cy="868680"/>
          </a:xfrm>
          <a:prstGeom prst="rect">
            <a:avLst/>
          </a:prstGeom>
          <a:noFill/>
          <a:ln/>
        </p:spPr>
        <p:txBody>
          <a:bodyPr wrap="square" lIns="0" tIns="0" rIns="0" bIns="0" rtlCol="0" anchor="ctr"/>
          <a:lstStyle/>
          <a:p>
            <a:pPr marL="0" indent="0">
              <a:buNone/>
            </a:pPr>
            <a:r>
              <a:rPr lang="en-US" sz="1300" dirty="0">
                <a:solidFill>
                  <a:schemeClr val="tx1"/>
                </a:solidFill>
              </a:rPr>
              <a:t>Borusyak, Jaravel &amp; Spiess: predict each treated unit's untreated outcome from untreated data, then compare.</a:t>
            </a:r>
            <a:endParaRPr lang="en-US" sz="1300" dirty="0"/>
          </a:p>
        </p:txBody>
      </p:sp>
      <p:sp>
        <p:nvSpPr>
          <p:cNvPr id="23" name="text-152"/>
          <p:cNvSpPr txBox="1"/>
          <p:nvPr/>
        </p:nvSpPr>
        <p:spPr>
          <a:xfrm>
            <a:off x="3703320" y="5330952"/>
            <a:ext cx="3657600" cy="228600"/>
          </a:xfrm>
          <a:prstGeom prst="rect">
            <a:avLst/>
          </a:prstGeom>
          <a:noFill/>
          <a:ln/>
        </p:spPr>
        <p:txBody>
          <a:bodyPr wrap="square" lIns="0" tIns="0" rIns="0" bIns="0" rtlCol="0" anchor="t"/>
          <a:lstStyle/>
          <a:p>
            <a:pPr marL="0" indent="0">
              <a:buNone/>
            </a:pPr>
            <a:r>
              <a:rPr lang="en-US" sz="1100" dirty="0">
                <a:solidFill>
                  <a:schemeClr val="accent5"/>
                </a:solidFill>
                <a:latin typeface="Consolas" pitchFamily="34" charset="0"/>
                <a:ea typeface="Consolas" pitchFamily="34" charset="-122"/>
                <a:cs typeface="Consolas" pitchFamily="34" charset="-120"/>
              </a:rPr>
              <a:t>R: didimputation</a:t>
            </a:r>
            <a:endParaRPr lang="en-US" sz="1100" dirty="0"/>
          </a:p>
        </p:txBody>
      </p:sp>
      <p:sp>
        <p:nvSpPr>
          <p:cNvPr id="24" name="card-153"/>
          <p:cNvSpPr/>
          <p:nvPr/>
        </p:nvSpPr>
        <p:spPr>
          <a:xfrm>
            <a:off x="7772400" y="1508760"/>
            <a:ext cx="3840480" cy="4297680"/>
          </a:xfrm>
          <a:prstGeom prst="rect">
            <a:avLst/>
          </a:prstGeom>
          <a:solidFill>
            <a:schemeClr val="tx2"/>
          </a:solidFill>
          <a:ln/>
        </p:spPr>
        <p:txBody>
          <a:bodyPr/>
          <a:lstStyle/>
          <a:p>
            <a:endParaRPr lang="en-US"/>
          </a:p>
        </p:txBody>
      </p:sp>
      <p:sp>
        <p:nvSpPr>
          <p:cNvPr id="25" name="text-154"/>
          <p:cNvSpPr txBox="1"/>
          <p:nvPr/>
        </p:nvSpPr>
        <p:spPr>
          <a:xfrm>
            <a:off x="8046720" y="1737360"/>
            <a:ext cx="3383280" cy="3931920"/>
          </a:xfrm>
          <a:prstGeom prst="rect">
            <a:avLst/>
          </a:prstGeom>
          <a:noFill/>
          <a:ln/>
        </p:spPr>
        <p:txBody>
          <a:bodyPr wrap="square" lIns="0" tIns="0" rIns="0" bIns="0" rtlCol="0" anchor="t"/>
          <a:lstStyle/>
          <a:p>
            <a:pPr marL="0" indent="0">
              <a:buNone/>
            </a:pPr>
            <a:r>
              <a:rPr lang="en-US" sz="1300" b="1" dirty="0">
                <a:solidFill>
                  <a:schemeClr val="accent4"/>
                </a:solidFill>
              </a:rPr>
              <a:t>Next week · Week 9</a:t>
            </a:r>
            <a:endParaRPr lang="en-US" sz="1500" dirty="0"/>
          </a:p>
          <a:p>
            <a:pPr marL="0" indent="0">
              <a:buNone/>
            </a:pPr>
            <a:r>
              <a:rPr lang="en-US" sz="2000" b="1" dirty="0">
                <a:solidFill>
                  <a:schemeClr val="bg1"/>
                </a:solidFill>
                <a:latin typeface="Cambria" pitchFamily="34" charset="0"/>
                <a:ea typeface="Cambria" pitchFamily="34" charset="-122"/>
                <a:cs typeface="Cambria" pitchFamily="34" charset="-120"/>
              </a:rPr>
              <a:t>Legewie &amp; Fagan (2019)</a:t>
            </a:r>
            <a:endParaRPr lang="en-US" sz="1500" dirty="0"/>
          </a:p>
          <a:p>
            <a:pPr marL="0" indent="0">
              <a:buNone/>
            </a:pPr>
            <a:r>
              <a:rPr lang="en-US" sz="800" dirty="0">
                <a:solidFill>
                  <a:schemeClr val="accent4"/>
                </a:solidFill>
              </a:rPr>
              <a:t> </a:t>
            </a:r>
            <a:endParaRPr lang="en-US" sz="1500" dirty="0"/>
          </a:p>
          <a:p>
            <a:pPr marL="0" indent="0">
              <a:buNone/>
            </a:pPr>
            <a:r>
              <a:rPr lang="en-US" sz="1500" dirty="0">
                <a:solidFill>
                  <a:schemeClr val="accent4"/>
                </a:solidFill>
              </a:rPr>
              <a:t>NYC designated police "impact zones" in phases from 2004 to 2012: a staggered rollout. Did living in one lower Black boys' test scores?</a:t>
            </a:r>
            <a:endParaRPr lang="en-US" sz="1500" dirty="0"/>
          </a:p>
          <a:p>
            <a:pPr marL="0" indent="0">
              <a:buNone/>
            </a:pPr>
            <a:r>
              <a:rPr lang="en-US" sz="800" dirty="0">
                <a:solidFill>
                  <a:schemeClr val="accent4"/>
                </a:solidFill>
              </a:rPr>
              <a:t> </a:t>
            </a:r>
            <a:endParaRPr lang="en-US" sz="1500" dirty="0"/>
          </a:p>
          <a:p>
            <a:pPr marL="0" indent="0">
              <a:buNone/>
            </a:pPr>
            <a:r>
              <a:rPr lang="en-US" sz="1500" dirty="0">
                <a:solidFill>
                  <a:schemeClr val="accent4"/>
                </a:solidFill>
              </a:rPr>
              <a:t>We'll run their event study and ask which comparisons it relies on.</a:t>
            </a:r>
            <a:endParaRPr lang="en-US" sz="1500" dirty="0"/>
          </a:p>
        </p:txBody>
      </p:sp>
      <p:sp>
        <p:nvSpPr>
          <p:cNvPr id="26" name="text-155"/>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Callaway &amp; Sant'Anna (2021); Sun &amp; Abraham (2021); Wooldridge (2021); Borusyak, Jaravel &amp; Spiess (2024). See also Roth et al. (2023).</a:t>
            </a:r>
            <a:endParaRPr lang="en-US" sz="1000" dirty="0"/>
          </a:p>
        </p:txBody>
      </p:sp>
      <p:sp>
        <p:nvSpPr>
          <p:cNvPr id="27"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640080"/>
            <a:ext cx="10698480" cy="822960"/>
          </a:xfrm>
          <a:prstGeom prst="rect">
            <a:avLst/>
          </a:prstGeom>
          <a:noFill/>
          <a:ln/>
        </p:spPr>
        <p:txBody>
          <a:bodyPr wrap="square" rtlCol="0" anchor="ctr"/>
          <a:lstStyle/>
          <a:p>
            <a:pPr marL="0" indent="0" algn="l">
              <a:buNone/>
            </a:pPr>
            <a:r>
              <a:rPr lang="en-US" sz="3000" b="1" dirty="0">
                <a:solidFill>
                  <a:schemeClr val="bg1"/>
                </a:solidFill>
                <a:latin typeface="Cambria" pitchFamily="34" charset="0"/>
                <a:ea typeface="Cambria" pitchFamily="34" charset="-122"/>
                <a:cs typeface="Cambria" pitchFamily="34" charset="-120"/>
              </a:rPr>
              <a:t>Takeaways and tonight's work</a:t>
            </a:r>
            <a:endParaRPr lang="en-US" sz="3000" dirty="0"/>
          </a:p>
        </p:txBody>
      </p:sp>
      <p:sp>
        <p:nvSpPr>
          <p:cNvPr id="3" name="tnum-156"/>
          <p:cNvSpPr/>
          <p:nvPr/>
        </p:nvSpPr>
        <p:spPr>
          <a:xfrm>
            <a:off x="731520" y="1737360"/>
            <a:ext cx="384048" cy="384048"/>
          </a:xfrm>
          <a:prstGeom prst="ellipse">
            <a:avLst/>
          </a:prstGeom>
          <a:solidFill>
            <a:schemeClr val="accent1"/>
          </a:solidFill>
          <a:ln/>
        </p:spPr>
        <p:txBody>
          <a:bodyPr/>
          <a:lstStyle/>
          <a:p>
            <a:endParaRPr lang="en-US"/>
          </a:p>
        </p:txBody>
      </p:sp>
      <p:sp>
        <p:nvSpPr>
          <p:cNvPr id="4" name="tnumt-157"/>
          <p:cNvSpPr txBox="1"/>
          <p:nvPr/>
        </p:nvSpPr>
        <p:spPr>
          <a:xfrm>
            <a:off x="731520" y="173736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158"/>
          <p:cNvSpPr txBox="1"/>
          <p:nvPr/>
        </p:nvSpPr>
        <p:spPr>
          <a:xfrm>
            <a:off x="1371600" y="1691640"/>
            <a:ext cx="10058400" cy="411480"/>
          </a:xfrm>
          <a:prstGeom prst="rect">
            <a:avLst/>
          </a:prstGeom>
          <a:noFill/>
          <a:ln/>
        </p:spPr>
        <p:txBody>
          <a:bodyPr wrap="square" lIns="0" tIns="0" rIns="0" bIns="0" rtlCol="0" anchor="ctr"/>
          <a:lstStyle/>
          <a:p>
            <a:pPr marL="0" indent="0">
              <a:buNone/>
            </a:pPr>
            <a:r>
              <a:rPr lang="en-US" sz="1900" b="1" dirty="0">
                <a:solidFill>
                  <a:schemeClr val="bg1"/>
                </a:solidFill>
                <a:latin typeface="Cambria" pitchFamily="34" charset="0"/>
                <a:ea typeface="Cambria" pitchFamily="34" charset="-122"/>
                <a:cs typeface="Cambria" pitchFamily="34" charset="-120"/>
              </a:rPr>
              <a:t>DiD is two-way fixed effects with a treatment</a:t>
            </a:r>
            <a:endParaRPr lang="en-US" sz="1900" dirty="0"/>
          </a:p>
        </p:txBody>
      </p:sp>
      <p:sp>
        <p:nvSpPr>
          <p:cNvPr id="6" name="text-159"/>
          <p:cNvSpPr txBox="1"/>
          <p:nvPr/>
        </p:nvSpPr>
        <p:spPr>
          <a:xfrm>
            <a:off x="1371600" y="2121408"/>
            <a:ext cx="10058400" cy="548640"/>
          </a:xfrm>
          <a:prstGeom prst="rect">
            <a:avLst/>
          </a:prstGeom>
          <a:noFill/>
          <a:ln/>
        </p:spPr>
        <p:txBody>
          <a:bodyPr wrap="square" lIns="0" tIns="0" rIns="0" bIns="0" rtlCol="0" anchor="t"/>
          <a:lstStyle/>
          <a:p>
            <a:pPr marL="0" indent="0">
              <a:buNone/>
            </a:pPr>
            <a:r>
              <a:rPr lang="en-US" sz="1500" dirty="0">
                <a:solidFill>
                  <a:schemeClr val="accent4"/>
                </a:solidFill>
              </a:rPr>
              <a:t>Unit fixed effects remove stable differences; time fixed effects remove common shocks.</a:t>
            </a:r>
            <a:endParaRPr lang="en-US" sz="1500" dirty="0"/>
          </a:p>
        </p:txBody>
      </p:sp>
      <p:sp>
        <p:nvSpPr>
          <p:cNvPr id="7" name="tnum-160"/>
          <p:cNvSpPr/>
          <p:nvPr/>
        </p:nvSpPr>
        <p:spPr>
          <a:xfrm>
            <a:off x="731520" y="2834640"/>
            <a:ext cx="384048" cy="384048"/>
          </a:xfrm>
          <a:prstGeom prst="ellipse">
            <a:avLst/>
          </a:prstGeom>
          <a:solidFill>
            <a:schemeClr val="accent1"/>
          </a:solidFill>
          <a:ln/>
        </p:spPr>
        <p:txBody>
          <a:bodyPr/>
          <a:lstStyle/>
          <a:p>
            <a:endParaRPr lang="en-US"/>
          </a:p>
        </p:txBody>
      </p:sp>
      <p:sp>
        <p:nvSpPr>
          <p:cNvPr id="8" name="tnumt-161"/>
          <p:cNvSpPr txBox="1"/>
          <p:nvPr/>
        </p:nvSpPr>
        <p:spPr>
          <a:xfrm>
            <a:off x="731520" y="283464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text-162"/>
          <p:cNvSpPr txBox="1"/>
          <p:nvPr/>
        </p:nvSpPr>
        <p:spPr>
          <a:xfrm>
            <a:off x="1371600" y="2788920"/>
            <a:ext cx="10058400" cy="411480"/>
          </a:xfrm>
          <a:prstGeom prst="rect">
            <a:avLst/>
          </a:prstGeom>
          <a:noFill/>
          <a:ln/>
        </p:spPr>
        <p:txBody>
          <a:bodyPr wrap="square" lIns="0" tIns="0" rIns="0" bIns="0" rtlCol="0" anchor="ctr"/>
          <a:lstStyle/>
          <a:p>
            <a:pPr marL="0" indent="0">
              <a:buNone/>
            </a:pPr>
            <a:r>
              <a:rPr lang="en-US" sz="1900" b="1" dirty="0">
                <a:solidFill>
                  <a:schemeClr val="bg1"/>
                </a:solidFill>
                <a:latin typeface="Cambria" pitchFamily="34" charset="0"/>
                <a:ea typeface="Cambria" pitchFamily="34" charset="-122"/>
                <a:cs typeface="Cambria" pitchFamily="34" charset="-120"/>
              </a:rPr>
              <a:t>Everything rests on parallel trends</a:t>
            </a:r>
            <a:endParaRPr lang="en-US" sz="1900" dirty="0"/>
          </a:p>
        </p:txBody>
      </p:sp>
      <p:sp>
        <p:nvSpPr>
          <p:cNvPr id="10" name="text-163"/>
          <p:cNvSpPr txBox="1"/>
          <p:nvPr/>
        </p:nvSpPr>
        <p:spPr>
          <a:xfrm>
            <a:off x="1371600" y="3218688"/>
            <a:ext cx="10058400" cy="548640"/>
          </a:xfrm>
          <a:prstGeom prst="rect">
            <a:avLst/>
          </a:prstGeom>
          <a:noFill/>
          <a:ln/>
        </p:spPr>
        <p:txBody>
          <a:bodyPr wrap="square" lIns="0" tIns="0" rIns="0" bIns="0" rtlCol="0" anchor="t"/>
          <a:lstStyle/>
          <a:p>
            <a:pPr marL="0" indent="0">
              <a:buNone/>
            </a:pPr>
            <a:r>
              <a:rPr lang="en-US" sz="1500" dirty="0">
                <a:solidFill>
                  <a:schemeClr val="accent4"/>
                </a:solidFill>
              </a:rPr>
              <a:t>The untreated group's change has to be the right stand-in for the treated group's counterfactual.</a:t>
            </a:r>
            <a:endParaRPr lang="en-US" sz="1500" dirty="0"/>
          </a:p>
        </p:txBody>
      </p:sp>
      <p:sp>
        <p:nvSpPr>
          <p:cNvPr id="11" name="tnum-164"/>
          <p:cNvSpPr/>
          <p:nvPr/>
        </p:nvSpPr>
        <p:spPr>
          <a:xfrm>
            <a:off x="731520" y="3931920"/>
            <a:ext cx="384048" cy="384048"/>
          </a:xfrm>
          <a:prstGeom prst="ellipse">
            <a:avLst/>
          </a:prstGeom>
          <a:solidFill>
            <a:schemeClr val="accent1"/>
          </a:solidFill>
          <a:ln/>
        </p:spPr>
        <p:txBody>
          <a:bodyPr/>
          <a:lstStyle/>
          <a:p>
            <a:endParaRPr lang="en-US"/>
          </a:p>
        </p:txBody>
      </p:sp>
      <p:sp>
        <p:nvSpPr>
          <p:cNvPr id="12" name="tnumt-165"/>
          <p:cNvSpPr txBox="1"/>
          <p:nvPr/>
        </p:nvSpPr>
        <p:spPr>
          <a:xfrm>
            <a:off x="731520" y="393192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166"/>
          <p:cNvSpPr txBox="1"/>
          <p:nvPr/>
        </p:nvSpPr>
        <p:spPr>
          <a:xfrm>
            <a:off x="1371600" y="3886200"/>
            <a:ext cx="10058400" cy="411480"/>
          </a:xfrm>
          <a:prstGeom prst="rect">
            <a:avLst/>
          </a:prstGeom>
          <a:noFill/>
          <a:ln/>
        </p:spPr>
        <p:txBody>
          <a:bodyPr wrap="square" lIns="0" tIns="0" rIns="0" bIns="0" rtlCol="0" anchor="ctr"/>
          <a:lstStyle/>
          <a:p>
            <a:pPr marL="0" indent="0">
              <a:buNone/>
            </a:pPr>
            <a:r>
              <a:rPr lang="en-US" sz="1900" b="1" dirty="0">
                <a:solidFill>
                  <a:schemeClr val="bg1"/>
                </a:solidFill>
                <a:latin typeface="Cambria" pitchFamily="34" charset="0"/>
                <a:ea typeface="Cambria" pitchFamily="34" charset="-122"/>
                <a:cs typeface="Cambria" pitchFamily="34" charset="-120"/>
              </a:rPr>
              <a:t>You can support it, never prove it</a:t>
            </a:r>
            <a:endParaRPr lang="en-US" sz="1900" dirty="0"/>
          </a:p>
        </p:txBody>
      </p:sp>
      <p:sp>
        <p:nvSpPr>
          <p:cNvPr id="14" name="text-167"/>
          <p:cNvSpPr txBox="1"/>
          <p:nvPr/>
        </p:nvSpPr>
        <p:spPr>
          <a:xfrm>
            <a:off x="1371600" y="4315968"/>
            <a:ext cx="10058400" cy="548640"/>
          </a:xfrm>
          <a:prstGeom prst="rect">
            <a:avLst/>
          </a:prstGeom>
          <a:noFill/>
          <a:ln/>
        </p:spPr>
        <p:txBody>
          <a:bodyPr wrap="square" lIns="0" tIns="0" rIns="0" bIns="0" rtlCol="0" anchor="t"/>
          <a:lstStyle/>
          <a:p>
            <a:pPr marL="0" indent="0">
              <a:buNone/>
            </a:pPr>
            <a:r>
              <a:rPr lang="en-US" sz="1500" dirty="0">
                <a:solidFill>
                  <a:schemeClr val="accent4"/>
                </a:solidFill>
              </a:rPr>
              <a:t>Plot pre-trends, test them, run placebos, try a second comparison group.</a:t>
            </a:r>
            <a:endParaRPr lang="en-US" sz="1500" dirty="0"/>
          </a:p>
        </p:txBody>
      </p:sp>
      <p:sp>
        <p:nvSpPr>
          <p:cNvPr id="15" name="tnum-168"/>
          <p:cNvSpPr/>
          <p:nvPr/>
        </p:nvSpPr>
        <p:spPr>
          <a:xfrm>
            <a:off x="731520" y="5029200"/>
            <a:ext cx="384048" cy="384048"/>
          </a:xfrm>
          <a:prstGeom prst="ellipse">
            <a:avLst/>
          </a:prstGeom>
          <a:solidFill>
            <a:schemeClr val="accent1"/>
          </a:solidFill>
          <a:ln/>
        </p:spPr>
        <p:txBody>
          <a:bodyPr/>
          <a:lstStyle/>
          <a:p>
            <a:endParaRPr lang="en-US"/>
          </a:p>
        </p:txBody>
      </p:sp>
      <p:sp>
        <p:nvSpPr>
          <p:cNvPr id="16" name="tnumt-169"/>
          <p:cNvSpPr txBox="1"/>
          <p:nvPr/>
        </p:nvSpPr>
        <p:spPr>
          <a:xfrm>
            <a:off x="731520" y="502920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170"/>
          <p:cNvSpPr txBox="1"/>
          <p:nvPr/>
        </p:nvSpPr>
        <p:spPr>
          <a:xfrm>
            <a:off x="1371600" y="4983480"/>
            <a:ext cx="10058400" cy="411480"/>
          </a:xfrm>
          <a:prstGeom prst="rect">
            <a:avLst/>
          </a:prstGeom>
          <a:noFill/>
          <a:ln/>
        </p:spPr>
        <p:txBody>
          <a:bodyPr wrap="square" lIns="0" tIns="0" rIns="0" bIns="0" rtlCol="0" anchor="ctr"/>
          <a:lstStyle/>
          <a:p>
            <a:pPr marL="0" indent="0">
              <a:buNone/>
            </a:pPr>
            <a:r>
              <a:rPr lang="en-US" sz="1900" b="1" dirty="0">
                <a:solidFill>
                  <a:schemeClr val="bg1"/>
                </a:solidFill>
                <a:latin typeface="Cambria" pitchFamily="34" charset="0"/>
                <a:ea typeface="Cambria" pitchFamily="34" charset="-122"/>
                <a:cs typeface="Cambria" pitchFamily="34" charset="-120"/>
              </a:rPr>
              <a:t>Tonight: Lab 7 · Due Oct 29: Homework 5</a:t>
            </a:r>
            <a:endParaRPr lang="en-US" sz="1900" dirty="0"/>
          </a:p>
        </p:txBody>
      </p:sp>
      <p:sp>
        <p:nvSpPr>
          <p:cNvPr id="18" name="text-171"/>
          <p:cNvSpPr txBox="1"/>
          <p:nvPr/>
        </p:nvSpPr>
        <p:spPr>
          <a:xfrm>
            <a:off x="1371600" y="5413248"/>
            <a:ext cx="10058400" cy="548640"/>
          </a:xfrm>
          <a:prstGeom prst="rect">
            <a:avLst/>
          </a:prstGeom>
          <a:noFill/>
          <a:ln/>
        </p:spPr>
        <p:txBody>
          <a:bodyPr wrap="square" lIns="0" tIns="0" rIns="0" bIns="0" rtlCol="0" anchor="t"/>
          <a:lstStyle/>
          <a:p>
            <a:pPr marL="0" indent="0">
              <a:buNone/>
            </a:pPr>
            <a:r>
              <a:rPr lang="en-US" sz="1500" dirty="0">
                <a:solidFill>
                  <a:schemeClr val="accent4"/>
                </a:solidFill>
              </a:rPr>
              <a:t>Lab: three outputs (the 2 × 2, the regression table, the event study). Homework: sourdough and COVID lockdowns.</a:t>
            </a:r>
            <a:endParaRPr lang="en-US" sz="1500" dirty="0"/>
          </a:p>
        </p:txBody>
      </p:sp>
    </p:spTree>
  </p:cSld>
  <p:clrMapOvr>
    <a:masterClrMapping/>
  </p:clrMapOvr>
</p:sld>
</file>

<file path=ppt/theme/theme1.xml><?xml version="1.0" encoding="utf-8"?>
<a:theme xmlns:a="http://schemas.openxmlformats.org/drawingml/2006/main" name="Causal Analysis Navy">
  <a:themeElements>
    <a:clrScheme name="Causal Analysis Navy">
      <a:dk1>
        <a:srgbClr val="1A1A2E"/>
      </a:dk1>
      <a:lt1>
        <a:srgbClr val="FFFFFF"/>
      </a:lt1>
      <a:dk2>
        <a:srgbClr val="00274D"/>
      </a:dk2>
      <a:lt2>
        <a:srgbClr val="EEF3F8"/>
      </a:lt2>
      <a:accent1>
        <a:srgbClr val="1B4F8C"/>
      </a:accent1>
      <a:accent2>
        <a:srgbClr val="2E7D32"/>
      </a:accent2>
      <a:accent3>
        <a:srgbClr val="B23B3B"/>
      </a:accent3>
      <a:accent4>
        <a:srgbClr val="BFD7EA"/>
      </a:accent4>
      <a:accent5>
        <a:srgbClr val="5B6178"/>
      </a:accent5>
      <a:accent6>
        <a:srgbClr val="C98A1B"/>
      </a:accent6>
      <a:hlink>
        <a:srgbClr val="1B4F8C"/>
      </a:hlink>
      <a:folHlink>
        <a:srgbClr val="5B6178"/>
      </a:folHlink>
    </a:clrScheme>
    <a:fontScheme name="Causal Analysis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3943</Words>
  <Application>Microsoft Macintosh PowerPoint</Application>
  <PresentationFormat>Widescreen</PresentationFormat>
  <Paragraphs>372</Paragraphs>
  <Slides>21</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Consolas</vt:lpstr>
      <vt:lpstr>Causal Analysis Navy</vt:lpstr>
      <vt:lpstr>Difference-in-Differences</vt:lpstr>
      <vt:lpstr>A fixed effect is just a separate intercept for each group</vt:lpstr>
      <vt:lpstr>One-way: compare each state with itself</vt:lpstr>
      <vt:lpstr>Two-way: also subtract what happened to everyone that year</vt:lpstr>
      <vt:lpstr>Two comparisons, each removing one problem</vt:lpstr>
      <vt:lpstr>John Snow, 1854: the first difference-in-differences</vt:lpstr>
      <vt:lpstr>The 2 × 2 table and the regression that reproduces it</vt:lpstr>
      <vt:lpstr>Difference-in-differences in the wild</vt:lpstr>
      <vt:lpstr>Did New Jersey's 1992 minimum wage increase cost jobs?</vt:lpstr>
      <vt:lpstr>PowerPoint Presentation</vt:lpstr>
      <vt:lpstr>PowerPoint Presentation</vt:lpstr>
      <vt:lpstr>PowerPoint Presentation</vt:lpstr>
      <vt:lpstr>What parallel trends requires, and what it doesn't</vt:lpstr>
      <vt:lpstr>Choosing the untreated group</vt:lpstr>
      <vt:lpstr>Supporting parallel trends: what you can actually check</vt:lpstr>
      <vt:lpstr>A study where you can see the trends before treatment</vt:lpstr>
      <vt:lpstr>Event study: one difference-in-differences per period</vt:lpstr>
      <vt:lpstr>Controls and standard errors in difference-in-differences</vt:lpstr>
      <vt:lpstr>When treatment rolls out at different times</vt:lpstr>
      <vt:lpstr>Fixes for staggered timing, and next week</vt:lpstr>
      <vt:lpstr>Takeaways and tonight's 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Difference-in-Differences</dc:title>
  <dc:subject>PptxGenJS Presentation</dc:subject>
  <dc:creator>Edwin Grimsley, Ph.D.</dc:creator>
  <cp:lastModifiedBy>Edwin Grimsley</cp:lastModifiedBy>
  <cp:revision>2</cp:revision>
  <dcterms:created xsi:type="dcterms:W3CDTF">2026-10-22T20:56:31Z</dcterms:created>
  <dcterms:modified xsi:type="dcterms:W3CDTF">2026-10-22T22:21:40Z</dcterms:modified>
</cp:coreProperties>
</file>